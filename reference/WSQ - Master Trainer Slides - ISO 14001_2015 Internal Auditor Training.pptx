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af1aeb34_0_0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575" lIns="88575" spcFirstLastPara="1" rIns="88575" wrap="square" tIns="8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9" name="Google Shape;129;g3ecaf1aeb34_0_0:notes"/>
          <p:cNvSpPr/>
          <p:nvPr>
            <p:ph idx="2" type="sldImg"/>
          </p:nvPr>
        </p:nvSpPr>
        <p:spPr>
          <a:xfrm>
            <a:off x="381175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6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7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8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9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9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9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9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1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0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0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0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1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1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ecaf1aeb34_0_40:notes"/>
          <p:cNvSpPr/>
          <p:nvPr>
            <p:ph idx="2" type="sldImg"/>
          </p:nvPr>
        </p:nvSpPr>
        <p:spPr>
          <a:xfrm>
            <a:off x="381161" y="685778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3ecaf1aeb34_0_40:notes"/>
          <p:cNvSpPr txBox="1"/>
          <p:nvPr>
            <p:ph idx="1" type="body"/>
          </p:nvPr>
        </p:nvSpPr>
        <p:spPr>
          <a:xfrm>
            <a:off x="685795" y="4343383"/>
            <a:ext cx="5486400" cy="4114800"/>
          </a:xfrm>
          <a:prstGeom prst="rect">
            <a:avLst/>
          </a:prstGeom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4 points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2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8 points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TITLE_AND_BODY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0" y="0"/>
            <a:ext cx="9144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5565600" y="3113125"/>
            <a:ext cx="3578400" cy="17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indent="-3302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grpSp>
        <p:nvGrpSpPr>
          <p:cNvPr id="21" name="Google Shape;21;p6"/>
          <p:cNvGrpSpPr/>
          <p:nvPr/>
        </p:nvGrpSpPr>
        <p:grpSpPr>
          <a:xfrm>
            <a:off x="152400" y="2782900"/>
            <a:ext cx="4030969" cy="2010403"/>
            <a:chOff x="152400" y="2782900"/>
            <a:chExt cx="4030969" cy="2010403"/>
          </a:xfrm>
        </p:grpSpPr>
        <p:pic>
          <p:nvPicPr>
            <p:cNvPr id="22" name="Google Shape;22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4925" y="2782900"/>
              <a:ext cx="2441400" cy="1114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7900" y="3955174"/>
              <a:ext cx="3135469" cy="716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ertiarylogo.png" id="24" name="Google Shape;2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2400" y="3897803"/>
              <a:ext cx="895500" cy="895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 Title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ctrTitle"/>
          </p:nvPr>
        </p:nvSpPr>
        <p:spPr>
          <a:xfrm>
            <a:off x="0" y="439775"/>
            <a:ext cx="91440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4965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4825700" y="775619"/>
            <a:ext cx="41061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column">
  <p:cSld name="TITLE_AND_TWO_COLUMNS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249650" y="775625"/>
            <a:ext cx="49755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column">
  <p:cSld name="TITLE_AND_TWO_COLUMNS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150" y="0"/>
            <a:ext cx="91440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4051250" y="775625"/>
            <a:ext cx="48804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75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097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9350" y="688375"/>
            <a:ext cx="8891700" cy="4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ms-tms.tertiaryinfotech.com" TargetMode="External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9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5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8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92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3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8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03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7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96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9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0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2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94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06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9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05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95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04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09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07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9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99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93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08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11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20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1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11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25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14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17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13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16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24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18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15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9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22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2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123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/>
        </p:nvSpPr>
        <p:spPr>
          <a:xfrm>
            <a:off x="400000" y="1771750"/>
            <a:ext cx="83440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ISO 14001:2015 Internal Auditor Training</a:t>
            </a:r>
            <a:endParaRPr/>
          </a:p>
        </p:txBody>
      </p:sp>
      <p:pic>
        <p:nvPicPr>
          <p:cNvPr descr="image.png" id="44" name="Google Shape;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3350000"/>
            <a:ext cx="1532847" cy="7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" name="Google Shape;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000" y="4050000"/>
            <a:ext cx="2304000" cy="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5500000" y="4100000"/>
            <a:ext cx="35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Version: 1.0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Code: TGS-2025054479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Website: https://www.tertiarycourses.com.sg/</a:t>
            </a:r>
            <a:endParaRPr/>
          </a:p>
        </p:txBody>
      </p:sp>
      <p:sp>
        <p:nvSpPr>
          <p:cNvPr id="47" name="Google Shape;47;p1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Digital Attendance (Mandatory)</a:t>
            </a:r>
            <a:endParaRPr/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mandatory for you to take both AM, PM and Assessment digital attendance for WSQ funded courses.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trainer or administrator will show you the digital attendance QR code generated from SSG portal.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Please scan the QR code from your mobile phone camera and submit your attendance.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51275" y="100000"/>
            <a:ext cx="8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About the Trainer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51275" y="100000"/>
            <a:ext cx="8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Let's Know Each Other...</a:t>
            </a:r>
            <a:endParaRPr/>
          </a:p>
        </p:txBody>
      </p:sp>
      <p:pic>
        <p:nvPicPr>
          <p:cNvPr descr="lets_know_each_other.png"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00" y="700000"/>
            <a:ext cx="8500000" cy="41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Ground Rules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Set your mobile phone to silent mode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Actively participate in the class. No question is stupid.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Respect each other views. Agree to disagree.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Each person should only speak one at a time.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Be punctual. Back from breaks on time.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Exit the class silently if you need to step out for phone call, toilet break etc.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75% attendance is required for WSQ funding eligibility.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Skills Framework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TSC Title: Internal Audit Engagement Planning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TSC Code: ACC-IAD-3005-1.1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TSC Description: LO1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Proficiency Level: Level 1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Learning Outcomes: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LU1 (Introduction to ISO 14001:2015)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LO1: This learning outcome enables participants to understand and apply the foundational principles of ISO 14001:2015 stan...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LU2 (Auditing Methodologies)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LO2: This learning outcome focuses on developing practical skills in applying internal audit methodologies and procedures ...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LU3 (Risk Assessment Techniques)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LO3: This learning outcome empowers participants to support and conduct preliminary risk assessments using established ris...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Knowledge &amp; Ability Statements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LU1: Introduction to ISO 14001:2015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K1: International Professional Practices Framework (IPPF) comprising definitions of Internal Auditing, Code of Ethics, core principles and Internationa...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K2: Organisation's significant risks, objectives, resources, operations, businesses and structure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A1: Identify relevant frameworks, guidelines and standards to be applied in the engagement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LU2: Auditing Methodologies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K3: Internal audit methodologies and procedures of the organisation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A2: Identify stages of the engagement and various stakeholders involved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LU3: Risk Assessment Techniques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K4: Risk identification and assessment techniques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A3: Support conduct of preliminary survey and risk assessment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Course Outline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LU1: Introduction to ISO 14001:2015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T1: ISO 14001:2015 Internal Auditor Framework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LU2: Auditing Methodologies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T1: Auditing ISO 14001:2015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400"/>
              <a:buChar char="●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LU3: Risk Assessment Techniques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pPr>
            <a:r>
              <a:rPr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T1: Risk Assessment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 sz="10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Methods &amp; Briefing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Assessment: Written Assessment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Assessment format: Open Book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Open book assessment allows you to reference your learning materials.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Duration: As per course schedule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Grading: Competent / Not Yet Competent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Assessment Rules: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Place phones &amp; other materials under the table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photos or recording of assessment scripts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discussion with other learners during assessment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Raise your hand if you have any questions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Criteria for Funding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Minimum attendance rate of 75% based on SSG Digital Attendance record.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Complete the assessment and be assessed as 'Competent'.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Complete the TRAQOM survey.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For more information on WSQ funding: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Visit SkillsFuture portal: www.skillsfuture.gov.sg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Eligible individuals may use SkillsFuture Credit to offset course fees.</a:t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11750" y="674050"/>
            <a:ext cx="4746600" cy="28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LMS/TMS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https://lms-tms.tertiaryinfotech.com</a:t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1749" y="114475"/>
            <a:ext cx="4169399" cy="502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LO1 | LU1 | T1: ISO 14001:2015 Internal Auditor Framework</a:t>
            </a: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What is ISO 14001:2015 Internal Auditor Framework?</a:t>
            </a:r>
            <a:endParaRPr/>
          </a:p>
        </p:txBody>
      </p:sp>
      <p:sp>
        <p:nvSpPr>
          <p:cNvPr id="146" name="Google Shape;146;p2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0.png" id="147" name="Google Shape;1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Standard</a:t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Core Framework Principles</a:t>
            </a:r>
            <a:endParaRPr/>
          </a:p>
        </p:txBody>
      </p:sp>
      <p:sp>
        <p:nvSpPr>
          <p:cNvPr id="156" name="Google Shape;156;p2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.png" id="157" name="Google Shape;1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NSF Internal Auditor Training, 2024</a:t>
            </a:r>
            <a:endParaRPr/>
          </a:p>
        </p:txBody>
      </p:sp>
      <p:sp>
        <p:nvSpPr>
          <p:cNvPr id="159" name="Google Shape;159;p2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Internal Audit Process Flow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.png"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Procedure Guidelines</a:t>
            </a:r>
            <a:endParaRPr/>
          </a:p>
        </p:txBody>
      </p:sp>
      <p:sp>
        <p:nvSpPr>
          <p:cNvPr id="169" name="Google Shape;169;p2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Time Distribution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.png" id="177" name="Google Shape;1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Best Practice Guidelines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Traditional vs Modern Audit Approaches</a:t>
            </a: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4.png" id="187" name="Google Shape;1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Implementation Guide, 2024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Auditor Competency Requirements</a:t>
            </a:r>
            <a:endParaRPr/>
          </a:p>
        </p:txBody>
      </p:sp>
      <p:sp>
        <p:nvSpPr>
          <p:cNvPr id="196" name="Google Shape;196;p2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5.png" id="197" name="Google Shape;19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NSF Internal Auditor Training, 2024</a:t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Risk-Based Audit Planning Cycle</a:t>
            </a:r>
            <a:endParaRPr/>
          </a:p>
        </p:txBody>
      </p:sp>
      <p:sp>
        <p:nvSpPr>
          <p:cNvPr id="206" name="Google Shape;206;p3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6.png"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Audit Procedure Guide</a:t>
            </a: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Environmental Aspects Significance Matrix</a:t>
            </a:r>
            <a:endParaRPr/>
          </a:p>
        </p:txBody>
      </p:sp>
      <p:sp>
        <p:nvSpPr>
          <p:cNvPr id="216" name="Google Shape;216;p3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7.png" id="217" name="Google Shape;2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Risk Management Guidelines</a:t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Evidence Collection Methods</a:t>
            </a:r>
            <a:endParaRPr/>
          </a:p>
        </p:txBody>
      </p:sp>
      <p:sp>
        <p:nvSpPr>
          <p:cNvPr id="226" name="Google Shape;226;p3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8.png"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Audit Guidelines</a:t>
            </a:r>
            <a:endParaRPr/>
          </a:p>
        </p:txBody>
      </p:sp>
      <p:sp>
        <p:nvSpPr>
          <p:cNvPr id="229" name="Google Shape;229;p3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Process Audit Approach Timeline</a:t>
            </a:r>
            <a:endParaRPr/>
          </a:p>
        </p:txBody>
      </p:sp>
      <p:sp>
        <p:nvSpPr>
          <p:cNvPr id="236" name="Google Shape;236;p3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9.png" id="237" name="Google Shape;2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Process Audit Guide, 2024</a:t>
            </a: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Nonconformity Classification System</a:t>
            </a:r>
            <a:endParaRPr/>
          </a:p>
        </p:txBody>
      </p:sp>
      <p:sp>
        <p:nvSpPr>
          <p:cNvPr id="246" name="Google Shape;246;p3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0.png" id="247" name="Google Shape;2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Audit Standards</a:t>
            </a:r>
            <a:endParaRPr/>
          </a:p>
        </p:txBody>
      </p:sp>
      <p:sp>
        <p:nvSpPr>
          <p:cNvPr id="249" name="Google Shape;249;p3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Program Management Structure</a:t>
            </a:r>
            <a:endParaRPr/>
          </a:p>
        </p:txBody>
      </p:sp>
      <p:sp>
        <p:nvSpPr>
          <p:cNvPr id="256" name="Google Shape;256;p3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1.png" id="257" name="Google Shape;2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Management Guidelines</a:t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Digital Audit Tools Benefits</a:t>
            </a:r>
            <a:endParaRPr/>
          </a:p>
        </p:txBody>
      </p:sp>
      <p:sp>
        <p:nvSpPr>
          <p:cNvPr id="266" name="Google Shape;266;p3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2.png" id="267" name="Google Shape;2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 Audit Platform, 2024</a:t>
            </a:r>
            <a:endParaRPr/>
          </a:p>
        </p:txBody>
      </p:sp>
      <p:sp>
        <p:nvSpPr>
          <p:cNvPr id="269" name="Google Shape;269;p3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Scope Definition Framework</a:t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3.png" id="277" name="Google Shape;27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Audit Planning Guide</a:t>
            </a:r>
            <a:endParaRPr/>
          </a:p>
        </p:txBody>
      </p:sp>
      <p:sp>
        <p:nvSpPr>
          <p:cNvPr id="279" name="Google Shape;279;p3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Auditor Independence Requirements</a:t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4.png" id="287" name="Google Shape;2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NSF Independence Guidelines, 2024</a:t>
            </a:r>
            <a:endParaRPr/>
          </a:p>
        </p:txBody>
      </p:sp>
      <p:sp>
        <p:nvSpPr>
          <p:cNvPr id="289" name="Google Shape;289;p3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Continuous Improvement Integration</a:t>
            </a:r>
            <a:endParaRPr/>
          </a:p>
        </p:txBody>
      </p:sp>
      <p:sp>
        <p:nvSpPr>
          <p:cNvPr id="296" name="Google Shape;296;p3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5.png" id="297" name="Google Shape;2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Improvement Guide, 2024</a:t>
            </a:r>
            <a:endParaRPr/>
          </a:p>
        </p:txBody>
      </p:sp>
      <p:sp>
        <p:nvSpPr>
          <p:cNvPr id="299" name="Google Shape;299;p3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Environmental Objectives Assessment</a:t>
            </a:r>
            <a:endParaRPr/>
          </a:p>
        </p:txBody>
      </p:sp>
      <p:sp>
        <p:nvSpPr>
          <p:cNvPr id="306" name="Google Shape;306;p4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6.png" id="307" name="Google Shape;30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Objectives Guidelines</a:t>
            </a:r>
            <a:endParaRPr/>
          </a:p>
        </p:txBody>
      </p:sp>
      <p:sp>
        <p:nvSpPr>
          <p:cNvPr id="309" name="Google Shape;309;p4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Assessment Integration Points</a:t>
            </a:r>
            <a:endParaRPr/>
          </a:p>
        </p:txBody>
      </p:sp>
      <p:sp>
        <p:nvSpPr>
          <p:cNvPr id="316" name="Google Shape;316;p4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7.png" id="317" name="Google Shape;31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Risk Management Standards</a:t>
            </a:r>
            <a:endParaRPr/>
          </a:p>
        </p:txBody>
      </p:sp>
      <p:sp>
        <p:nvSpPr>
          <p:cNvPr id="319" name="Google Shape;319;p4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Documentation Requirements Hierarchy</a:t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8.png" id="327" name="Google Shape;32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Documentation Standards</a:t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Stakeholder Communication Strategy</a:t>
            </a:r>
            <a:endParaRPr/>
          </a:p>
        </p:txBody>
      </p:sp>
      <p:sp>
        <p:nvSpPr>
          <p:cNvPr id="336" name="Google Shape;336;p4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19.png" id="337" name="Google Shape;33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Communication Guidelines</a:t>
            </a:r>
            <a:endParaRPr/>
          </a:p>
        </p:txBody>
      </p:sp>
      <p:sp>
        <p:nvSpPr>
          <p:cNvPr id="339" name="Google Shape;339;p4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Performance Monitoring Integration</a:t>
            </a:r>
            <a:endParaRPr/>
          </a:p>
        </p:txBody>
      </p:sp>
      <p:sp>
        <p:nvSpPr>
          <p:cNvPr id="346" name="Google Shape;346;p4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0.png" id="347" name="Google Shape;3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Performance Guidelines</a:t>
            </a:r>
            <a:endParaRPr/>
          </a:p>
        </p:txBody>
      </p:sp>
      <p:sp>
        <p:nvSpPr>
          <p:cNvPr id="349" name="Google Shape;349;p4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Legal Compliance Verification Framework</a:t>
            </a:r>
            <a:endParaRPr/>
          </a:p>
        </p:txBody>
      </p:sp>
      <p:sp>
        <p:nvSpPr>
          <p:cNvPr id="356" name="Google Shape;356;p4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1.png" id="357" name="Google Shape;35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Legal Compliance Guide</a:t>
            </a:r>
            <a:endParaRPr/>
          </a:p>
        </p:txBody>
      </p:sp>
      <p:sp>
        <p:nvSpPr>
          <p:cNvPr id="359" name="Google Shape;359;p4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Training and Competence Audit Areas</a:t>
            </a:r>
            <a:endParaRPr/>
          </a:p>
        </p:txBody>
      </p:sp>
      <p:sp>
        <p:nvSpPr>
          <p:cNvPr id="366" name="Google Shape;366;p4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2.png" id="367" name="Google Shape;36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Competence Standards</a:t>
            </a:r>
            <a:endParaRPr/>
          </a:p>
        </p:txBody>
      </p:sp>
      <p:sp>
        <p:nvSpPr>
          <p:cNvPr id="369" name="Google Shape;369;p4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Management Review Integration</a:t>
            </a:r>
            <a:endParaRPr/>
          </a:p>
        </p:txBody>
      </p:sp>
      <p:sp>
        <p:nvSpPr>
          <p:cNvPr id="376" name="Google Shape;376;p4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3.png" id="377" name="Google Shape;3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Management Review Guidelines</a:t>
            </a:r>
            <a:endParaRPr/>
          </a:p>
        </p:txBody>
      </p:sp>
      <p:sp>
        <p:nvSpPr>
          <p:cNvPr id="379" name="Google Shape;379;p4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Emergency Preparedness Audit</a:t>
            </a:r>
            <a:endParaRPr/>
          </a:p>
        </p:txBody>
      </p:sp>
      <p:sp>
        <p:nvSpPr>
          <p:cNvPr id="386" name="Google Shape;386;p4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4.png" id="387" name="Google Shape;38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Emergency Preparedness Guide</a:t>
            </a:r>
            <a:endParaRPr/>
          </a:p>
        </p:txBody>
      </p:sp>
      <p:sp>
        <p:nvSpPr>
          <p:cNvPr id="389" name="Google Shape;389;p4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Supplier Environmental Assessment</a:t>
            </a:r>
            <a:endParaRPr/>
          </a:p>
        </p:txBody>
      </p:sp>
      <p:sp>
        <p:nvSpPr>
          <p:cNvPr id="396" name="Google Shape;396;p4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5.png" id="397" name="Google Shape;39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Supplier Management Guidelines</a:t>
            </a:r>
            <a:endParaRPr/>
          </a:p>
        </p:txBody>
      </p:sp>
      <p:sp>
        <p:nvSpPr>
          <p:cNvPr id="399" name="Google Shape;399;p4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Internal Communication Effectiveness</a:t>
            </a:r>
            <a:endParaRPr/>
          </a:p>
        </p:txBody>
      </p:sp>
      <p:sp>
        <p:nvSpPr>
          <p:cNvPr id="406" name="Google Shape;406;p5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6.png" id="407" name="Google Shape;40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Communication Benchmarks</a:t>
            </a:r>
            <a:endParaRPr/>
          </a:p>
        </p:txBody>
      </p:sp>
      <p:sp>
        <p:nvSpPr>
          <p:cNvPr id="409" name="Google Shape;409;p5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Operational Control Verification</a:t>
            </a:r>
            <a:endParaRPr/>
          </a:p>
        </p:txBody>
      </p:sp>
      <p:sp>
        <p:nvSpPr>
          <p:cNvPr id="416" name="Google Shape;416;p5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7.png" id="417" name="Google Shape;41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Operational Control Guidelines</a:t>
            </a:r>
            <a:endParaRPr/>
          </a:p>
        </p:txBody>
      </p:sp>
      <p:sp>
        <p:nvSpPr>
          <p:cNvPr id="419" name="Google Shape;419;p5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Quality Assurance Framework</a:t>
            </a:r>
            <a:endParaRPr/>
          </a:p>
        </p:txBody>
      </p:sp>
      <p:sp>
        <p:nvSpPr>
          <p:cNvPr id="426" name="Google Shape;426;p5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8.png" id="427" name="Google Shape;42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Quality Standards</a:t>
            </a:r>
            <a:endParaRPr/>
          </a:p>
        </p:txBody>
      </p:sp>
      <p:sp>
        <p:nvSpPr>
          <p:cNvPr id="429" name="Google Shape;429;p5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Technology Integration Benefits</a:t>
            </a:r>
            <a:endParaRPr/>
          </a:p>
        </p:txBody>
      </p:sp>
      <p:sp>
        <p:nvSpPr>
          <p:cNvPr id="436" name="Google Shape;436;p5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29.png" id="437" name="Google Shape;43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 Technology Guide, 2024</a:t>
            </a:r>
            <a:endParaRPr/>
          </a:p>
        </p:txBody>
      </p:sp>
      <p:sp>
        <p:nvSpPr>
          <p:cNvPr id="439" name="Google Shape;439;p5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Corrective Action Tracking System</a:t>
            </a:r>
            <a:endParaRPr/>
          </a:p>
        </p:txBody>
      </p:sp>
      <p:sp>
        <p:nvSpPr>
          <p:cNvPr id="446" name="Google Shape;446;p5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0.png" id="447" name="Google Shape;44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Corrective Action Guide</a:t>
            </a:r>
            <a:endParaRPr/>
          </a:p>
        </p:txBody>
      </p:sp>
      <p:sp>
        <p:nvSpPr>
          <p:cNvPr id="449" name="Google Shape;449;p5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External Audit Preparation Integration</a:t>
            </a:r>
            <a:endParaRPr/>
          </a:p>
        </p:txBody>
      </p:sp>
      <p:sp>
        <p:nvSpPr>
          <p:cNvPr id="456" name="Google Shape;456;p5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1.png" id="457" name="Google Shape;45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Certification Preparation Guide</a:t>
            </a:r>
            <a:endParaRPr/>
          </a:p>
        </p:txBody>
      </p:sp>
      <p:sp>
        <p:nvSpPr>
          <p:cNvPr id="459" name="Google Shape;459;p5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5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Cost-Benefit Analysis Framework</a:t>
            </a:r>
            <a:endParaRPr/>
          </a:p>
        </p:txBody>
      </p:sp>
      <p:sp>
        <p:nvSpPr>
          <p:cNvPr id="466" name="Google Shape;466;p5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2.png" id="467" name="Google Shape;46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Business Case Guidelines</a:t>
            </a:r>
            <a:endParaRPr/>
          </a:p>
        </p:txBody>
      </p:sp>
      <p:sp>
        <p:nvSpPr>
          <p:cNvPr id="469" name="Google Shape;469;p5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Multi-site Audit Coordination</a:t>
            </a:r>
            <a:endParaRPr/>
          </a:p>
        </p:txBody>
      </p:sp>
      <p:sp>
        <p:nvSpPr>
          <p:cNvPr id="476" name="Google Shape;476;p5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3.png" id="477" name="Google Shape;47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Multi-site Guidelines</a:t>
            </a:r>
            <a:endParaRPr/>
          </a:p>
        </p:txBody>
      </p:sp>
      <p:sp>
        <p:nvSpPr>
          <p:cNvPr id="479" name="Google Shape;479;p5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5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Cultural Change Assessment</a:t>
            </a:r>
            <a:endParaRPr/>
          </a:p>
        </p:txBody>
      </p:sp>
      <p:sp>
        <p:nvSpPr>
          <p:cNvPr id="486" name="Google Shape;486;p5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4.png" id="487" name="Google Shape;48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Culture Assessment Benchmarks</a:t>
            </a:r>
            <a:endParaRPr/>
          </a:p>
        </p:txBody>
      </p:sp>
      <p:sp>
        <p:nvSpPr>
          <p:cNvPr id="489" name="Google Shape;489;p5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Reporting Excellence Framework</a:t>
            </a:r>
            <a:endParaRPr/>
          </a:p>
        </p:txBody>
      </p:sp>
      <p:sp>
        <p:nvSpPr>
          <p:cNvPr id="496" name="Google Shape;496;p5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5.png" id="497" name="Google Shape;49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Reporting Standards</a:t>
            </a:r>
            <a:endParaRPr/>
          </a:p>
        </p:txBody>
      </p:sp>
      <p:sp>
        <p:nvSpPr>
          <p:cNvPr id="499" name="Google Shape;499;p5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Benchmarking Integration Strategy</a:t>
            </a:r>
            <a:endParaRPr/>
          </a:p>
        </p:txBody>
      </p:sp>
      <p:sp>
        <p:nvSpPr>
          <p:cNvPr id="506" name="Google Shape;506;p6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6.png" id="507" name="Google Shape;50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6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Benchmarking Guidelines</a:t>
            </a:r>
            <a:endParaRPr/>
          </a:p>
        </p:txBody>
      </p:sp>
      <p:sp>
        <p:nvSpPr>
          <p:cNvPr id="509" name="Google Shape;509;p6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Future Audit Trends Integration</a:t>
            </a:r>
            <a:endParaRPr/>
          </a:p>
        </p:txBody>
      </p:sp>
      <p:sp>
        <p:nvSpPr>
          <p:cNvPr id="516" name="Google Shape;516;p6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7.png" id="517" name="Google Shape;51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Future Audit Technology Trends, 2024</a:t>
            </a:r>
            <a:endParaRPr/>
          </a:p>
        </p:txBody>
      </p:sp>
      <p:sp>
        <p:nvSpPr>
          <p:cNvPr id="519" name="Google Shape;519;p6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Key Framework Takeaways</a:t>
            </a:r>
            <a:endParaRPr/>
          </a:p>
        </p:txBody>
      </p:sp>
      <p:sp>
        <p:nvSpPr>
          <p:cNvPr id="526" name="Google Shape;526;p6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ISO_140012015_Internal_Auditor_pos38.png" id="527" name="Google Shape;52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6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 14001:2015 Implementation Summary</a:t>
            </a:r>
            <a:endParaRPr/>
          </a:p>
        </p:txBody>
      </p:sp>
      <p:sp>
        <p:nvSpPr>
          <p:cNvPr id="529" name="Google Shape;529;p6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1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Activity: ISO 14001:2015 Internal Auditor Framework</a:t>
            </a:r>
            <a:endParaRPr/>
          </a:p>
        </p:txBody>
      </p:sp>
      <p:sp>
        <p:nvSpPr>
          <p:cNvPr id="536" name="Google Shape;536;p63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Activity: Risk-Based Audit Planning Exercise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1: Assess environmental significance of each production line using risk matrix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2: Determine appropriate audit frequency for each line based on risk level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3: Select qualified auditors with appropriate competencies for each audit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4: Develop scope and objectives for upcoming audit cycle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5: Create audit schedule aligned with risk-based methodology</a:t>
            </a:r>
            <a:endParaRPr/>
          </a:p>
        </p:txBody>
      </p:sp>
      <p:sp>
        <p:nvSpPr>
          <p:cNvPr id="537" name="Google Shape;537;p63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4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64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LO2 | LU2 | T1: Auditing ISO 14001:2015</a:t>
            </a:r>
            <a:endParaRPr/>
          </a:p>
        </p:txBody>
      </p:sp>
      <p:sp>
        <p:nvSpPr>
          <p:cNvPr id="546" name="Google Shape;546;p64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What is Auditing ISO 14001:2015?</a:t>
            </a:r>
            <a:endParaRPr/>
          </a:p>
        </p:txBody>
      </p:sp>
      <p:sp>
        <p:nvSpPr>
          <p:cNvPr id="552" name="Google Shape;552;p6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0.png" id="553" name="Google Shape;55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555" name="Google Shape;555;p6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Types of ISO 14001 Audits</a:t>
            </a:r>
            <a:endParaRPr/>
          </a:p>
        </p:txBody>
      </p:sp>
      <p:sp>
        <p:nvSpPr>
          <p:cNvPr id="562" name="Google Shape;562;p6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.png" id="563" name="Google Shape;5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6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565" name="Google Shape;565;p6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Two-Stage Certification Process</a:t>
            </a:r>
            <a:endParaRPr/>
          </a:p>
        </p:txBody>
      </p:sp>
      <p:sp>
        <p:nvSpPr>
          <p:cNvPr id="572" name="Google Shape;572;p6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.png" id="573" name="Google Shape;57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6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Smithers, 2024</a:t>
            </a:r>
            <a:endParaRPr/>
          </a:p>
        </p:txBody>
      </p:sp>
      <p:sp>
        <p:nvSpPr>
          <p:cNvPr id="575" name="Google Shape;575;p6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6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Distribution Statistics</a:t>
            </a:r>
            <a:endParaRPr/>
          </a:p>
        </p:txBody>
      </p:sp>
      <p:sp>
        <p:nvSpPr>
          <p:cNvPr id="582" name="Google Shape;582;p6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.png" id="583" name="Google Shape;58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585" name="Google Shape;585;p6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6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Evidence Gathering Techniques</a:t>
            </a:r>
            <a:endParaRPr/>
          </a:p>
        </p:txBody>
      </p:sp>
      <p:sp>
        <p:nvSpPr>
          <p:cNvPr id="592" name="Google Shape;592;p6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4.png" id="593" name="Google Shape;59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595" name="Google Shape;595;p6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Auditor Independence Requirements</a:t>
            </a:r>
            <a:endParaRPr/>
          </a:p>
        </p:txBody>
      </p:sp>
      <p:sp>
        <p:nvSpPr>
          <p:cNvPr id="602" name="Google Shape;602;p7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5.png" id="603" name="Google Shape;60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7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605" name="Google Shape;605;p7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Planning Process</a:t>
            </a:r>
            <a:endParaRPr/>
          </a:p>
        </p:txBody>
      </p:sp>
      <p:sp>
        <p:nvSpPr>
          <p:cNvPr id="612" name="Google Shape;612;p7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6.png" id="613" name="Google Shape;6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615" name="Google Shape;615;p7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Documentation Review Phase</a:t>
            </a:r>
            <a:endParaRPr/>
          </a:p>
        </p:txBody>
      </p:sp>
      <p:sp>
        <p:nvSpPr>
          <p:cNvPr id="622" name="Google Shape;622;p7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7.png" id="623" name="Google Shape;62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625" name="Google Shape;625;p7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7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Implementation Assessment</a:t>
            </a:r>
            <a:endParaRPr/>
          </a:p>
        </p:txBody>
      </p:sp>
      <p:sp>
        <p:nvSpPr>
          <p:cNvPr id="632" name="Google Shape;632;p7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8.png" id="633" name="Google Shape;63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7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Smithers, 2024</a:t>
            </a:r>
            <a:endParaRPr/>
          </a:p>
        </p:txBody>
      </p:sp>
      <p:sp>
        <p:nvSpPr>
          <p:cNvPr id="635" name="Google Shape;635;p7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7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Stakeholder Engagement Strategy</a:t>
            </a:r>
            <a:endParaRPr/>
          </a:p>
        </p:txBody>
      </p:sp>
      <p:sp>
        <p:nvSpPr>
          <p:cNvPr id="642" name="Google Shape;642;p7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9.png" id="643" name="Google Shape;64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7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645" name="Google Shape;645;p7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Communication Best Practices</a:t>
            </a:r>
            <a:endParaRPr/>
          </a:p>
        </p:txBody>
      </p:sp>
      <p:sp>
        <p:nvSpPr>
          <p:cNvPr id="652" name="Google Shape;652;p7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0.png" id="653" name="Google Shape;65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7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10 Key Strategies, 2024</a:t>
            </a:r>
            <a:endParaRPr/>
          </a:p>
        </p:txBody>
      </p:sp>
      <p:sp>
        <p:nvSpPr>
          <p:cNvPr id="655" name="Google Shape;655;p7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7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Checklist Methodology</a:t>
            </a:r>
            <a:endParaRPr/>
          </a:p>
        </p:txBody>
      </p:sp>
      <p:sp>
        <p:nvSpPr>
          <p:cNvPr id="662" name="Google Shape;662;p7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1.png" id="663" name="Google Shape;663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7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665" name="Google Shape;665;p7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Audit Program Structure</a:t>
            </a:r>
            <a:endParaRPr/>
          </a:p>
        </p:txBody>
      </p:sp>
      <p:sp>
        <p:nvSpPr>
          <p:cNvPr id="672" name="Google Shape;672;p7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2.png" id="673" name="Google Shape;67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7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675" name="Google Shape;675;p7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7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Evidence Sampling Strategy</a:t>
            </a:r>
            <a:endParaRPr/>
          </a:p>
        </p:txBody>
      </p:sp>
      <p:sp>
        <p:nvSpPr>
          <p:cNvPr id="682" name="Google Shape;682;p7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3.png" id="683" name="Google Shape;683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7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685" name="Google Shape;685;p7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7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Stage Distribution Balance</a:t>
            </a:r>
            <a:endParaRPr/>
          </a:p>
        </p:txBody>
      </p:sp>
      <p:sp>
        <p:nvSpPr>
          <p:cNvPr id="692" name="Google Shape;692;p7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4.png" id="693" name="Google Shape;69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7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695" name="Google Shape;695;p7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7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Continuous Improvement Cycle</a:t>
            </a:r>
            <a:endParaRPr/>
          </a:p>
        </p:txBody>
      </p:sp>
      <p:sp>
        <p:nvSpPr>
          <p:cNvPr id="702" name="Google Shape;702;p8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5.png" id="703" name="Google Shape;70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8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705" name="Google Shape;705;p8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8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Follow-up Audit Process</a:t>
            </a:r>
            <a:endParaRPr/>
          </a:p>
        </p:txBody>
      </p:sp>
      <p:sp>
        <p:nvSpPr>
          <p:cNvPr id="712" name="Google Shape;712;p8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6.png" id="713" name="Google Shape;71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8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715" name="Google Shape;715;p8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8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Risk-Based Auditing</a:t>
            </a:r>
            <a:endParaRPr/>
          </a:p>
        </p:txBody>
      </p:sp>
      <p:sp>
        <p:nvSpPr>
          <p:cNvPr id="722" name="Google Shape;722;p8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7.png" id="723" name="Google Shape;72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8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725" name="Google Shape;725;p8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8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Technology Integration</a:t>
            </a:r>
            <a:endParaRPr/>
          </a:p>
        </p:txBody>
      </p:sp>
      <p:sp>
        <p:nvSpPr>
          <p:cNvPr id="732" name="Google Shape;732;p8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8.png" id="733" name="Google Shape;73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8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735" name="Google Shape;735;p8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Competence Requirements</a:t>
            </a:r>
            <a:endParaRPr/>
          </a:p>
        </p:txBody>
      </p:sp>
      <p:sp>
        <p:nvSpPr>
          <p:cNvPr id="742" name="Google Shape;742;p8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19.png" id="743" name="Google Shape;743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8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745" name="Google Shape;745;p8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8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Non-Conformity Classification</a:t>
            </a:r>
            <a:endParaRPr/>
          </a:p>
        </p:txBody>
      </p:sp>
      <p:sp>
        <p:nvSpPr>
          <p:cNvPr id="752" name="Google Shape;752;p8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0.png" id="753" name="Google Shape;75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8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755" name="Google Shape;755;p8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8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Interview Strategies</a:t>
            </a:r>
            <a:endParaRPr/>
          </a:p>
        </p:txBody>
      </p:sp>
      <p:sp>
        <p:nvSpPr>
          <p:cNvPr id="762" name="Google Shape;762;p8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1.png" id="763" name="Google Shape;76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8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765" name="Google Shape;765;p8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8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Observation Techniques</a:t>
            </a:r>
            <a:endParaRPr/>
          </a:p>
        </p:txBody>
      </p:sp>
      <p:sp>
        <p:nvSpPr>
          <p:cNvPr id="772" name="Google Shape;772;p8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2.png" id="773" name="Google Shape;773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8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775" name="Google Shape;775;p8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8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Reporting Framework</a:t>
            </a:r>
            <a:endParaRPr/>
          </a:p>
        </p:txBody>
      </p:sp>
      <p:sp>
        <p:nvSpPr>
          <p:cNvPr id="782" name="Google Shape;782;p8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3.png" id="783" name="Google Shape;78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8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785" name="Google Shape;785;p8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8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Management Review Integration</a:t>
            </a:r>
            <a:endParaRPr/>
          </a:p>
        </p:txBody>
      </p:sp>
      <p:sp>
        <p:nvSpPr>
          <p:cNvPr id="792" name="Google Shape;792;p8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4.png" id="793" name="Google Shape;79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8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795" name="Google Shape;795;p8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8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9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Quality Control Measures</a:t>
            </a:r>
            <a:endParaRPr/>
          </a:p>
        </p:txBody>
      </p:sp>
      <p:sp>
        <p:nvSpPr>
          <p:cNvPr id="802" name="Google Shape;802;p9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5.png" id="803" name="Google Shape;80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9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805" name="Google Shape;805;p9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9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Cultural Considerations</a:t>
            </a:r>
            <a:endParaRPr/>
          </a:p>
        </p:txBody>
      </p:sp>
      <p:sp>
        <p:nvSpPr>
          <p:cNvPr id="812" name="Google Shape;812;p9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6.png" id="813" name="Google Shape;81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9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10 Key Strategies, 2024</a:t>
            </a:r>
            <a:endParaRPr/>
          </a:p>
        </p:txBody>
      </p:sp>
      <p:sp>
        <p:nvSpPr>
          <p:cNvPr id="815" name="Google Shape;815;p9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9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9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Remote Auditing Capabilities</a:t>
            </a:r>
            <a:endParaRPr/>
          </a:p>
        </p:txBody>
      </p:sp>
      <p:sp>
        <p:nvSpPr>
          <p:cNvPr id="822" name="Google Shape;822;p9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7.png" id="823" name="Google Shape;82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9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825" name="Google Shape;825;p9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9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Supplier Audit Integration</a:t>
            </a:r>
            <a:endParaRPr/>
          </a:p>
        </p:txBody>
      </p:sp>
      <p:sp>
        <p:nvSpPr>
          <p:cNvPr id="832" name="Google Shape;832;p9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8.png" id="833" name="Google Shape;83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9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835" name="Google Shape;835;p9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9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Emergency Preparedness Assessment</a:t>
            </a:r>
            <a:endParaRPr/>
          </a:p>
        </p:txBody>
      </p:sp>
      <p:sp>
        <p:nvSpPr>
          <p:cNvPr id="842" name="Google Shape;842;p9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29.png" id="843" name="Google Shape;84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9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Internal Audit Check Sheets, 2024</a:t>
            </a:r>
            <a:endParaRPr/>
          </a:p>
        </p:txBody>
      </p:sp>
      <p:sp>
        <p:nvSpPr>
          <p:cNvPr id="845" name="Google Shape;845;p9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9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9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Legal Compliance Verification</a:t>
            </a:r>
            <a:endParaRPr/>
          </a:p>
        </p:txBody>
      </p:sp>
      <p:sp>
        <p:nvSpPr>
          <p:cNvPr id="852" name="Google Shape;852;p9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0.png" id="853" name="Google Shape;85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9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855" name="Google Shape;855;p9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9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Performance Measurement Review</a:t>
            </a:r>
            <a:endParaRPr/>
          </a:p>
        </p:txBody>
      </p:sp>
      <p:sp>
        <p:nvSpPr>
          <p:cNvPr id="862" name="Google Shape;862;p9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1.png" id="863" name="Google Shape;86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9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865" name="Google Shape;865;p9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Training Effectiveness Evaluation</a:t>
            </a:r>
            <a:endParaRPr/>
          </a:p>
        </p:txBody>
      </p:sp>
      <p:sp>
        <p:nvSpPr>
          <p:cNvPr id="872" name="Google Shape;872;p9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2.png" id="873" name="Google Shape;87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9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10 Key Strategies, 2024</a:t>
            </a:r>
            <a:endParaRPr/>
          </a:p>
        </p:txBody>
      </p:sp>
      <p:sp>
        <p:nvSpPr>
          <p:cNvPr id="875" name="Google Shape;875;p9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9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9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Change Management Assessment</a:t>
            </a:r>
            <a:endParaRPr/>
          </a:p>
        </p:txBody>
      </p:sp>
      <p:sp>
        <p:nvSpPr>
          <p:cNvPr id="882" name="Google Shape;882;p9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3.png" id="883" name="Google Shape;883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9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885" name="Google Shape;885;p9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9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Internal Communication Review</a:t>
            </a:r>
            <a:endParaRPr/>
          </a:p>
        </p:txBody>
      </p:sp>
      <p:sp>
        <p:nvSpPr>
          <p:cNvPr id="892" name="Google Shape;892;p9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4.png" id="893" name="Google Shape;89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9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10 Key Strategies, 2024</a:t>
            </a:r>
            <a:endParaRPr/>
          </a:p>
        </p:txBody>
      </p:sp>
      <p:sp>
        <p:nvSpPr>
          <p:cNvPr id="895" name="Google Shape;895;p9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9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0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External Communication Audit</a:t>
            </a:r>
            <a:endParaRPr/>
          </a:p>
        </p:txBody>
      </p:sp>
      <p:sp>
        <p:nvSpPr>
          <p:cNvPr id="902" name="Google Shape;902;p10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5.png" id="903" name="Google Shape;90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10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ISOQAR, 2024</a:t>
            </a:r>
            <a:endParaRPr/>
          </a:p>
        </p:txBody>
      </p:sp>
      <p:sp>
        <p:nvSpPr>
          <p:cNvPr id="905" name="Google Shape;905;p10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0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0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Corrective Action Tracking</a:t>
            </a:r>
            <a:endParaRPr/>
          </a:p>
        </p:txBody>
      </p:sp>
      <p:sp>
        <p:nvSpPr>
          <p:cNvPr id="912" name="Google Shape;912;p10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6.png" id="913" name="Google Shape;91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10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BPR Hub, 2024</a:t>
            </a:r>
            <a:endParaRPr/>
          </a:p>
        </p:txBody>
      </p:sp>
      <p:sp>
        <p:nvSpPr>
          <p:cNvPr id="915" name="Google Shape;915;p10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0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0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Cost-Benefit Analysis</a:t>
            </a:r>
            <a:endParaRPr/>
          </a:p>
        </p:txBody>
      </p:sp>
      <p:sp>
        <p:nvSpPr>
          <p:cNvPr id="922" name="Google Shape;922;p10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7.png" id="923" name="Google Shape;923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10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GoAudits, 2024</a:t>
            </a:r>
            <a:endParaRPr/>
          </a:p>
        </p:txBody>
      </p:sp>
      <p:sp>
        <p:nvSpPr>
          <p:cNvPr id="925" name="Google Shape;925;p10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0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Key Auditing Takeaways</a:t>
            </a:r>
            <a:endParaRPr/>
          </a:p>
        </p:txBody>
      </p:sp>
      <p:sp>
        <p:nvSpPr>
          <p:cNvPr id="932" name="Google Shape;932;p10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Auditing_ISO_140012015_pos38.png" id="933" name="Google Shape;93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0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Multiple sources, 2024</a:t>
            </a:r>
            <a:endParaRPr/>
          </a:p>
        </p:txBody>
      </p:sp>
      <p:sp>
        <p:nvSpPr>
          <p:cNvPr id="935" name="Google Shape;935;p10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0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1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Activity: Auditing ISO 14001:2015</a:t>
            </a:r>
            <a:endParaRPr/>
          </a:p>
        </p:txBody>
      </p:sp>
      <p:sp>
        <p:nvSpPr>
          <p:cNvPr id="942" name="Google Shape;942;p104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Activity: Internal Audit Planning Exercise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1: Define audit scope boundaries for each production line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2: Create stakeholder engagement matrix identifying key personnel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3: Develop evidence gathering strategy using multiple techniques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4: Design checklist covering all environmental aspects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5: Plan follow-up procedures for continuous improvement</a:t>
            </a:r>
            <a:endParaRPr/>
          </a:p>
        </p:txBody>
      </p:sp>
      <p:sp>
        <p:nvSpPr>
          <p:cNvPr id="943" name="Google Shape;943;p104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0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0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05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05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LO3 | LU3 | T1: Risk Assessment</a:t>
            </a:r>
            <a:endParaRPr/>
          </a:p>
        </p:txBody>
      </p:sp>
      <p:sp>
        <p:nvSpPr>
          <p:cNvPr id="952" name="Google Shape;952;p105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0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Assessment Fundamentals</a:t>
            </a:r>
            <a:endParaRPr/>
          </a:p>
        </p:txBody>
      </p:sp>
      <p:sp>
        <p:nvSpPr>
          <p:cNvPr id="958" name="Google Shape;958;p10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0.png" id="959" name="Google Shape;95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10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961" name="Google Shape;961;p10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0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0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Four-Step Process</a:t>
            </a:r>
            <a:endParaRPr/>
          </a:p>
        </p:txBody>
      </p:sp>
      <p:sp>
        <p:nvSpPr>
          <p:cNvPr id="968" name="Google Shape;968;p10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.png" id="969" name="Google Shape;969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10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971" name="Google Shape;971;p10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10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0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Framework Types</a:t>
            </a:r>
            <a:endParaRPr/>
          </a:p>
        </p:txBody>
      </p:sp>
      <p:sp>
        <p:nvSpPr>
          <p:cNvPr id="978" name="Google Shape;978;p10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.png" id="979" name="Google Shape;97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0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TechTarget, 2024</a:t>
            </a:r>
            <a:endParaRPr/>
          </a:p>
        </p:txBody>
      </p:sp>
      <p:sp>
        <p:nvSpPr>
          <p:cNvPr id="981" name="Google Shape;981;p10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0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0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Scoring Scale</a:t>
            </a:r>
            <a:endParaRPr/>
          </a:p>
        </p:txBody>
      </p:sp>
      <p:sp>
        <p:nvSpPr>
          <p:cNvPr id="988" name="Google Shape;988;p10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.png" id="989" name="Google Shape;98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10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991" name="Google Shape;991;p10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10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1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Tools</a:t>
            </a:r>
            <a:endParaRPr/>
          </a:p>
        </p:txBody>
      </p:sp>
      <p:sp>
        <p:nvSpPr>
          <p:cNvPr id="998" name="Google Shape;998;p11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4.png" id="999" name="Google Shape;99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11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001" name="Google Shape;1001;p11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1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1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Statistical Techniques</a:t>
            </a:r>
            <a:endParaRPr/>
          </a:p>
        </p:txBody>
      </p:sp>
      <p:sp>
        <p:nvSpPr>
          <p:cNvPr id="1008" name="Google Shape;1008;p11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5.png" id="1009" name="Google Shape;10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11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StudySmarter, 2024</a:t>
            </a:r>
            <a:endParaRPr/>
          </a:p>
        </p:txBody>
      </p:sp>
      <p:sp>
        <p:nvSpPr>
          <p:cNvPr id="1011" name="Google Shape;1011;p11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1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1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Distribution</a:t>
            </a:r>
            <a:endParaRPr/>
          </a:p>
        </p:txBody>
      </p:sp>
      <p:sp>
        <p:nvSpPr>
          <p:cNvPr id="1018" name="Google Shape;1018;p11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6.png" id="1019" name="Google Shape;1019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11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021" name="Google Shape;1021;p11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1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1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Components</a:t>
            </a:r>
            <a:endParaRPr/>
          </a:p>
        </p:txBody>
      </p:sp>
      <p:sp>
        <p:nvSpPr>
          <p:cNvPr id="1028" name="Google Shape;1028;p11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7.png" id="1029" name="Google Shape;102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1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031" name="Google Shape;1031;p11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1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1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Preparation Phase</a:t>
            </a:r>
            <a:endParaRPr/>
          </a:p>
        </p:txBody>
      </p:sp>
      <p:sp>
        <p:nvSpPr>
          <p:cNvPr id="1038" name="Google Shape;1038;p11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8.png" id="1039" name="Google Shape;1039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11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041" name="Google Shape;1041;p11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1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1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/>
          </a:p>
        </p:txBody>
      </p:sp>
      <p:sp>
        <p:nvSpPr>
          <p:cNvPr id="1048" name="Google Shape;1048;p11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9.png" id="1049" name="Google Shape;1049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11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051" name="Google Shape;1051;p11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1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1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Threat Identification</a:t>
            </a:r>
            <a:endParaRPr/>
          </a:p>
        </p:txBody>
      </p:sp>
      <p:sp>
        <p:nvSpPr>
          <p:cNvPr id="1058" name="Google Shape;1058;p11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0.png" id="1059" name="Google Shape;105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11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061" name="Google Shape;1061;p11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1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1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Matrix</a:t>
            </a:r>
            <a:endParaRPr/>
          </a:p>
        </p:txBody>
      </p:sp>
      <p:sp>
        <p:nvSpPr>
          <p:cNvPr id="1068" name="Google Shape;1068;p11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1.png" id="1069" name="Google Shape;106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1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071" name="Google Shape;1071;p11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11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1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FMEA Process</a:t>
            </a:r>
            <a:endParaRPr/>
          </a:p>
        </p:txBody>
      </p:sp>
      <p:sp>
        <p:nvSpPr>
          <p:cNvPr id="1078" name="Google Shape;1078;p11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2.png" id="1079" name="Google Shape;1079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1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081" name="Google Shape;1081;p11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1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1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Decision Trees</a:t>
            </a:r>
            <a:endParaRPr/>
          </a:p>
        </p:txBody>
      </p:sp>
      <p:sp>
        <p:nvSpPr>
          <p:cNvPr id="1088" name="Google Shape;1088;p11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3.png" id="1089" name="Google Shape;1089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1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091" name="Google Shape;1091;p11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1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2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Bowtie Model</a:t>
            </a:r>
            <a:endParaRPr/>
          </a:p>
        </p:txBody>
      </p:sp>
      <p:sp>
        <p:nvSpPr>
          <p:cNvPr id="1098" name="Google Shape;1098;p12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4.png" id="1099" name="Google Shape;1099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12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101" name="Google Shape;1101;p12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2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2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Cross-Functional Teams</a:t>
            </a:r>
            <a:endParaRPr/>
          </a:p>
        </p:txBody>
      </p:sp>
      <p:sp>
        <p:nvSpPr>
          <p:cNvPr id="1108" name="Google Shape;1108;p12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5.png" id="1109" name="Google Shape;1109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2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111" name="Google Shape;1111;p12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12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2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Vulnerability Analysis</a:t>
            </a:r>
            <a:endParaRPr/>
          </a:p>
        </p:txBody>
      </p:sp>
      <p:sp>
        <p:nvSpPr>
          <p:cNvPr id="1118" name="Google Shape;1118;p12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6.png" id="1119" name="Google Shape;1119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12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121" name="Google Shape;1121;p12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12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2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Impact Assessment</a:t>
            </a:r>
            <a:endParaRPr/>
          </a:p>
        </p:txBody>
      </p:sp>
      <p:sp>
        <p:nvSpPr>
          <p:cNvPr id="1128" name="Google Shape;1128;p12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7.png" id="1129" name="Google Shape;112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12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131" name="Google Shape;1131;p12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2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2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Quantitative Methods</a:t>
            </a:r>
            <a:endParaRPr/>
          </a:p>
        </p:txBody>
      </p:sp>
      <p:sp>
        <p:nvSpPr>
          <p:cNvPr id="1138" name="Google Shape;1138;p12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8.png" id="1139" name="Google Shape;1139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12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StudySmarter, 2024</a:t>
            </a:r>
            <a:endParaRPr/>
          </a:p>
        </p:txBody>
      </p:sp>
      <p:sp>
        <p:nvSpPr>
          <p:cNvPr id="1141" name="Google Shape;1141;p12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2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2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ALE Calculation</a:t>
            </a:r>
            <a:endParaRPr/>
          </a:p>
        </p:txBody>
      </p:sp>
      <p:sp>
        <p:nvSpPr>
          <p:cNvPr id="1148" name="Google Shape;1148;p12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19.png" id="1149" name="Google Shape;1149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12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StudySmarter, 2024</a:t>
            </a:r>
            <a:endParaRPr/>
          </a:p>
        </p:txBody>
      </p:sp>
      <p:sp>
        <p:nvSpPr>
          <p:cNvPr id="1151" name="Google Shape;1151;p12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2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2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Communication</a:t>
            </a:r>
            <a:endParaRPr/>
          </a:p>
        </p:txBody>
      </p:sp>
      <p:sp>
        <p:nvSpPr>
          <p:cNvPr id="1158" name="Google Shape;1158;p12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0.png" id="1159" name="Google Shape;1159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12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161" name="Google Shape;1161;p12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2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2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Monitoring</a:t>
            </a:r>
            <a:endParaRPr/>
          </a:p>
        </p:txBody>
      </p:sp>
      <p:sp>
        <p:nvSpPr>
          <p:cNvPr id="1168" name="Google Shape;1168;p12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1.png" id="1169" name="Google Shape;1169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2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171" name="Google Shape;1171;p12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2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2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Tolerance</a:t>
            </a:r>
            <a:endParaRPr/>
          </a:p>
        </p:txBody>
      </p:sp>
      <p:sp>
        <p:nvSpPr>
          <p:cNvPr id="1178" name="Google Shape;1178;p12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2.png" id="1179" name="Google Shape;1179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2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181" name="Google Shape;1181;p12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2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2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Control Categories</a:t>
            </a:r>
            <a:endParaRPr/>
          </a:p>
        </p:txBody>
      </p:sp>
      <p:sp>
        <p:nvSpPr>
          <p:cNvPr id="1188" name="Google Shape;1188;p12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3.png" id="1189" name="Google Shape;1189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2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191" name="Google Shape;1191;p12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2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3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Register</a:t>
            </a:r>
            <a:endParaRPr/>
          </a:p>
        </p:txBody>
      </p:sp>
      <p:sp>
        <p:nvSpPr>
          <p:cNvPr id="1198" name="Google Shape;1198;p13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4.png" id="1199" name="Google Shape;119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3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201" name="Google Shape;1201;p13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3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3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Quality</a:t>
            </a:r>
            <a:endParaRPr/>
          </a:p>
        </p:txBody>
      </p:sp>
      <p:sp>
        <p:nvSpPr>
          <p:cNvPr id="1208" name="Google Shape;1208;p13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5.png" id="1209" name="Google Shape;1209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3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211" name="Google Shape;1211;p13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3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3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FAIR Model</a:t>
            </a:r>
            <a:endParaRPr/>
          </a:p>
        </p:txBody>
      </p:sp>
      <p:sp>
        <p:nvSpPr>
          <p:cNvPr id="1218" name="Google Shape;1218;p13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6.png" id="1219" name="Google Shape;1219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13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StudySmarter, 2024</a:t>
            </a:r>
            <a:endParaRPr/>
          </a:p>
        </p:txBody>
      </p:sp>
      <p:sp>
        <p:nvSpPr>
          <p:cNvPr id="1221" name="Google Shape;1221;p13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3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3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Treatment</a:t>
            </a:r>
            <a:endParaRPr/>
          </a:p>
        </p:txBody>
      </p:sp>
      <p:sp>
        <p:nvSpPr>
          <p:cNvPr id="1228" name="Google Shape;1228;p13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7.png" id="1229" name="Google Shape;1229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13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231" name="Google Shape;1231;p13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3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3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Timeline</a:t>
            </a:r>
            <a:endParaRPr/>
          </a:p>
        </p:txBody>
      </p:sp>
      <p:sp>
        <p:nvSpPr>
          <p:cNvPr id="1238" name="Google Shape;1238;p13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8.png" id="1239" name="Google Shape;123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3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241" name="Google Shape;1241;p13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3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35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Industry Standards</a:t>
            </a:r>
            <a:endParaRPr/>
          </a:p>
        </p:txBody>
      </p:sp>
      <p:sp>
        <p:nvSpPr>
          <p:cNvPr id="1248" name="Google Shape;1248;p135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29.png" id="1249" name="Google Shape;1249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135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TechTarget, 2024</a:t>
            </a:r>
            <a:endParaRPr/>
          </a:p>
        </p:txBody>
      </p:sp>
      <p:sp>
        <p:nvSpPr>
          <p:cNvPr id="1251" name="Google Shape;1251;p13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3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36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Technology Tools</a:t>
            </a:r>
            <a:endParaRPr/>
          </a:p>
        </p:txBody>
      </p:sp>
      <p:sp>
        <p:nvSpPr>
          <p:cNvPr id="1258" name="Google Shape;1258;p136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0.png" id="1259" name="Google Shape;1259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136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StudySmarter, 2024</a:t>
            </a:r>
            <a:endParaRPr/>
          </a:p>
        </p:txBody>
      </p:sp>
      <p:sp>
        <p:nvSpPr>
          <p:cNvPr id="1261" name="Google Shape;1261;p136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36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37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Common Pitfalls</a:t>
            </a:r>
            <a:endParaRPr/>
          </a:p>
        </p:txBody>
      </p:sp>
      <p:sp>
        <p:nvSpPr>
          <p:cNvPr id="1268" name="Google Shape;1268;p137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1.png" id="1269" name="Google Shape;1269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137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271" name="Google Shape;1271;p137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37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38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Success Factors</a:t>
            </a:r>
            <a:endParaRPr/>
          </a:p>
        </p:txBody>
      </p:sp>
      <p:sp>
        <p:nvSpPr>
          <p:cNvPr id="1278" name="Google Shape;1278;p138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2.png" id="1279" name="Google Shape;1279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38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281" name="Google Shape;1281;p13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3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39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Reporting Format</a:t>
            </a:r>
            <a:endParaRPr/>
          </a:p>
        </p:txBody>
      </p:sp>
      <p:sp>
        <p:nvSpPr>
          <p:cNvPr id="1288" name="Google Shape;1288;p139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3.png" id="1289" name="Google Shape;1289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39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NIST, 2024</a:t>
            </a:r>
            <a:endParaRPr/>
          </a:p>
        </p:txBody>
      </p:sp>
      <p:sp>
        <p:nvSpPr>
          <p:cNvPr id="1291" name="Google Shape;1291;p139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39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40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Compliance Integration</a:t>
            </a:r>
            <a:endParaRPr/>
          </a:p>
        </p:txBody>
      </p:sp>
      <p:sp>
        <p:nvSpPr>
          <p:cNvPr id="1298" name="Google Shape;1298;p140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4.png" id="1299" name="Google Shape;1299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40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TechTarget, 2024</a:t>
            </a:r>
            <a:endParaRPr/>
          </a:p>
        </p:txBody>
      </p:sp>
      <p:sp>
        <p:nvSpPr>
          <p:cNvPr id="1301" name="Google Shape;1301;p14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4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41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Risk Metrics</a:t>
            </a:r>
            <a:endParaRPr/>
          </a:p>
        </p:txBody>
      </p:sp>
      <p:sp>
        <p:nvSpPr>
          <p:cNvPr id="1308" name="Google Shape;1308;p141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5.png" id="1309" name="Google Shape;1309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41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LogicManager, 2024</a:t>
            </a:r>
            <a:endParaRPr/>
          </a:p>
        </p:txBody>
      </p:sp>
      <p:sp>
        <p:nvSpPr>
          <p:cNvPr id="1311" name="Google Shape;1311;p141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141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42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Assessment Maturity</a:t>
            </a:r>
            <a:endParaRPr/>
          </a:p>
        </p:txBody>
      </p:sp>
      <p:sp>
        <p:nvSpPr>
          <p:cNvPr id="1318" name="Google Shape;1318;p142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6.png" id="1319" name="Google Shape;1319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142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SafetyCulture, 2024</a:t>
            </a:r>
            <a:endParaRPr/>
          </a:p>
        </p:txBody>
      </p:sp>
      <p:sp>
        <p:nvSpPr>
          <p:cNvPr id="1321" name="Google Shape;1321;p142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142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143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Future Trends</a:t>
            </a:r>
            <a:endParaRPr/>
          </a:p>
        </p:txBody>
      </p:sp>
      <p:sp>
        <p:nvSpPr>
          <p:cNvPr id="1328" name="Google Shape;1328;p143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7.png" id="1329" name="Google Shape;1329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43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TechTarget, 2024</a:t>
            </a:r>
            <a:endParaRPr/>
          </a:p>
        </p:txBody>
      </p:sp>
      <p:sp>
        <p:nvSpPr>
          <p:cNvPr id="1331" name="Google Shape;1331;p143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143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44"/>
          <p:cNvSpPr txBox="1"/>
          <p:nvPr/>
        </p:nvSpPr>
        <p:spPr>
          <a:xfrm>
            <a:off x="155000" y="100000"/>
            <a:ext cx="8796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/>
          </a:p>
        </p:txBody>
      </p:sp>
      <p:sp>
        <p:nvSpPr>
          <p:cNvPr id="1338" name="Google Shape;1338;p144"/>
          <p:cNvSpPr/>
          <p:nvPr/>
        </p:nvSpPr>
        <p:spPr>
          <a:xfrm>
            <a:off x="155000" y="520000"/>
            <a:ext cx="8796000" cy="18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fographic_Risk_Assessment_pos38.png" id="1339" name="Google Shape;1339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105" y="621000"/>
            <a:ext cx="6965789" cy="39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44"/>
          <p:cNvSpPr txBox="1"/>
          <p:nvPr/>
        </p:nvSpPr>
        <p:spPr>
          <a:xfrm>
            <a:off x="155000" y="4700000"/>
            <a:ext cx="8796000" cy="2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Source: Multiple sources, 2024</a:t>
            </a:r>
            <a:endParaRPr/>
          </a:p>
        </p:txBody>
      </p:sp>
      <p:sp>
        <p:nvSpPr>
          <p:cNvPr id="1341" name="Google Shape;1341;p144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44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18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Activity: Risk Assessment</a:t>
            </a:r>
            <a:endParaRPr/>
          </a:p>
        </p:txBody>
      </p:sp>
      <p:sp>
        <p:nvSpPr>
          <p:cNvPr id="1348" name="Google Shape;1348;p145"/>
          <p:cNvSpPr txBox="1"/>
          <p:nvPr>
            <p:ph idx="1" type="body"/>
          </p:nvPr>
        </p:nvSpPr>
        <p:spPr>
          <a:xfrm>
            <a:off x="151275" y="642650"/>
            <a:ext cx="8869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Activity: Risk Assessment Workshop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1: Define assessment scope and boundaries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2: Identify potential threats and vulnerabilities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3: Apply risk matrix to evaluate probability and impact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4: Calculate risk scores using 1-10 scale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Step 5: Recommend treatment strategies for high risks</a:t>
            </a:r>
            <a:endParaRPr/>
          </a:p>
        </p:txBody>
      </p:sp>
      <p:sp>
        <p:nvSpPr>
          <p:cNvPr id="1349" name="Google Shape;1349;p145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145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45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46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46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 &amp; Q&amp;A</a:t>
            </a:r>
            <a:endParaRPr/>
          </a:p>
        </p:txBody>
      </p:sp>
      <p:sp>
        <p:nvSpPr>
          <p:cNvPr id="1358" name="Google Shape;1358;p146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4" name="Google Shape;1364;p1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Cert &amp; TRAQOM Survey (Mandatory)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https://lms-tms.tertiaryinfotech.com/</a:t>
            </a:r>
            <a:endParaRPr/>
          </a:p>
        </p:txBody>
      </p:sp>
      <p:pic>
        <p:nvPicPr>
          <p:cNvPr id="1365" name="Google Shape;1365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0" y="1276088"/>
            <a:ext cx="8839201" cy="3223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Digital Attendance</a:t>
            </a:r>
            <a:endParaRPr/>
          </a:p>
        </p:txBody>
      </p:sp>
      <p:sp>
        <p:nvSpPr>
          <p:cNvPr id="1371" name="Google Shape;1371;p148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mandatory for you to take both AM, PM and Assessment digital attendance.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Please scan the QR code from your mobile phone camera and submit your attendance.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Ensure your attendance is recorded for all course days.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This is required for funding and certification purposes.</a:t>
            </a:r>
            <a:endParaRPr/>
          </a:p>
        </p:txBody>
      </p:sp>
      <p:sp>
        <p:nvSpPr>
          <p:cNvPr id="1372" name="Google Shape;1372;p148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148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48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49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149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Assessment</a:t>
            </a:r>
            <a:endParaRPr/>
          </a:p>
        </p:txBody>
      </p:sp>
      <p:sp>
        <p:nvSpPr>
          <p:cNvPr id="1381" name="Google Shape;1381;p149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1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0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/>
          </a:p>
        </p:txBody>
      </p:sp>
      <p:sp>
        <p:nvSpPr>
          <p:cNvPr id="1387" name="Google Shape;1387;p150"/>
          <p:cNvSpPr txBox="1"/>
          <p:nvPr>
            <p:ph idx="1" type="body"/>
          </p:nvPr>
        </p:nvSpPr>
        <p:spPr>
          <a:xfrm>
            <a:off x="151275" y="650000"/>
            <a:ext cx="8841450" cy="4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Char char="●"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If you have any enquiries during and after the class, you can contact us below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Email: enquiry@tertiaryinfotech.com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Tel: +65 6318 4588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  <a:buSzPts val="1400"/>
              <a:buChar char="○"/>
            </a:pPr>
            <a:r>
              <a:rPr lang="en-US"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Website: www.tertiarycourses.com.sg</a:t>
            </a:r>
            <a:endParaRPr/>
          </a:p>
        </p:txBody>
      </p:sp>
      <p:sp>
        <p:nvSpPr>
          <p:cNvPr id="1388" name="Google Shape;1388;p150"/>
          <p:cNvSpPr/>
          <p:nvPr/>
        </p:nvSpPr>
        <p:spPr>
          <a:xfrm>
            <a:off x="151275" y="572700"/>
            <a:ext cx="8000000" cy="3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150"/>
          <p:cNvSpPr/>
          <p:nvPr/>
        </p:nvSpPr>
        <p:spPr>
          <a:xfrm>
            <a:off x="300000" y="4920000"/>
            <a:ext cx="8544000" cy="100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50"/>
          <p:cNvSpPr txBox="1"/>
          <p:nvPr/>
        </p:nvSpPr>
        <p:spPr>
          <a:xfrm>
            <a:off x="100000" y="4940000"/>
            <a:ext cx="8944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material belongs to Tertiary Infotech Academy Pte Ltd (UEN: 201200696W). All Rights Reserved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151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51"/>
          <p:cNvSpPr txBox="1"/>
          <p:nvPr/>
        </p:nvSpPr>
        <p:spPr>
          <a:xfrm>
            <a:off x="500000" y="1800000"/>
            <a:ext cx="8144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1397" name="Google Shape;1397;p151"/>
          <p:cNvSpPr/>
          <p:nvPr/>
        </p:nvSpPr>
        <p:spPr>
          <a:xfrm>
            <a:off x="0" y="5063500"/>
            <a:ext cx="9144000" cy="80000"/>
          </a:xfrm>
          <a:prstGeom prst="rect">
            <a:avLst/>
          </a:prstGeom>
          <a:solidFill>
            <a:srgbClr val="1ABC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ster WSQ Slides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