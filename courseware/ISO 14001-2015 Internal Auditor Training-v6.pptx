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566928"/>
            <a:ext cx="914400" cy="914400"/>
          </a:xfrm>
          <a:prstGeom prst="rect">
            <a:avLst/>
          </a:prstGeom>
        </p:spPr>
      </p:pic>
      <p:sp>
        <p:nvSpPr>
          <p:cNvPr id="6" name="Rectangle 5"/>
          <p:cNvSpPr/>
          <p:nvPr/>
        </p:nvSpPr>
        <p:spPr>
          <a:xfrm>
            <a:off x="9829800" y="585216"/>
            <a:ext cx="164592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694944"/>
            <a:ext cx="1645920" cy="411480"/>
          </a:xfrm>
          <a:prstGeom prst="rect">
            <a:avLst/>
          </a:prstGeom>
          <a:noFill/>
        </p:spPr>
        <p:txBody>
          <a:bodyPr wrap="square" anchor="t" lIns="0" rIns="0">
            <a:spAutoFit/>
          </a:bodyPr>
          <a:lstStyle/>
          <a:p>
            <a:pPr algn="ctr">
              <a:spcAft>
                <a:spcPts val="400"/>
              </a:spcAft>
            </a:pPr>
            <a:r>
              <a:rPr sz="2100" b="1">
                <a:solidFill>
                  <a:srgbClr val="FFFFFF"/>
                </a:solidFill>
                <a:latin typeface="Arial"/>
              </a:rPr>
              <a:t>ISO</a:t>
            </a:r>
          </a:p>
        </p:txBody>
      </p:sp>
      <p:sp>
        <p:nvSpPr>
          <p:cNvPr id="8" name="TextBox 7"/>
          <p:cNvSpPr txBox="1"/>
          <p:nvPr/>
        </p:nvSpPr>
        <p:spPr>
          <a:xfrm>
            <a:off x="9829800" y="1115568"/>
            <a:ext cx="1645920" cy="329184"/>
          </a:xfrm>
          <a:prstGeom prst="rect">
            <a:avLst/>
          </a:prstGeom>
          <a:noFill/>
        </p:spPr>
        <p:txBody>
          <a:bodyPr wrap="square" anchor="t" lIns="0" rIns="0">
            <a:spAutoFit/>
          </a:bodyPr>
          <a:lstStyle/>
          <a:p>
            <a:pPr algn="ctr">
              <a:spcAft>
                <a:spcPts val="400"/>
              </a:spcAft>
            </a:pPr>
            <a:r>
              <a:rPr sz="1000" b="1">
                <a:solidFill>
                  <a:srgbClr val="FFFFFF"/>
                </a:solidFill>
                <a:latin typeface="Arial"/>
              </a:rPr>
              <a:t>14001:2015</a:t>
            </a:r>
          </a:p>
        </p:txBody>
      </p:sp>
      <p:sp>
        <p:nvSpPr>
          <p:cNvPr id="9" name="TextBox 8"/>
          <p:cNvSpPr txBox="1"/>
          <p:nvPr/>
        </p:nvSpPr>
        <p:spPr>
          <a:xfrm>
            <a:off x="804672" y="2029968"/>
            <a:ext cx="10972800" cy="457200"/>
          </a:xfrm>
          <a:prstGeom prst="rect">
            <a:avLst/>
          </a:prstGeom>
          <a:noFill/>
        </p:spPr>
        <p:txBody>
          <a:bodyPr wrap="square" anchor="t" lIns="0" rIns="0">
            <a:spAutoFit/>
          </a:bodyPr>
          <a:lstStyle/>
          <a:p>
            <a:pPr algn="l">
              <a:spcAft>
                <a:spcPts val="400"/>
              </a:spcAft>
            </a:pPr>
            <a:r>
              <a:rPr sz="1500" b="1">
                <a:solidFill>
                  <a:srgbClr val="1F6FEB"/>
                </a:solidFill>
                <a:latin typeface="Arial"/>
              </a:rPr>
              <a:t>COURSE SLIDES  ·  WSQ</a:t>
            </a:r>
          </a:p>
        </p:txBody>
      </p:sp>
      <p:sp>
        <p:nvSpPr>
          <p:cNvPr id="10" name="TextBox 9"/>
          <p:cNvSpPr txBox="1"/>
          <p:nvPr/>
        </p:nvSpPr>
        <p:spPr>
          <a:xfrm>
            <a:off x="804672" y="2487168"/>
            <a:ext cx="10607040" cy="1737360"/>
          </a:xfrm>
          <a:prstGeom prst="rect">
            <a:avLst/>
          </a:prstGeom>
          <a:noFill/>
        </p:spPr>
        <p:txBody>
          <a:bodyPr wrap="square" anchor="t" lIns="0" rIns="0">
            <a:spAutoFit/>
          </a:bodyPr>
          <a:lstStyle/>
          <a:p>
            <a:pPr algn="l">
              <a:spcAft>
                <a:spcPts val="400"/>
              </a:spcAft>
            </a:pPr>
            <a:r>
              <a:rPr sz="4000" b="1">
                <a:solidFill>
                  <a:srgbClr val="161B26"/>
                </a:solidFill>
                <a:latin typeface="Arial"/>
              </a:rPr>
              <a:t>ISO 14001:2015 Internal Auditor Training</a:t>
            </a:r>
          </a:p>
        </p:txBody>
      </p:sp>
      <p:sp>
        <p:nvSpPr>
          <p:cNvPr id="11" name="Rectangle 10"/>
          <p:cNvSpPr/>
          <p:nvPr/>
        </p:nvSpPr>
        <p:spPr>
          <a:xfrm>
            <a:off x="822960" y="4041648"/>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352544"/>
            <a:ext cx="10972800" cy="1371600"/>
          </a:xfrm>
          <a:prstGeom prst="rect">
            <a:avLst/>
          </a:prstGeom>
          <a:noFill/>
        </p:spPr>
        <p:txBody>
          <a:bodyPr wrap="square" anchor="t" lIns="0" rIns="0">
            <a:spAutoFit/>
          </a:bodyPr>
          <a:lstStyle/>
          <a:p>
            <a:pPr algn="l">
              <a:spcAft>
                <a:spcPts val="600"/>
              </a:spcAft>
            </a:pPr>
            <a:r>
              <a:rPr sz="1500" b="0">
                <a:solidFill>
                  <a:srgbClr val="5B6372"/>
                </a:solidFill>
                <a:latin typeface="Arial"/>
              </a:rPr>
              <a:t>WSQ Course Code: TGS-2025054479  ·  2-Day Instructor-Led Training</a:t>
            </a:r>
          </a:p>
          <a:p>
            <a:pPr algn="l">
              <a:spcAft>
                <a:spcPts val="600"/>
              </a:spcAft>
            </a:pPr>
            <a:r>
              <a:rPr sz="1300" b="0">
                <a:solidFill>
                  <a:srgbClr val="5B6372"/>
                </a:solidFill>
                <a:latin typeface="Arial"/>
              </a:rPr>
              <a:t>Skills Framework TSC: Internal Audit Engagement Planning (ACC-IAD-3005-1.1)</a:t>
            </a:r>
          </a:p>
          <a:p>
            <a:pPr algn="l">
              <a:spcAft>
                <a:spcPts val="600"/>
              </a:spcAft>
            </a:pPr>
            <a:r>
              <a:rPr sz="1300" b="0">
                <a:solidFill>
                  <a:srgbClr val="5B6372"/>
                </a:solidFill>
                <a:latin typeface="Arial"/>
              </a:rPr>
              <a:t>Conducted by Tertiary Infotech Academy Pte Ltd  ·  UEN: 201200696W</a:t>
            </a:r>
          </a:p>
        </p:txBody>
      </p:sp>
      <p:sp>
        <p:nvSpPr>
          <p:cNvPr id="13" name="TextBox 12"/>
          <p:cNvSpPr txBox="1"/>
          <p:nvPr/>
        </p:nvSpPr>
        <p:spPr>
          <a:xfrm>
            <a:off x="804672" y="5870448"/>
            <a:ext cx="10972800" cy="329184"/>
          </a:xfrm>
          <a:prstGeom prst="rect">
            <a:avLst/>
          </a:prstGeom>
          <a:noFill/>
        </p:spPr>
        <p:txBody>
          <a:bodyPr wrap="square" anchor="t" lIns="0" rIns="0">
            <a:spAutoFit/>
          </a:bodyPr>
          <a:lstStyle/>
          <a:p>
            <a:pPr algn="l">
              <a:spcAft>
                <a:spcPts val="400"/>
              </a:spcAft>
            </a:pPr>
            <a:r>
              <a:rPr sz="1200" b="0">
                <a:solidFill>
                  <a:srgbClr val="5B6372"/>
                </a:solidFill>
                <a:latin typeface="Arial"/>
              </a:rPr>
              <a:t>Version v6  ·  17 August 2026</a:t>
            </a:r>
          </a:p>
        </p:txBody>
      </p:sp>
      <p:sp>
        <p:nvSpPr>
          <p:cNvPr id="14" name="TextBox 13"/>
          <p:cNvSpPr txBox="1"/>
          <p:nvPr/>
        </p:nvSpPr>
        <p:spPr>
          <a:xfrm>
            <a:off x="804672" y="6217920"/>
            <a:ext cx="10972800" cy="292608"/>
          </a:xfrm>
          <a:prstGeom prst="rect">
            <a:avLst/>
          </a:prstGeom>
          <a:noFill/>
        </p:spPr>
        <p:txBody>
          <a:bodyPr wrap="square" anchor="t" lIns="0" rIns="0">
            <a:spAutoFit/>
          </a:bodyPr>
          <a:lstStyle/>
          <a:p>
            <a:pPr algn="l">
              <a:spcAft>
                <a:spcPts val="400"/>
              </a:spcAft>
            </a:pPr>
            <a:r>
              <a:rPr sz="95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COURSE ADMINISTRATION</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Welcome &amp; Housekeeping</a:t>
            </a:r>
          </a:p>
        </p:txBody>
      </p:sp>
      <p:sp>
        <p:nvSpPr>
          <p:cNvPr id="8" name="TextBox 7"/>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
            </a:r>
          </a:p>
        </p:txBody>
      </p:sp>
      <p:sp>
        <p:nvSpPr>
          <p:cNvPr id="9" name="TextBox 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0" name="TextBox 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TRAQOM · SSG DIGITAL ATTENDANCE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Trainer displays the SSG digital attendance QR code</a:t>
            </a:r>
          </a:p>
        </p:txBody>
      </p:sp>
      <p:sp>
        <p:nvSpPr>
          <p:cNvPr id="12" name="Chevron 11"/>
          <p:cNvSpPr/>
          <p:nvPr/>
        </p:nvSpPr>
        <p:spPr>
          <a:xfrm>
            <a:off x="2595067"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Scan the QR with your phone camera</a:t>
            </a:r>
          </a:p>
        </p:txBody>
      </p:sp>
      <p:sp>
        <p:nvSpPr>
          <p:cNvPr id="18" name="Chevron 17"/>
          <p:cNvSpPr/>
          <p:nvPr/>
        </p:nvSpPr>
        <p:spPr>
          <a:xfrm>
            <a:off x="4824374"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attendance — AM, PM and Assessment</a:t>
            </a:r>
          </a:p>
        </p:txBody>
      </p:sp>
      <p:sp>
        <p:nvSpPr>
          <p:cNvPr id="24" name="Chevron 23"/>
          <p:cNvSpPr/>
          <p:nvPr/>
        </p:nvSpPr>
        <p:spPr>
          <a:xfrm>
            <a:off x="7053681"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Repeat on BOTH days of the course</a:t>
            </a:r>
          </a:p>
        </p:txBody>
      </p:sp>
      <p:sp>
        <p:nvSpPr>
          <p:cNvPr id="30" name="Chevron 29"/>
          <p:cNvSpPr/>
          <p:nvPr/>
        </p:nvSpPr>
        <p:spPr>
          <a:xfrm>
            <a:off x="9282988"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75% minimum attendance for assessment and funding</a:t>
            </a:r>
          </a:p>
        </p:txBody>
      </p:sp>
      <p:sp>
        <p:nvSpPr>
          <p:cNvPr id="36" name="TextBox 35"/>
          <p:cNvSpPr txBox="1"/>
          <p:nvPr/>
        </p:nvSpPr>
        <p:spPr>
          <a:xfrm>
            <a:off x="658368" y="5440680"/>
            <a:ext cx="10835640" cy="640080"/>
          </a:xfrm>
          <a:prstGeom prst="rect">
            <a:avLst/>
          </a:prstGeom>
          <a:noFill/>
        </p:spPr>
        <p:txBody>
          <a:bodyPr wrap="square" anchor="t" lIns="0" rIns="0">
            <a:spAutoFit/>
          </a:bodyPr>
          <a:lstStyle/>
          <a:p>
            <a:pPr algn="ctr">
              <a:spcAft>
                <a:spcPts val="400"/>
              </a:spcAft>
            </a:pPr>
            <a:r>
              <a:rPr sz="1250" b="0">
                <a:solidFill>
                  <a:srgbClr val="5B6372"/>
                </a:solidFill>
                <a:latin typeface="Arial"/>
              </a:rPr>
              <a:t>Digital attendance is mandatory for WSQ-funded courses and is the record SSG uses to determine your funding eligibility.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5B6372"/>
                </a:solidFill>
                <a:latin typeface="Arial"/>
              </a:rPr>
              <a:t>YOUR TRAINER · GENERAL</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291840"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329184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2240280"/>
            <a:ext cx="1508760" cy="150876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9908" y="2240280"/>
            <a:ext cx="1508760" cy="1508760"/>
          </a:xfrm>
          <a:prstGeom prst="rect">
            <a:avLst/>
          </a:prstGeom>
          <a:noFill/>
        </p:spPr>
        <p:txBody>
          <a:bodyPr wrap="square" anchor="ctr" lIns="0" rIns="0">
            <a:spAutoFit/>
          </a:bodyPr>
          <a:lstStyle/>
          <a:p>
            <a:pPr algn="ctr">
              <a:spcAft>
                <a:spcPts val="400"/>
              </a:spcAft>
            </a:pPr>
            <a:r>
              <a:rPr sz="4200" b="1">
                <a:solidFill>
                  <a:srgbClr val="FFFFFF"/>
                </a:solidFill>
                <a:latin typeface="Arial"/>
              </a:rPr>
              <a:t>?</a:t>
            </a:r>
          </a:p>
        </p:txBody>
      </p:sp>
      <p:sp>
        <p:nvSpPr>
          <p:cNvPr id="11" name="TextBox 10"/>
          <p:cNvSpPr txBox="1"/>
          <p:nvPr/>
        </p:nvSpPr>
        <p:spPr>
          <a:xfrm>
            <a:off x="795528" y="4069080"/>
            <a:ext cx="3017520" cy="548640"/>
          </a:xfrm>
          <a:prstGeom prst="rect">
            <a:avLst/>
          </a:prstGeom>
          <a:noFill/>
        </p:spPr>
        <p:txBody>
          <a:bodyPr wrap="square" anchor="t" lIns="0" rIns="0">
            <a:spAutoFit/>
          </a:bodyPr>
          <a:lstStyle/>
          <a:p>
            <a:pPr algn="ctr">
              <a:spcAft>
                <a:spcPts val="400"/>
              </a:spcAft>
            </a:pPr>
            <a:r>
              <a:rPr sz="1900" b="1">
                <a:solidFill>
                  <a:srgbClr val="161B26"/>
                </a:solidFill>
                <a:latin typeface="Arial"/>
              </a:rPr>
              <a:t>Your Trainer</a:t>
            </a:r>
          </a:p>
        </p:txBody>
      </p:sp>
      <p:sp>
        <p:nvSpPr>
          <p:cNvPr id="12" name="TextBox 11"/>
          <p:cNvSpPr txBox="1"/>
          <p:nvPr/>
        </p:nvSpPr>
        <p:spPr>
          <a:xfrm>
            <a:off x="795528" y="4663440"/>
            <a:ext cx="3017520" cy="1280160"/>
          </a:xfrm>
          <a:prstGeom prst="rect">
            <a:avLst/>
          </a:prstGeom>
          <a:noFill/>
        </p:spPr>
        <p:txBody>
          <a:bodyPr wrap="square" anchor="t" lIns="0" rIns="0">
            <a:spAutoFit/>
          </a:bodyPr>
          <a:lstStyle/>
          <a:p>
            <a:pPr algn="ctr">
              <a:spcAft>
                <a:spcPts val="200"/>
              </a:spcAft>
            </a:pPr>
            <a:r>
              <a:rPr sz="1200" b="0">
                <a:solidFill>
                  <a:srgbClr val="5B6372"/>
                </a:solidFill>
                <a:latin typeface="Arial"/>
              </a:rPr>
              <a:t>General Trainer template —</a:t>
            </a:r>
          </a:p>
          <a:p>
            <a:pPr algn="ctr">
              <a:spcAft>
                <a:spcPts val="200"/>
              </a:spcAft>
            </a:pPr>
            <a:r>
              <a:rPr sz="1200" b="0">
                <a:solidFill>
                  <a:srgbClr val="5B6372"/>
                </a:solidFill>
                <a:latin typeface="Arial"/>
              </a:rPr>
              <a:t>to be completed by the trainer</a:t>
            </a:r>
          </a:p>
        </p:txBody>
      </p:sp>
      <p:sp>
        <p:nvSpPr>
          <p:cNvPr id="13" name="Rectangle 12"/>
          <p:cNvSpPr/>
          <p:nvPr/>
        </p:nvSpPr>
        <p:spPr>
          <a:xfrm>
            <a:off x="4224528" y="1737360"/>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737360"/>
            <a:ext cx="82296" cy="6172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737360"/>
            <a:ext cx="6757416" cy="617220"/>
          </a:xfrm>
          <a:prstGeom prst="rect">
            <a:avLst/>
          </a:prstGeom>
          <a:noFill/>
        </p:spPr>
        <p:txBody>
          <a:bodyPr wrap="square" anchor="ctr" lIns="0" rIns="0">
            <a:spAutoFit/>
          </a:bodyPr>
          <a:lstStyle/>
          <a:p>
            <a:pPr algn="l">
              <a:spcAft>
                <a:spcPts val="300"/>
              </a:spcAft>
            </a:pPr>
            <a:r>
              <a:rPr sz="1000" b="1">
                <a:solidFill>
                  <a:srgbClr val="1F6FEB"/>
                </a:solidFill>
                <a:latin typeface="Arial"/>
              </a:rPr>
              <a:t>NAME</a:t>
            </a:r>
          </a:p>
          <a:p>
            <a:pPr algn="l">
              <a:spcAft>
                <a:spcPts val="300"/>
              </a:spcAft>
            </a:pPr>
            <a:r>
              <a:rPr sz="1200" b="0">
                <a:solidFill>
                  <a:srgbClr val="D7E0EA"/>
                </a:solidFill>
                <a:latin typeface="Arial"/>
              </a:rPr>
              <a:t>________________________________________________</a:t>
            </a:r>
          </a:p>
        </p:txBody>
      </p:sp>
      <p:sp>
        <p:nvSpPr>
          <p:cNvPr id="16" name="Rectangle 15"/>
          <p:cNvSpPr/>
          <p:nvPr/>
        </p:nvSpPr>
        <p:spPr>
          <a:xfrm>
            <a:off x="4224528" y="2500884"/>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2500884"/>
            <a:ext cx="82296" cy="6172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2500884"/>
            <a:ext cx="6757416" cy="617220"/>
          </a:xfrm>
          <a:prstGeom prst="rect">
            <a:avLst/>
          </a:prstGeom>
          <a:noFill/>
        </p:spPr>
        <p:txBody>
          <a:bodyPr wrap="square" anchor="ctr" lIns="0" rIns="0">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D7E0EA"/>
                </a:solidFill>
                <a:latin typeface="Arial"/>
              </a:rPr>
              <a:t>________________________________________________</a:t>
            </a:r>
          </a:p>
        </p:txBody>
      </p:sp>
      <p:sp>
        <p:nvSpPr>
          <p:cNvPr id="19" name="Rectangle 18"/>
          <p:cNvSpPr/>
          <p:nvPr/>
        </p:nvSpPr>
        <p:spPr>
          <a:xfrm>
            <a:off x="4224528" y="3264408"/>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24528" y="3264408"/>
            <a:ext cx="82296" cy="6172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3264408"/>
            <a:ext cx="6757416" cy="617220"/>
          </a:xfrm>
          <a:prstGeom prst="rect">
            <a:avLst/>
          </a:prstGeom>
          <a:noFill/>
        </p:spPr>
        <p:txBody>
          <a:bodyPr wrap="square" anchor="ctr" lIns="0" rIns="0">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D7E0EA"/>
                </a:solidFill>
                <a:latin typeface="Arial"/>
              </a:rPr>
              <a:t>________________________________________________</a:t>
            </a:r>
          </a:p>
        </p:txBody>
      </p:sp>
      <p:sp>
        <p:nvSpPr>
          <p:cNvPr id="22" name="Rectangle 21"/>
          <p:cNvSpPr/>
          <p:nvPr/>
        </p:nvSpPr>
        <p:spPr>
          <a:xfrm>
            <a:off x="4224528" y="4027932"/>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24528" y="4027932"/>
            <a:ext cx="82296" cy="6172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4027932"/>
            <a:ext cx="6757416" cy="617220"/>
          </a:xfrm>
          <a:prstGeom prst="rect">
            <a:avLst/>
          </a:prstGeom>
          <a:noFill/>
        </p:spPr>
        <p:txBody>
          <a:bodyPr wrap="square" anchor="ctr" lIns="0" rIns="0">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D7E0EA"/>
                </a:solidFill>
                <a:latin typeface="Arial"/>
              </a:rPr>
              <a:t>________________________________________________</a:t>
            </a:r>
          </a:p>
        </p:txBody>
      </p:sp>
      <p:sp>
        <p:nvSpPr>
          <p:cNvPr id="25" name="Rectangle 24"/>
          <p:cNvSpPr/>
          <p:nvPr/>
        </p:nvSpPr>
        <p:spPr>
          <a:xfrm>
            <a:off x="4224528" y="4791456"/>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24528" y="4791456"/>
            <a:ext cx="82296" cy="6172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98848" y="4791456"/>
            <a:ext cx="6757416" cy="617220"/>
          </a:xfrm>
          <a:prstGeom prst="rect">
            <a:avLst/>
          </a:prstGeom>
          <a:noFill/>
        </p:spPr>
        <p:txBody>
          <a:bodyPr wrap="square" anchor="ctr" lIns="0" rIns="0">
            <a:spAutoFit/>
          </a:bodyPr>
          <a:lstStyle/>
          <a:p>
            <a:pPr algn="l">
              <a:spcAft>
                <a:spcPts val="300"/>
              </a:spcAft>
            </a:pPr>
            <a:r>
              <a:rPr sz="1000" b="1">
                <a:solidFill>
                  <a:srgbClr val="16845B"/>
                </a:solidFill>
                <a:latin typeface="Arial"/>
              </a:rPr>
              <a:t>TRAINING &amp; INDUSTRY EXPERIENCE</a:t>
            </a:r>
          </a:p>
          <a:p>
            <a:pPr algn="l">
              <a:spcAft>
                <a:spcPts val="300"/>
              </a:spcAft>
            </a:pPr>
            <a:r>
              <a:rPr sz="1200" b="0">
                <a:solidFill>
                  <a:srgbClr val="D7E0EA"/>
                </a:solidFill>
                <a:latin typeface="Arial"/>
              </a:rPr>
              <a:t>________________________________________________</a:t>
            </a:r>
          </a:p>
        </p:txBody>
      </p:sp>
      <p:sp>
        <p:nvSpPr>
          <p:cNvPr id="28" name="Rectangle 27"/>
          <p:cNvSpPr/>
          <p:nvPr/>
        </p:nvSpPr>
        <p:spPr>
          <a:xfrm>
            <a:off x="4224528" y="5554980"/>
            <a:ext cx="7269480" cy="6172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24528" y="5554980"/>
            <a:ext cx="82296" cy="6172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8" y="5554980"/>
            <a:ext cx="6757416" cy="617220"/>
          </a:xfrm>
          <a:prstGeom prst="rect">
            <a:avLst/>
          </a:prstGeom>
          <a:noFill/>
        </p:spPr>
        <p:txBody>
          <a:bodyPr wrap="square" anchor="ctr" lIns="0" rIns="0">
            <a:spAutoFit/>
          </a:bodyPr>
          <a:lstStyle/>
          <a:p>
            <a:pPr algn="l">
              <a:spcAft>
                <a:spcPts val="300"/>
              </a:spcAft>
            </a:pPr>
            <a:r>
              <a:rPr sz="1000" b="1">
                <a:solidFill>
                  <a:srgbClr val="DC2626"/>
                </a:solidFill>
                <a:latin typeface="Arial"/>
              </a:rPr>
              <a:t>CONTACT</a:t>
            </a:r>
          </a:p>
          <a:p>
            <a:pPr algn="l">
              <a:spcAft>
                <a:spcPts val="300"/>
              </a:spcAft>
            </a:pPr>
            <a:r>
              <a:rPr sz="1200" b="0">
                <a:solidFill>
                  <a:srgbClr val="D7E0EA"/>
                </a:solidFill>
                <a:latin typeface="Arial"/>
              </a:rPr>
              <a:t>________________________________________________</a:t>
            </a:r>
          </a:p>
        </p:txBody>
      </p:sp>
      <p:sp>
        <p:nvSpPr>
          <p:cNvPr id="31" name="TextBox 3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2" name="TextBox 3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3" name="TextBox 3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YOUR TRAINER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291840"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329184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2240280"/>
            <a:ext cx="1508760" cy="1508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9908" y="2240280"/>
            <a:ext cx="1508760" cy="1508760"/>
          </a:xfrm>
          <a:prstGeom prst="rect">
            <a:avLst/>
          </a:prstGeom>
          <a:noFill/>
        </p:spPr>
        <p:txBody>
          <a:bodyPr wrap="square" anchor="ctr" lIns="0" rIns="0">
            <a:spAutoFit/>
          </a:bodyPr>
          <a:lstStyle/>
          <a:p>
            <a:pPr algn="ctr">
              <a:spcAft>
                <a:spcPts val="400"/>
              </a:spcAft>
            </a:pPr>
            <a:r>
              <a:rPr sz="4200" b="1">
                <a:solidFill>
                  <a:srgbClr val="FFFFFF"/>
                </a:solidFill>
                <a:latin typeface="Arial"/>
              </a:rPr>
              <a:t>AA</a:t>
            </a:r>
          </a:p>
        </p:txBody>
      </p:sp>
      <p:sp>
        <p:nvSpPr>
          <p:cNvPr id="11" name="TextBox 10"/>
          <p:cNvSpPr txBox="1"/>
          <p:nvPr/>
        </p:nvSpPr>
        <p:spPr>
          <a:xfrm>
            <a:off x="795528" y="4069080"/>
            <a:ext cx="3017520" cy="548640"/>
          </a:xfrm>
          <a:prstGeom prst="rect">
            <a:avLst/>
          </a:prstGeom>
          <a:noFill/>
        </p:spPr>
        <p:txBody>
          <a:bodyPr wrap="square" anchor="t" lIns="0" rIns="0">
            <a:spAutoFit/>
          </a:bodyPr>
          <a:lstStyle/>
          <a:p>
            <a:pPr algn="ctr">
              <a:spcAft>
                <a:spcPts val="400"/>
              </a:spcAft>
            </a:pPr>
            <a:r>
              <a:rPr sz="1900" b="1">
                <a:solidFill>
                  <a:srgbClr val="161B26"/>
                </a:solidFill>
                <a:latin typeface="Arial"/>
              </a:rPr>
              <a:t>Dr. Alfred Ang</a:t>
            </a:r>
          </a:p>
        </p:txBody>
      </p:sp>
      <p:sp>
        <p:nvSpPr>
          <p:cNvPr id="12" name="TextBox 11"/>
          <p:cNvSpPr txBox="1"/>
          <p:nvPr/>
        </p:nvSpPr>
        <p:spPr>
          <a:xfrm>
            <a:off x="795528" y="4663440"/>
            <a:ext cx="3017520" cy="1280160"/>
          </a:xfrm>
          <a:prstGeom prst="rect">
            <a:avLst/>
          </a:prstGeom>
          <a:noFill/>
        </p:spPr>
        <p:txBody>
          <a:bodyPr wrap="square" anchor="t" lIns="0" rIns="0">
            <a:spAutoFit/>
          </a:bodyPr>
          <a:lstStyle/>
          <a:p>
            <a:pPr algn="ctr">
              <a:spcAft>
                <a:spcPts val="200"/>
              </a:spcAft>
            </a:pPr>
            <a:r>
              <a:rPr sz="1200" b="0">
                <a:solidFill>
                  <a:srgbClr val="5B6372"/>
                </a:solidFill>
                <a:latin typeface="Arial"/>
              </a:rPr>
              <a:t>Principal Trainer</a:t>
            </a:r>
          </a:p>
          <a:p>
            <a:pPr algn="ctr">
              <a:spcAft>
                <a:spcPts val="200"/>
              </a:spcAft>
            </a:pPr>
            <a:r>
              <a:rPr sz="1200" b="0">
                <a:solidFill>
                  <a:srgbClr val="5B6372"/>
                </a:solidFill>
                <a:latin typeface="Arial"/>
              </a:rPr>
              <a:t>Tertiary Infotech Academy Pte Ltd</a:t>
            </a:r>
          </a:p>
        </p:txBody>
      </p:sp>
      <p:sp>
        <p:nvSpPr>
          <p:cNvPr id="13" name="Rectangle 12"/>
          <p:cNvSpPr/>
          <p:nvPr/>
        </p:nvSpPr>
        <p:spPr>
          <a:xfrm>
            <a:off x="4224528" y="1737360"/>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737360"/>
            <a:ext cx="82296" cy="99898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737360"/>
            <a:ext cx="6757416" cy="998982"/>
          </a:xfrm>
          <a:prstGeom prst="rect">
            <a:avLst/>
          </a:prstGeom>
          <a:noFill/>
        </p:spPr>
        <p:txBody>
          <a:bodyPr wrap="square" anchor="ctr" lIns="0" rIns="0">
            <a:spAutoFit/>
          </a:bodyPr>
          <a:lstStyle/>
          <a:p>
            <a:pPr algn="l">
              <a:spcAft>
                <a:spcPts val="300"/>
              </a:spcAft>
            </a:pPr>
            <a:r>
              <a:rPr sz="1000" b="1">
                <a:solidFill>
                  <a:srgbClr val="1F6FEB"/>
                </a:solidFill>
                <a:latin typeface="Arial"/>
              </a:rPr>
              <a:t>ROLE</a:t>
            </a:r>
          </a:p>
          <a:p>
            <a:pPr algn="l">
              <a:spcAft>
                <a:spcPts val="300"/>
              </a:spcAft>
            </a:pPr>
            <a:r>
              <a:rPr sz="1250" b="0">
                <a:solidFill>
                  <a:srgbClr val="161B26"/>
                </a:solidFill>
                <a:latin typeface="Arial"/>
              </a:rPr>
              <a:t>Principal Trainer, Tertiary Infotech Academy Pte Ltd</a:t>
            </a:r>
          </a:p>
        </p:txBody>
      </p:sp>
      <p:sp>
        <p:nvSpPr>
          <p:cNvPr id="16" name="Rectangle 15"/>
          <p:cNvSpPr/>
          <p:nvPr/>
        </p:nvSpPr>
        <p:spPr>
          <a:xfrm>
            <a:off x="4224528" y="2882646"/>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2882646"/>
            <a:ext cx="82296" cy="99898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2882646"/>
            <a:ext cx="6757416" cy="998982"/>
          </a:xfrm>
          <a:prstGeom prst="rect">
            <a:avLst/>
          </a:prstGeom>
          <a:noFill/>
        </p:spPr>
        <p:txBody>
          <a:bodyPr wrap="square" anchor="ctr" lIns="0" rIns="0">
            <a:spAutoFit/>
          </a:bodyPr>
          <a:lstStyle/>
          <a:p>
            <a:pPr algn="l">
              <a:spcAft>
                <a:spcPts val="300"/>
              </a:spcAft>
            </a:pPr>
            <a:r>
              <a:rPr sz="1000" b="1">
                <a:solidFill>
                  <a:srgbClr val="10B981"/>
                </a:solidFill>
                <a:latin typeface="Arial"/>
              </a:rPr>
              <a:t>BACKGROUND</a:t>
            </a:r>
          </a:p>
          <a:p>
            <a:pPr algn="l">
              <a:spcAft>
                <a:spcPts val="300"/>
              </a:spcAft>
            </a:pPr>
            <a:r>
              <a:rPr sz="1250" b="0">
                <a:solidFill>
                  <a:srgbClr val="161B26"/>
                </a:solidFill>
                <a:latin typeface="Arial"/>
              </a:rPr>
              <a:t>PhD — 20+ years of industry and training experience in management systems, quality and data analytics.</a:t>
            </a:r>
          </a:p>
        </p:txBody>
      </p:sp>
      <p:sp>
        <p:nvSpPr>
          <p:cNvPr id="19" name="Rectangle 18"/>
          <p:cNvSpPr/>
          <p:nvPr/>
        </p:nvSpPr>
        <p:spPr>
          <a:xfrm>
            <a:off x="4224528" y="4027932"/>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24528" y="4027932"/>
            <a:ext cx="82296" cy="99898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4027932"/>
            <a:ext cx="6757416" cy="998982"/>
          </a:xfrm>
          <a:prstGeom prst="rect">
            <a:avLst/>
          </a:prstGeom>
          <a:noFill/>
        </p:spPr>
        <p:txBody>
          <a:bodyPr wrap="square" anchor="ctr" lIns="0" rIns="0">
            <a:spAutoFit/>
          </a:bodyPr>
          <a:lstStyle/>
          <a:p>
            <a:pPr algn="l">
              <a:spcAft>
                <a:spcPts val="300"/>
              </a:spcAft>
            </a:pPr>
            <a:r>
              <a:rPr sz="1000" b="1">
                <a:solidFill>
                  <a:srgbClr val="7C3AED"/>
                </a:solidFill>
                <a:latin typeface="Arial"/>
              </a:rPr>
              <a:t>DELIVERS</a:t>
            </a:r>
          </a:p>
          <a:p>
            <a:pPr algn="l">
              <a:spcAft>
                <a:spcPts val="300"/>
              </a:spcAft>
            </a:pPr>
            <a:r>
              <a:rPr sz="1250" b="0">
                <a:solidFill>
                  <a:srgbClr val="161B26"/>
                </a:solidFill>
                <a:latin typeface="Arial"/>
              </a:rPr>
              <a:t>WSQ courses on ISO management system auditing, quality, sustainability and data science.</a:t>
            </a:r>
          </a:p>
        </p:txBody>
      </p:sp>
      <p:sp>
        <p:nvSpPr>
          <p:cNvPr id="22" name="Rectangle 21"/>
          <p:cNvSpPr/>
          <p:nvPr/>
        </p:nvSpPr>
        <p:spPr>
          <a:xfrm>
            <a:off x="4224528" y="5173218"/>
            <a:ext cx="7269480" cy="99898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24528" y="5173218"/>
            <a:ext cx="82296" cy="99898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5173218"/>
            <a:ext cx="6757416" cy="998982"/>
          </a:xfrm>
          <a:prstGeom prst="rect">
            <a:avLst/>
          </a:prstGeom>
          <a:noFill/>
        </p:spPr>
        <p:txBody>
          <a:bodyPr wrap="square" anchor="ctr" lIns="0" rIns="0">
            <a:spAutoFit/>
          </a:bodyPr>
          <a:lstStyle/>
          <a:p>
            <a:pPr algn="l">
              <a:spcAft>
                <a:spcPts val="300"/>
              </a:spcAft>
            </a:pPr>
            <a:r>
              <a:rPr sz="1000" b="1">
                <a:solidFill>
                  <a:srgbClr val="F59E0B"/>
                </a:solidFill>
                <a:latin typeface="Arial"/>
              </a:rPr>
              <a:t>FOUNDER</a:t>
            </a:r>
          </a:p>
          <a:p>
            <a:pPr algn="l">
              <a:spcAft>
                <a:spcPts val="300"/>
              </a:spcAft>
            </a:pPr>
            <a:r>
              <a:rPr sz="1250" b="0">
                <a:solidFill>
                  <a:srgbClr val="161B26"/>
                </a:solidFill>
                <a:latin typeface="Arial"/>
              </a:rPr>
              <a:t>Founder and lead instructor at Tertiary Infotech / Tertiary Courses.</a:t>
            </a:r>
          </a:p>
        </p:txBody>
      </p:sp>
      <p:sp>
        <p:nvSpPr>
          <p:cNvPr id="25" name="TextBox 2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6" name="TextBox 2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7" name="TextBox 2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ICE-BREAKER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0835640" cy="4480560"/>
          </a:xfrm>
          <a:prstGeom prst="rect">
            <a:avLst/>
          </a:prstGeom>
          <a:noFill/>
        </p:spPr>
        <p:txBody>
          <a:bodyPr wrap="square" lIns="0" rIns="0">
            <a:spAutoFit/>
          </a:bodyPr>
          <a:lstStyle/>
          <a:p>
            <a:pPr>
              <a:spcAft>
                <a:spcPts val="1000"/>
              </a:spcAft>
            </a:pPr>
            <a:r>
              <a:rPr sz="1800" b="0">
                <a:solidFill>
                  <a:srgbClr val="161B26"/>
                </a:solidFill>
                <a:latin typeface="Arial"/>
              </a:rPr>
              <a:t>•  Your name, organisation and role.</a:t>
            </a:r>
          </a:p>
          <a:p>
            <a:pPr>
              <a:spcAft>
                <a:spcPts val="1000"/>
              </a:spcAft>
            </a:pPr>
            <a:r>
              <a:rPr sz="1800" b="0">
                <a:solidFill>
                  <a:srgbClr val="161B26"/>
                </a:solidFill>
                <a:latin typeface="Arial"/>
              </a:rPr>
              <a:t>•  Your experience with ISO 14001, EMS or internal auditing (if any) — and whether your organisation is certified.</a:t>
            </a:r>
          </a:p>
          <a:p>
            <a:pPr>
              <a:spcAft>
                <a:spcPts val="1000"/>
              </a:spcAft>
            </a:pPr>
            <a:r>
              <a:rPr sz="1800" b="0">
                <a:solidFill>
                  <a:srgbClr val="161B26"/>
                </a:solidFill>
                <a:latin typeface="Arial"/>
              </a:rPr>
              <a:t>•  One environmental issue at your workplace you would like to be able to audit confidently by the end of Day 2.</a:t>
            </a:r>
          </a:p>
        </p:txBody>
      </p:sp>
      <p:sp>
        <p:nvSpPr>
          <p:cNvPr id="8" name="TextBox 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9" name="TextBox 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0" name="TextBox 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HOUSEKEEPING</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10512"/>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Set your mobile phone to silent mode.</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10512"/>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Participate actively — no question is too small.</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55848"/>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Mutual respect: agree to disagree.</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55848"/>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01184"/>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Be punctual; return from breaks on time.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01184"/>
            <a:ext cx="4192524" cy="1197864"/>
          </a:xfrm>
          <a:prstGeom prst="rect">
            <a:avLst/>
          </a:prstGeom>
          <a:noFill/>
        </p:spPr>
        <p:txBody>
          <a:bodyPr wrap="square" anchor="ctr" lIns="0" rIns="0">
            <a:spAutoFit/>
          </a:bodyPr>
          <a:lstStyle/>
          <a:p>
            <a:pPr algn="l">
              <a:spcAft>
                <a:spcPts val="400"/>
              </a:spcAft>
            </a:pPr>
            <a:r>
              <a:rPr sz="1400" b="0">
                <a:solidFill>
                  <a:srgbClr val="161B26"/>
                </a:solidFill>
                <a:latin typeface="Arial"/>
              </a:rPr>
              <a:t>75% attendance is required for funding.</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COURSE PORTAL · LMS/TMS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5532120" cy="41605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553212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1929384"/>
            <a:ext cx="155448" cy="1554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78992" y="1929384"/>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192938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09928" y="1865376"/>
            <a:ext cx="4206240" cy="3017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47088" y="1865376"/>
            <a:ext cx="3931920" cy="301752"/>
          </a:xfrm>
          <a:prstGeom prst="rect">
            <a:avLst/>
          </a:prstGeom>
          <a:noFill/>
        </p:spPr>
        <p:txBody>
          <a:bodyPr wrap="square" anchor="ctr" lIns="0" rIns="0">
            <a:spAutoFit/>
          </a:bodyPr>
          <a:lstStyle/>
          <a:p>
            <a:pPr algn="l">
              <a:spcAft>
                <a:spcPts val="400"/>
              </a:spcAft>
            </a:pPr>
            <a:r>
              <a:rPr sz="1200" b="1">
                <a:solidFill>
                  <a:srgbClr val="1F6FEB"/>
                </a:solidFill>
                <a:latin typeface="Arial"/>
              </a:rPr>
              <a:t>https://lms-tms.tertiaryinfotech.com</a:t>
            </a:r>
          </a:p>
        </p:txBody>
      </p:sp>
      <p:sp>
        <p:nvSpPr>
          <p:cNvPr id="14" name="Rectangle 13"/>
          <p:cNvSpPr/>
          <p:nvPr/>
        </p:nvSpPr>
        <p:spPr>
          <a:xfrm>
            <a:off x="877824" y="2441448"/>
            <a:ext cx="5093208"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2441448"/>
            <a:ext cx="4727448" cy="658368"/>
          </a:xfrm>
          <a:prstGeom prst="rect">
            <a:avLst/>
          </a:prstGeom>
          <a:noFill/>
        </p:spPr>
        <p:txBody>
          <a:bodyPr wrap="square" anchor="ctr" lIns="0" rIns="0">
            <a:spAutoFit/>
          </a:bodyPr>
          <a:lstStyle/>
          <a:p>
            <a:pPr algn="l">
              <a:spcAft>
                <a:spcPts val="200"/>
              </a:spcAft>
            </a:pPr>
            <a:r>
              <a:rPr sz="1400" b="1">
                <a:solidFill>
                  <a:srgbClr val="FFFFFF"/>
                </a:solidFill>
                <a:latin typeface="Arial"/>
              </a:rPr>
              <a:t>Tertiary Infotech LMS/TMS</a:t>
            </a:r>
          </a:p>
          <a:p>
            <a:pPr algn="l">
              <a:spcAft>
                <a:spcPts val="200"/>
              </a:spcAft>
            </a:pPr>
            <a:r>
              <a:rPr sz="1000" b="0">
                <a:solidFill>
                  <a:srgbClr val="B3D4FF"/>
                </a:solidFill>
                <a:latin typeface="Arial"/>
              </a:rPr>
              <a:t>My Courses  ·  Attendance  ·  Assessment</a:t>
            </a:r>
          </a:p>
        </p:txBody>
      </p:sp>
      <p:sp>
        <p:nvSpPr>
          <p:cNvPr id="16" name="Rectangle 15"/>
          <p:cNvSpPr/>
          <p:nvPr/>
        </p:nvSpPr>
        <p:spPr>
          <a:xfrm>
            <a:off x="877824" y="3264408"/>
            <a:ext cx="5093208" cy="49377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3264408"/>
            <a:ext cx="4727448" cy="493776"/>
          </a:xfrm>
          <a:prstGeom prst="rect">
            <a:avLst/>
          </a:prstGeom>
          <a:noFill/>
        </p:spPr>
        <p:txBody>
          <a:bodyPr wrap="square" anchor="ctr" lIns="0" rIns="0">
            <a:spAutoFit/>
          </a:bodyPr>
          <a:lstStyle/>
          <a:p>
            <a:pPr algn="l">
              <a:spcAft>
                <a:spcPts val="400"/>
              </a:spcAft>
            </a:pPr>
            <a:r>
              <a:rPr sz="1150" b="1">
                <a:solidFill>
                  <a:srgbClr val="1F6FEB"/>
                </a:solidFill>
                <a:latin typeface="Arial"/>
              </a:rPr>
              <a:t>ISO 14001:2015 Internal Auditor Training</a:t>
            </a:r>
          </a:p>
        </p:txBody>
      </p:sp>
      <p:sp>
        <p:nvSpPr>
          <p:cNvPr id="18" name="Rectangle 17"/>
          <p:cNvSpPr/>
          <p:nvPr/>
        </p:nvSpPr>
        <p:spPr>
          <a:xfrm>
            <a:off x="877824" y="3867912"/>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3867912"/>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Trainer Slides (PDF)   ⬇</a:t>
            </a:r>
          </a:p>
        </p:txBody>
      </p:sp>
      <p:sp>
        <p:nvSpPr>
          <p:cNvPr id="20" name="Rectangle 19"/>
          <p:cNvSpPr/>
          <p:nvPr/>
        </p:nvSpPr>
        <p:spPr>
          <a:xfrm>
            <a:off x="877824" y="4471416"/>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 y="4471416"/>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Learner Guide (PDF)   ⬇</a:t>
            </a:r>
          </a:p>
        </p:txBody>
      </p:sp>
      <p:sp>
        <p:nvSpPr>
          <p:cNvPr id="22" name="Rectangle 21"/>
          <p:cNvSpPr/>
          <p:nvPr/>
        </p:nvSpPr>
        <p:spPr>
          <a:xfrm>
            <a:off x="877824" y="5074920"/>
            <a:ext cx="5093208"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5074920"/>
            <a:ext cx="4727448" cy="493776"/>
          </a:xfrm>
          <a:prstGeom prst="rect">
            <a:avLst/>
          </a:prstGeom>
          <a:noFill/>
        </p:spPr>
        <p:txBody>
          <a:bodyPr wrap="square" anchor="ctr" lIns="0" rIns="0">
            <a:spAutoFit/>
          </a:bodyPr>
          <a:lstStyle/>
          <a:p>
            <a:pPr algn="l">
              <a:spcAft>
                <a:spcPts val="400"/>
              </a:spcAft>
            </a:pPr>
            <a:r>
              <a:rPr sz="1150" b="0">
                <a:solidFill>
                  <a:srgbClr val="161B26"/>
                </a:solidFill>
                <a:latin typeface="Arial"/>
              </a:rPr>
              <a:t>Assessment Submission   ↗</a:t>
            </a:r>
          </a:p>
        </p:txBody>
      </p:sp>
      <p:sp>
        <p:nvSpPr>
          <p:cNvPr id="24" name="Rectangle 23"/>
          <p:cNvSpPr/>
          <p:nvPr/>
        </p:nvSpPr>
        <p:spPr>
          <a:xfrm>
            <a:off x="6537960" y="1783080"/>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7960" y="1783080"/>
            <a:ext cx="82296" cy="9098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20840" y="2018538"/>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018538"/>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28" name="TextBox 27"/>
          <p:cNvSpPr txBox="1"/>
          <p:nvPr/>
        </p:nvSpPr>
        <p:spPr>
          <a:xfrm>
            <a:off x="7324344" y="1783080"/>
            <a:ext cx="3986784" cy="909828"/>
          </a:xfrm>
          <a:prstGeom prst="rect">
            <a:avLst/>
          </a:prstGeom>
          <a:noFill/>
        </p:spPr>
        <p:txBody>
          <a:bodyPr wrap="square" anchor="ctr" lIns="0" rIns="0">
            <a:spAutoFit/>
          </a:bodyPr>
          <a:lstStyle/>
          <a:p>
            <a:pPr algn="l">
              <a:spcAft>
                <a:spcPts val="200"/>
              </a:spcAft>
            </a:pPr>
            <a:r>
              <a:rPr sz="1300" b="1">
                <a:solidFill>
                  <a:srgbClr val="1F6FEB"/>
                </a:solidFill>
                <a:latin typeface="Arial"/>
              </a:rPr>
              <a:t>Sign in</a:t>
            </a:r>
          </a:p>
          <a:p>
            <a:pPr algn="l">
              <a:spcAft>
                <a:spcPts val="200"/>
              </a:spcAft>
            </a:pPr>
            <a:r>
              <a:rPr sz="1050" b="0">
                <a:solidFill>
                  <a:srgbClr val="161B26"/>
                </a:solidFill>
                <a:latin typeface="Arial"/>
              </a:rPr>
              <a:t>lms-tms.tertiaryinfotech.com — log in with your registered email.</a:t>
            </a:r>
          </a:p>
        </p:txBody>
      </p:sp>
      <p:sp>
        <p:nvSpPr>
          <p:cNvPr id="29" name="Rectangle 28"/>
          <p:cNvSpPr/>
          <p:nvPr/>
        </p:nvSpPr>
        <p:spPr>
          <a:xfrm>
            <a:off x="6537960" y="2866644"/>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960" y="2866644"/>
            <a:ext cx="82296" cy="9098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720840" y="3102102"/>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20840" y="3102102"/>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33" name="TextBox 32"/>
          <p:cNvSpPr txBox="1"/>
          <p:nvPr/>
        </p:nvSpPr>
        <p:spPr>
          <a:xfrm>
            <a:off x="7324344" y="2866644"/>
            <a:ext cx="3986784" cy="909828"/>
          </a:xfrm>
          <a:prstGeom prst="rect">
            <a:avLst/>
          </a:prstGeom>
          <a:noFill/>
        </p:spPr>
        <p:txBody>
          <a:bodyPr wrap="square" anchor="ctr" lIns="0" rIns="0">
            <a:spAutoFit/>
          </a:bodyPr>
          <a:lstStyle/>
          <a:p>
            <a:pPr algn="l">
              <a:spcAft>
                <a:spcPts val="200"/>
              </a:spcAft>
            </a:pPr>
            <a:r>
              <a:rPr sz="1300" b="1">
                <a:solidFill>
                  <a:srgbClr val="10B981"/>
                </a:solidFill>
                <a:latin typeface="Arial"/>
              </a:rPr>
              <a:t>Open your course</a:t>
            </a:r>
          </a:p>
          <a:p>
            <a:pPr algn="l">
              <a:spcAft>
                <a:spcPts val="200"/>
              </a:spcAft>
            </a:pPr>
            <a:r>
              <a:rPr sz="1050" b="0">
                <a:solidFill>
                  <a:srgbClr val="161B26"/>
                </a:solidFill>
                <a:latin typeface="Arial"/>
              </a:rPr>
              <a:t>Select this course under My Courses.</a:t>
            </a:r>
          </a:p>
        </p:txBody>
      </p:sp>
      <p:sp>
        <p:nvSpPr>
          <p:cNvPr id="34" name="Rectangle 33"/>
          <p:cNvSpPr/>
          <p:nvPr/>
        </p:nvSpPr>
        <p:spPr>
          <a:xfrm>
            <a:off x="6537960" y="3950208"/>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37960" y="3950208"/>
            <a:ext cx="82296" cy="9098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20840" y="4185666"/>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4185666"/>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38" name="TextBox 37"/>
          <p:cNvSpPr txBox="1"/>
          <p:nvPr/>
        </p:nvSpPr>
        <p:spPr>
          <a:xfrm>
            <a:off x="7324344" y="3950208"/>
            <a:ext cx="3986784" cy="909828"/>
          </a:xfrm>
          <a:prstGeom prst="rect">
            <a:avLst/>
          </a:prstGeom>
          <a:noFill/>
        </p:spPr>
        <p:txBody>
          <a:bodyPr wrap="square" anchor="ctr" lIns="0" rIns="0">
            <a:spAutoFit/>
          </a:bodyPr>
          <a:lstStyle/>
          <a:p>
            <a:pPr algn="l">
              <a:spcAft>
                <a:spcPts val="200"/>
              </a:spcAft>
            </a:pPr>
            <a:r>
              <a:rPr sz="1300" b="1">
                <a:solidFill>
                  <a:srgbClr val="7C3AED"/>
                </a:solidFill>
                <a:latin typeface="Arial"/>
              </a:rPr>
              <a:t>Download materials</a:t>
            </a:r>
          </a:p>
          <a:p>
            <a:pPr algn="l">
              <a:spcAft>
                <a:spcPts val="200"/>
              </a:spcAft>
            </a:pPr>
            <a:r>
              <a:rPr sz="1050" b="0">
                <a:solidFill>
                  <a:srgbClr val="161B26"/>
                </a:solidFill>
                <a:latin typeface="Arial"/>
              </a:rPr>
              <a:t>Slides, Learner Guide and the activity briefs — your open-book references.</a:t>
            </a:r>
          </a:p>
        </p:txBody>
      </p:sp>
      <p:sp>
        <p:nvSpPr>
          <p:cNvPr id="39" name="Rectangle 38"/>
          <p:cNvSpPr/>
          <p:nvPr/>
        </p:nvSpPr>
        <p:spPr>
          <a:xfrm>
            <a:off x="6537960" y="5033772"/>
            <a:ext cx="4956048" cy="9098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37960" y="5033772"/>
            <a:ext cx="82296" cy="9098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720840" y="5269230"/>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20840" y="5269230"/>
            <a:ext cx="438912" cy="438912"/>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43" name="TextBox 42"/>
          <p:cNvSpPr txBox="1"/>
          <p:nvPr/>
        </p:nvSpPr>
        <p:spPr>
          <a:xfrm>
            <a:off x="7324344" y="5033772"/>
            <a:ext cx="3986784" cy="909828"/>
          </a:xfrm>
          <a:prstGeom prst="rect">
            <a:avLst/>
          </a:prstGeom>
          <a:noFill/>
        </p:spPr>
        <p:txBody>
          <a:bodyPr wrap="square" anchor="ctr" lIns="0" rIns="0">
            <a:spAutoFit/>
          </a:bodyPr>
          <a:lstStyle/>
          <a:p>
            <a:pPr algn="l">
              <a:spcAft>
                <a:spcPts val="200"/>
              </a:spcAft>
            </a:pPr>
            <a:r>
              <a:rPr sz="1300" b="1">
                <a:solidFill>
                  <a:srgbClr val="F59E0B"/>
                </a:solidFill>
                <a:latin typeface="Arial"/>
              </a:rPr>
              <a:t>Submit &amp; attendance</a:t>
            </a:r>
          </a:p>
          <a:p>
            <a:pPr algn="l">
              <a:spcAft>
                <a:spcPts val="200"/>
              </a:spcAft>
            </a:pPr>
            <a:r>
              <a:rPr sz="1050" b="0">
                <a:solidFill>
                  <a:srgbClr val="161B26"/>
                </a:solidFill>
                <a:latin typeface="Arial"/>
              </a:rPr>
              <a:t>Submit your assessment answers and scan the digital attendance QR here.</a:t>
            </a:r>
          </a:p>
        </p:txBody>
      </p:sp>
      <p:sp>
        <p:nvSpPr>
          <p:cNvPr id="44" name="TextBox 43"/>
          <p:cNvSpPr txBox="1"/>
          <p:nvPr/>
        </p:nvSpPr>
        <p:spPr>
          <a:xfrm>
            <a:off x="658368" y="6016752"/>
            <a:ext cx="10835640" cy="365760"/>
          </a:xfrm>
          <a:prstGeom prst="rect">
            <a:avLst/>
          </a:prstGeom>
          <a:noFill/>
        </p:spPr>
        <p:txBody>
          <a:bodyPr wrap="square" anchor="t" lIns="0" rIns="0">
            <a:spAutoFit/>
          </a:bodyPr>
          <a:lstStyle/>
          <a:p>
            <a:pPr algn="ctr">
              <a:spcAft>
                <a:spcPts val="400"/>
              </a:spcAft>
            </a:pPr>
            <a:r>
              <a:rPr sz="1200" b="0">
                <a:solidFill>
                  <a:srgbClr val="5B6372"/>
                </a:solidFill>
                <a:latin typeface="Arial"/>
              </a:rPr>
              <a:t>All course material is downloaded from the LMS/TMS portal — keep it handy: both assessments are open book.</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WSQ ALIGNMENT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Skills Framework Alignment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395020"/>
          </a:xfrm>
          <a:prstGeom prst="rect">
            <a:avLst/>
          </a:prstGeom>
          <a:noFill/>
        </p:spPr>
        <p:txBody>
          <a:bodyPr wrap="square" anchor="ctr" lIns="0" rIns="0">
            <a:spAutoFit/>
          </a:bodyPr>
          <a:lstStyle/>
          <a:p>
            <a:pPr algn="l">
              <a:spcAft>
                <a:spcPts val="400"/>
              </a:spcAft>
            </a:pPr>
            <a:r>
              <a:rPr sz="1100" b="1">
                <a:solidFill>
                  <a:srgbClr val="FFFFFF"/>
                </a:solidFill>
                <a:latin typeface="Arial"/>
              </a:rPr>
              <a:t>TSC element</a:t>
            </a:r>
          </a:p>
        </p:txBody>
      </p:sp>
      <p:sp>
        <p:nvSpPr>
          <p:cNvPr id="9" name="Rectangle 8"/>
          <p:cNvSpPr/>
          <p:nvPr/>
        </p:nvSpPr>
        <p:spPr>
          <a:xfrm>
            <a:off x="2825496" y="1737360"/>
            <a:ext cx="8668512"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8467344" cy="395020"/>
          </a:xfrm>
          <a:prstGeom prst="rect">
            <a:avLst/>
          </a:prstGeom>
          <a:noFill/>
        </p:spPr>
        <p:txBody>
          <a:bodyPr wrap="square" anchor="ctr" lIns="0" rIns="0">
            <a:spAutoFit/>
          </a:bodyPr>
          <a:lstStyle/>
          <a:p>
            <a:pPr algn="l">
              <a:spcAft>
                <a:spcPts val="400"/>
              </a:spcAft>
            </a:pPr>
            <a:r>
              <a:rPr sz="1100" b="1">
                <a:solidFill>
                  <a:srgbClr val="FFFFFF"/>
                </a:solidFill>
                <a:latin typeface="Arial"/>
              </a:rPr>
              <a:t>Detail</a:t>
            </a:r>
          </a:p>
        </p:txBody>
      </p:sp>
      <p:sp>
        <p:nvSpPr>
          <p:cNvPr id="11" name="Rectangle 10"/>
          <p:cNvSpPr/>
          <p:nvPr/>
        </p:nvSpPr>
        <p:spPr>
          <a:xfrm>
            <a:off x="658368" y="213238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13238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TSC Title</a:t>
            </a:r>
          </a:p>
        </p:txBody>
      </p:sp>
      <p:sp>
        <p:nvSpPr>
          <p:cNvPr id="13" name="Rectangle 12"/>
          <p:cNvSpPr/>
          <p:nvPr/>
        </p:nvSpPr>
        <p:spPr>
          <a:xfrm>
            <a:off x="2825496" y="213238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5224" y="213238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Internal Audit Engagement Planning</a:t>
            </a:r>
          </a:p>
        </p:txBody>
      </p:sp>
      <p:sp>
        <p:nvSpPr>
          <p:cNvPr id="15" name="Rectangle 14"/>
          <p:cNvSpPr/>
          <p:nvPr/>
        </p:nvSpPr>
        <p:spPr>
          <a:xfrm>
            <a:off x="658368" y="252740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52740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TSC Code</a:t>
            </a:r>
          </a:p>
        </p:txBody>
      </p:sp>
      <p:sp>
        <p:nvSpPr>
          <p:cNvPr id="17" name="Rectangle 16"/>
          <p:cNvSpPr/>
          <p:nvPr/>
        </p:nvSpPr>
        <p:spPr>
          <a:xfrm>
            <a:off x="2825496" y="252740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5224" y="252740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ACC-IAD-3005-1.1  ·  Proficiency Level 1</a:t>
            </a:r>
          </a:p>
        </p:txBody>
      </p:sp>
      <p:sp>
        <p:nvSpPr>
          <p:cNvPr id="19" name="Rectangle 18"/>
          <p:cNvSpPr/>
          <p:nvPr/>
        </p:nvSpPr>
        <p:spPr>
          <a:xfrm>
            <a:off x="658368" y="292242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92242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K1</a:t>
            </a:r>
          </a:p>
        </p:txBody>
      </p:sp>
      <p:sp>
        <p:nvSpPr>
          <p:cNvPr id="21" name="Rectangle 20"/>
          <p:cNvSpPr/>
          <p:nvPr/>
        </p:nvSpPr>
        <p:spPr>
          <a:xfrm>
            <a:off x="2825496" y="292242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292242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International Professional Practices Framework (IPPF) comprising definitions of Internal Auditing, Code of Ethics, core principles and International Standards for the Professional Practice of Internal Auditing</a:t>
            </a:r>
          </a:p>
        </p:txBody>
      </p:sp>
      <p:sp>
        <p:nvSpPr>
          <p:cNvPr id="23" name="Rectangle 22"/>
          <p:cNvSpPr/>
          <p:nvPr/>
        </p:nvSpPr>
        <p:spPr>
          <a:xfrm>
            <a:off x="658368" y="331744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31744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K2</a:t>
            </a:r>
          </a:p>
        </p:txBody>
      </p:sp>
      <p:sp>
        <p:nvSpPr>
          <p:cNvPr id="25" name="Rectangle 24"/>
          <p:cNvSpPr/>
          <p:nvPr/>
        </p:nvSpPr>
        <p:spPr>
          <a:xfrm>
            <a:off x="2825496" y="331744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35224" y="331744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Organisation's significant risks, objectives, resources, operations, businesses and structure</a:t>
            </a:r>
          </a:p>
        </p:txBody>
      </p:sp>
      <p:sp>
        <p:nvSpPr>
          <p:cNvPr id="27" name="Rectangle 26"/>
          <p:cNvSpPr/>
          <p:nvPr/>
        </p:nvSpPr>
        <p:spPr>
          <a:xfrm>
            <a:off x="658368" y="371246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71246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K3</a:t>
            </a:r>
          </a:p>
        </p:txBody>
      </p:sp>
      <p:sp>
        <p:nvSpPr>
          <p:cNvPr id="29" name="Rectangle 28"/>
          <p:cNvSpPr/>
          <p:nvPr/>
        </p:nvSpPr>
        <p:spPr>
          <a:xfrm>
            <a:off x="2825496" y="371246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35224" y="371246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Internal audit methodologies and procedures of the organisation</a:t>
            </a:r>
          </a:p>
        </p:txBody>
      </p:sp>
      <p:sp>
        <p:nvSpPr>
          <p:cNvPr id="31" name="Rectangle 30"/>
          <p:cNvSpPr/>
          <p:nvPr/>
        </p:nvSpPr>
        <p:spPr>
          <a:xfrm>
            <a:off x="658368" y="410748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10748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Knowledge K4</a:t>
            </a:r>
          </a:p>
        </p:txBody>
      </p:sp>
      <p:sp>
        <p:nvSpPr>
          <p:cNvPr id="33" name="Rectangle 32"/>
          <p:cNvSpPr/>
          <p:nvPr/>
        </p:nvSpPr>
        <p:spPr>
          <a:xfrm>
            <a:off x="2825496" y="410748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10748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Risk identification and assessment techniques</a:t>
            </a:r>
          </a:p>
        </p:txBody>
      </p:sp>
      <p:sp>
        <p:nvSpPr>
          <p:cNvPr id="35" name="Rectangle 34"/>
          <p:cNvSpPr/>
          <p:nvPr/>
        </p:nvSpPr>
        <p:spPr>
          <a:xfrm>
            <a:off x="658368" y="450250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50250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A1</a:t>
            </a:r>
          </a:p>
        </p:txBody>
      </p:sp>
      <p:sp>
        <p:nvSpPr>
          <p:cNvPr id="37" name="Rectangle 36"/>
          <p:cNvSpPr/>
          <p:nvPr/>
        </p:nvSpPr>
        <p:spPr>
          <a:xfrm>
            <a:off x="2825496" y="450250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35224" y="450250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Identify relevant frameworks, guidelines and standards to be applied in the engagement</a:t>
            </a:r>
          </a:p>
        </p:txBody>
      </p:sp>
      <p:sp>
        <p:nvSpPr>
          <p:cNvPr id="39" name="Rectangle 38"/>
          <p:cNvSpPr/>
          <p:nvPr/>
        </p:nvSpPr>
        <p:spPr>
          <a:xfrm>
            <a:off x="658368" y="4897520"/>
            <a:ext cx="216712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89752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A2</a:t>
            </a:r>
          </a:p>
        </p:txBody>
      </p:sp>
      <p:sp>
        <p:nvSpPr>
          <p:cNvPr id="41" name="Rectangle 40"/>
          <p:cNvSpPr/>
          <p:nvPr/>
        </p:nvSpPr>
        <p:spPr>
          <a:xfrm>
            <a:off x="2825496" y="4897520"/>
            <a:ext cx="8668512"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35224" y="489752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Identify stages of the engagement and various stakeholders involved</a:t>
            </a:r>
          </a:p>
        </p:txBody>
      </p:sp>
      <p:sp>
        <p:nvSpPr>
          <p:cNvPr id="43" name="Rectangle 42"/>
          <p:cNvSpPr/>
          <p:nvPr/>
        </p:nvSpPr>
        <p:spPr>
          <a:xfrm>
            <a:off x="658368" y="5292540"/>
            <a:ext cx="216712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292540"/>
            <a:ext cx="1965960" cy="395020"/>
          </a:xfrm>
          <a:prstGeom prst="rect">
            <a:avLst/>
          </a:prstGeom>
          <a:noFill/>
        </p:spPr>
        <p:txBody>
          <a:bodyPr wrap="square" anchor="ctr" lIns="0" rIns="0">
            <a:spAutoFit/>
          </a:bodyPr>
          <a:lstStyle/>
          <a:p>
            <a:pPr algn="l">
              <a:spcAft>
                <a:spcPts val="400"/>
              </a:spcAft>
            </a:pPr>
            <a:r>
              <a:rPr sz="1000" b="1">
                <a:solidFill>
                  <a:srgbClr val="161B26"/>
                </a:solidFill>
                <a:latin typeface="Arial"/>
              </a:rPr>
              <a:t>Ability A3</a:t>
            </a:r>
          </a:p>
        </p:txBody>
      </p:sp>
      <p:sp>
        <p:nvSpPr>
          <p:cNvPr id="45" name="Rectangle 44"/>
          <p:cNvSpPr/>
          <p:nvPr/>
        </p:nvSpPr>
        <p:spPr>
          <a:xfrm>
            <a:off x="2825496" y="5292540"/>
            <a:ext cx="8668512"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35224" y="5292540"/>
            <a:ext cx="8467344" cy="395020"/>
          </a:xfrm>
          <a:prstGeom prst="rect">
            <a:avLst/>
          </a:prstGeom>
          <a:noFill/>
        </p:spPr>
        <p:txBody>
          <a:bodyPr wrap="square" anchor="ctr" lIns="0" rIns="0">
            <a:spAutoFit/>
          </a:bodyPr>
          <a:lstStyle/>
          <a:p>
            <a:pPr algn="l">
              <a:spcAft>
                <a:spcPts val="400"/>
              </a:spcAft>
            </a:pPr>
            <a:r>
              <a:rPr sz="1000" b="0">
                <a:solidFill>
                  <a:srgbClr val="161B26"/>
                </a:solidFill>
                <a:latin typeface="Arial"/>
              </a:rPr>
              <a:t>Support conduct of preliminary survey and risk assessment</a:t>
            </a:r>
          </a:p>
        </p:txBody>
      </p:sp>
      <p:sp>
        <p:nvSpPr>
          <p:cNvPr id="47" name="Rectangle 4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Every topic, activity and assessment item in this course maps to these TSC knowledge and ability statements.</a:t>
            </a:r>
          </a:p>
        </p:txBody>
      </p:sp>
      <p:sp>
        <p:nvSpPr>
          <p:cNvPr id="49" name="TextBox 4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0" name="TextBox 4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1" name="TextBox 5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BY THE END OF THIS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LO1</a:t>
            </a:r>
          </a:p>
          <a:p>
            <a:pPr algn="l">
              <a:spcAft>
                <a:spcPts val="300"/>
              </a:spcAft>
            </a:pPr>
            <a:r>
              <a:rPr sz="1100" b="0">
                <a:solidFill>
                  <a:srgbClr val="5B6372"/>
                </a:solidFill>
                <a:latin typeface="Arial"/>
              </a:rPr>
              <a:t>Identify ISO 14001:2015 standards for internal auditing based on the International Professional Practices Framework (IPPF) and organisational risks</a:t>
            </a:r>
          </a:p>
        </p:txBody>
      </p:sp>
      <p:sp>
        <p:nvSpPr>
          <p:cNvPr id="12" name="Rectangle 11"/>
          <p:cNvSpPr/>
          <p:nvPr/>
        </p:nvSpPr>
        <p:spPr>
          <a:xfrm>
            <a:off x="658368" y="3264408"/>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264408"/>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698748"/>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3374136"/>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LO2</a:t>
            </a:r>
          </a:p>
          <a:p>
            <a:pPr algn="l">
              <a:spcAft>
                <a:spcPts val="300"/>
              </a:spcAft>
            </a:pPr>
            <a:r>
              <a:rPr sz="1100" b="0">
                <a:solidFill>
                  <a:srgbClr val="5B6372"/>
                </a:solidFill>
                <a:latin typeface="Arial"/>
              </a:rPr>
              <a:t>Identify phases of engagement with stakeholders by applying ISO 14001:2015 internal audit methodologies and procedures</a:t>
            </a:r>
          </a:p>
        </p:txBody>
      </p:sp>
      <p:sp>
        <p:nvSpPr>
          <p:cNvPr id="17" name="Rectangle 16"/>
          <p:cNvSpPr/>
          <p:nvPr/>
        </p:nvSpPr>
        <p:spPr>
          <a:xfrm>
            <a:off x="658368" y="4809744"/>
            <a:ext cx="10835640"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809744"/>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5244084"/>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919472"/>
            <a:ext cx="9738360"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LO3</a:t>
            </a:r>
          </a:p>
          <a:p>
            <a:pPr algn="l">
              <a:spcAft>
                <a:spcPts val="300"/>
              </a:spcAft>
            </a:pPr>
            <a:r>
              <a:rPr sz="1100" b="0">
                <a:solidFill>
                  <a:srgbClr val="5B6372"/>
                </a:solidFill>
                <a:latin typeface="Arial"/>
              </a:rPr>
              <a:t>Support preliminary risk assessments using risk identification and assessment techniques</a:t>
            </a:r>
          </a:p>
        </p:txBody>
      </p:sp>
      <p:sp>
        <p:nvSpPr>
          <p:cNvPr id="22" name="TextBox 2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3" name="TextBox 2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4" name="TextBox 2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JOURNEY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Course Outline — Three Topics Over Two Days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DAY 1 — the standard and the framework</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Topic 1 — ISO 14001:2015 Internal Auditor Framework</a:t>
            </a:r>
          </a:p>
          <a:p>
            <a:pPr>
              <a:spcAft>
                <a:spcPts val="700"/>
              </a:spcAft>
            </a:pPr>
            <a:r>
              <a:rPr sz="1100" b="0">
                <a:solidFill>
                  <a:srgbClr val="5B6372"/>
                </a:solidFill>
                <a:latin typeface="Arial"/>
              </a:rPr>
              <a:t>–  Overview of the IPPF</a:t>
            </a:r>
          </a:p>
          <a:p>
            <a:pPr>
              <a:spcAft>
                <a:spcPts val="700"/>
              </a:spcAft>
            </a:pPr>
            <a:r>
              <a:rPr sz="1100" b="0">
                <a:solidFill>
                  <a:srgbClr val="5B6372"/>
                </a:solidFill>
                <a:latin typeface="Arial"/>
              </a:rPr>
              <a:t>–  Introduction to ISO 14001:2015 and the EMS</a:t>
            </a:r>
          </a:p>
          <a:p>
            <a:pPr>
              <a:spcAft>
                <a:spcPts val="700"/>
              </a:spcAft>
            </a:pPr>
            <a:r>
              <a:rPr sz="1100" b="0">
                <a:solidFill>
                  <a:srgbClr val="5B6372"/>
                </a:solidFill>
                <a:latin typeface="Arial"/>
              </a:rPr>
              <a:t>–  Applying ISO 14001:2015 to the organisation — risks, objectives, resources, operations</a:t>
            </a:r>
          </a:p>
          <a:p>
            <a:pPr>
              <a:spcAft>
                <a:spcPts val="700"/>
              </a:spcAft>
            </a:pPr>
            <a:r>
              <a:rPr sz="1100" b="0">
                <a:solidFill>
                  <a:srgbClr val="5B6372"/>
                </a:solidFill>
                <a:latin typeface="Arial"/>
              </a:rPr>
              <a:t>–  Activity 1 — scoping a real engagement</a:t>
            </a:r>
          </a:p>
          <a:p>
            <a:pPr>
              <a:spcAft>
                <a:spcPts val="700"/>
              </a:spcAft>
            </a:pPr>
            <a:r>
              <a:rPr sz="1300" b="1">
                <a:solidFill>
                  <a:srgbClr val="161B26"/>
                </a:solidFill>
                <a:latin typeface="Arial"/>
              </a:rPr>
              <a:t>•  Topic 2 begins — audit methodologies</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DAY 2 — auditing and risk assessment</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Topic 2 — Auditing ISO 14001:2015</a:t>
            </a:r>
          </a:p>
          <a:p>
            <a:pPr>
              <a:spcAft>
                <a:spcPts val="700"/>
              </a:spcAft>
            </a:pPr>
            <a:r>
              <a:rPr sz="1100" b="0">
                <a:solidFill>
                  <a:srgbClr val="5B6372"/>
                </a:solidFill>
                <a:latin typeface="Arial"/>
              </a:rPr>
              <a:t>–  Phases of auditing and stakeholder engagement</a:t>
            </a:r>
          </a:p>
          <a:p>
            <a:pPr>
              <a:spcAft>
                <a:spcPts val="700"/>
              </a:spcAft>
            </a:pPr>
            <a:r>
              <a:rPr sz="1100" b="0">
                <a:solidFill>
                  <a:srgbClr val="5B6372"/>
                </a:solidFill>
                <a:latin typeface="Arial"/>
              </a:rPr>
              <a:t>–  Activity 2 — audit plan, checklist and interviews</a:t>
            </a:r>
          </a:p>
          <a:p>
            <a:pPr>
              <a:spcAft>
                <a:spcPts val="700"/>
              </a:spcAft>
            </a:pPr>
            <a:r>
              <a:rPr sz="1300" b="1">
                <a:solidFill>
                  <a:srgbClr val="161B26"/>
                </a:solidFill>
                <a:latin typeface="Arial"/>
              </a:rPr>
              <a:t>•  Topic 3 — Risk Assessment</a:t>
            </a:r>
          </a:p>
          <a:p>
            <a:pPr>
              <a:spcAft>
                <a:spcPts val="700"/>
              </a:spcAft>
            </a:pPr>
            <a:r>
              <a:rPr sz="1100" b="0">
                <a:solidFill>
                  <a:srgbClr val="5B6372"/>
                </a:solidFill>
                <a:latin typeface="Arial"/>
              </a:rPr>
              <a:t>–  Risk assessment · corrective action requests · audit reports</a:t>
            </a:r>
          </a:p>
          <a:p>
            <a:pPr>
              <a:spcAft>
                <a:spcPts val="700"/>
              </a:spcAft>
            </a:pPr>
            <a:r>
              <a:rPr sz="1100" b="0">
                <a:solidFill>
                  <a:srgbClr val="5B6372"/>
                </a:solidFill>
                <a:latin typeface="Arial"/>
              </a:rPr>
              <a:t>–  Activity 3 — risk, CARs and the report</a:t>
            </a:r>
          </a:p>
          <a:p>
            <a:pPr>
              <a:spcAft>
                <a:spcPts val="700"/>
              </a:spcAft>
            </a:pPr>
            <a:r>
              <a:rPr sz="1100" b="0">
                <a:solidFill>
                  <a:srgbClr val="5B6372"/>
                </a:solidFill>
                <a:latin typeface="Arial"/>
              </a:rPr>
              <a:t>–  Final assessment: WA (SAQ) then Case Study</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14 hours of facilitation + 2 hours of assessment = 16 hours in total.</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SCHEDULE · DAY 1</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Lesson Plan — Day 1</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842058"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640890"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Time</a:t>
            </a:r>
          </a:p>
        </p:txBody>
      </p:sp>
      <p:sp>
        <p:nvSpPr>
          <p:cNvPr id="9" name="Rectangle 8"/>
          <p:cNvSpPr/>
          <p:nvPr/>
        </p:nvSpPr>
        <p:spPr>
          <a:xfrm>
            <a:off x="2500426" y="1737360"/>
            <a:ext cx="6718096"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0154" y="1737360"/>
            <a:ext cx="6516928"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Session</a:t>
            </a:r>
          </a:p>
        </p:txBody>
      </p:sp>
      <p:sp>
        <p:nvSpPr>
          <p:cNvPr id="11" name="Rectangle 10"/>
          <p:cNvSpPr/>
          <p:nvPr/>
        </p:nvSpPr>
        <p:spPr>
          <a:xfrm>
            <a:off x="9218522" y="1737360"/>
            <a:ext cx="2275484" cy="395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8250" y="1737360"/>
            <a:ext cx="2074316" cy="395020"/>
          </a:xfrm>
          <a:prstGeom prst="rect">
            <a:avLst/>
          </a:prstGeom>
          <a:noFill/>
        </p:spPr>
        <p:txBody>
          <a:bodyPr wrap="square" anchor="ctr" lIns="0" rIns="0">
            <a:spAutoFit/>
          </a:bodyPr>
          <a:lstStyle/>
          <a:p>
            <a:pPr algn="l">
              <a:spcAft>
                <a:spcPts val="400"/>
              </a:spcAft>
            </a:pPr>
            <a:r>
              <a:rPr sz="1000" b="1">
                <a:solidFill>
                  <a:srgbClr val="FFFFFF"/>
                </a:solidFill>
                <a:latin typeface="Arial"/>
              </a:rPr>
              <a:t>Method</a:t>
            </a:r>
          </a:p>
        </p:txBody>
      </p:sp>
      <p:sp>
        <p:nvSpPr>
          <p:cNvPr id="13" name="Rectangle 12"/>
          <p:cNvSpPr/>
          <p:nvPr/>
        </p:nvSpPr>
        <p:spPr>
          <a:xfrm>
            <a:off x="658368" y="213238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13238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9:30–9:45</a:t>
            </a:r>
          </a:p>
        </p:txBody>
      </p:sp>
      <p:sp>
        <p:nvSpPr>
          <p:cNvPr id="15" name="Rectangle 14"/>
          <p:cNvSpPr/>
          <p:nvPr/>
        </p:nvSpPr>
        <p:spPr>
          <a:xfrm>
            <a:off x="2500426" y="213238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0154" y="213238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(AM) · Welcome and course introduction · Trainer…</a:t>
            </a:r>
          </a:p>
        </p:txBody>
      </p:sp>
      <p:sp>
        <p:nvSpPr>
          <p:cNvPr id="17" name="Rectangle 16"/>
          <p:cNvSpPr/>
          <p:nvPr/>
        </p:nvSpPr>
        <p:spPr>
          <a:xfrm>
            <a:off x="9218522" y="213238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8250" y="213238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Admin · Ice-breaker</a:t>
            </a:r>
          </a:p>
        </p:txBody>
      </p:sp>
      <p:sp>
        <p:nvSpPr>
          <p:cNvPr id="19" name="Rectangle 18"/>
          <p:cNvSpPr/>
          <p:nvPr/>
        </p:nvSpPr>
        <p:spPr>
          <a:xfrm>
            <a:off x="658368" y="252740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52740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9:45–11:15</a:t>
            </a:r>
          </a:p>
        </p:txBody>
      </p:sp>
      <p:sp>
        <p:nvSpPr>
          <p:cNvPr id="21" name="Rectangle 20"/>
          <p:cNvSpPr/>
          <p:nvPr/>
        </p:nvSpPr>
        <p:spPr>
          <a:xfrm>
            <a:off x="2500426" y="252740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0154" y="252740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LU1: Introduction to ISO 14001:2015 · T1: ISO 14001:2015 Internal Auditor…</a:t>
            </a:r>
          </a:p>
        </p:txBody>
      </p:sp>
      <p:sp>
        <p:nvSpPr>
          <p:cNvPr id="23" name="Rectangle 22"/>
          <p:cNvSpPr/>
          <p:nvPr/>
        </p:nvSpPr>
        <p:spPr>
          <a:xfrm>
            <a:off x="9218522" y="252740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8250" y="252740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Discussion</a:t>
            </a:r>
          </a:p>
        </p:txBody>
      </p:sp>
      <p:sp>
        <p:nvSpPr>
          <p:cNvPr id="25" name="Rectangle 24"/>
          <p:cNvSpPr/>
          <p:nvPr/>
        </p:nvSpPr>
        <p:spPr>
          <a:xfrm>
            <a:off x="658368" y="292242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292242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11:15–11:30</a:t>
            </a:r>
          </a:p>
        </p:txBody>
      </p:sp>
      <p:sp>
        <p:nvSpPr>
          <p:cNvPr id="27" name="Rectangle 26"/>
          <p:cNvSpPr/>
          <p:nvPr/>
        </p:nvSpPr>
        <p:spPr>
          <a:xfrm>
            <a:off x="2500426" y="292242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0154" y="292242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29" name="Rectangle 28"/>
          <p:cNvSpPr/>
          <p:nvPr/>
        </p:nvSpPr>
        <p:spPr>
          <a:xfrm>
            <a:off x="9218522" y="292242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8250" y="292242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331744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31744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11:30–13:15</a:t>
            </a:r>
          </a:p>
        </p:txBody>
      </p:sp>
      <p:sp>
        <p:nvSpPr>
          <p:cNvPr id="33" name="Rectangle 32"/>
          <p:cNvSpPr/>
          <p:nvPr/>
        </p:nvSpPr>
        <p:spPr>
          <a:xfrm>
            <a:off x="2500426" y="331744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0154" y="331744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T1 continued (K1, K2)</a:t>
            </a:r>
          </a:p>
        </p:txBody>
      </p:sp>
      <p:sp>
        <p:nvSpPr>
          <p:cNvPr id="35" name="Rectangle 34"/>
          <p:cNvSpPr/>
          <p:nvPr/>
        </p:nvSpPr>
        <p:spPr>
          <a:xfrm>
            <a:off x="9218522" y="331744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8250" y="331744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37" name="Rectangle 36"/>
          <p:cNvSpPr/>
          <p:nvPr/>
        </p:nvSpPr>
        <p:spPr>
          <a:xfrm>
            <a:off x="658368" y="371246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71246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13:15–14:00</a:t>
            </a:r>
          </a:p>
        </p:txBody>
      </p:sp>
      <p:sp>
        <p:nvSpPr>
          <p:cNvPr id="39" name="Rectangle 38"/>
          <p:cNvSpPr/>
          <p:nvPr/>
        </p:nvSpPr>
        <p:spPr>
          <a:xfrm>
            <a:off x="2500426" y="371246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10154" y="371246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Lunch Break</a:t>
            </a:r>
          </a:p>
        </p:txBody>
      </p:sp>
      <p:sp>
        <p:nvSpPr>
          <p:cNvPr id="41" name="Rectangle 40"/>
          <p:cNvSpPr/>
          <p:nvPr/>
        </p:nvSpPr>
        <p:spPr>
          <a:xfrm>
            <a:off x="9218522" y="371246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8250" y="371246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3" name="Rectangle 42"/>
          <p:cNvSpPr/>
          <p:nvPr/>
        </p:nvSpPr>
        <p:spPr>
          <a:xfrm>
            <a:off x="658368" y="410748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10748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14:00–15:30</a:t>
            </a:r>
          </a:p>
        </p:txBody>
      </p:sp>
      <p:sp>
        <p:nvSpPr>
          <p:cNvPr id="45" name="Rectangle 44"/>
          <p:cNvSpPr/>
          <p:nvPr/>
        </p:nvSpPr>
        <p:spPr>
          <a:xfrm>
            <a:off x="2500426" y="410748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0154" y="410748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(PM) · T1 continued — Apply ISO 14001:2015 to the…</a:t>
            </a:r>
          </a:p>
        </p:txBody>
      </p:sp>
      <p:sp>
        <p:nvSpPr>
          <p:cNvPr id="47" name="Rectangle 46"/>
          <p:cNvSpPr/>
          <p:nvPr/>
        </p:nvSpPr>
        <p:spPr>
          <a:xfrm>
            <a:off x="9218522" y="410748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8250" y="410748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Case study ·…</a:t>
            </a:r>
          </a:p>
        </p:txBody>
      </p:sp>
      <p:sp>
        <p:nvSpPr>
          <p:cNvPr id="49" name="Rectangle 48"/>
          <p:cNvSpPr/>
          <p:nvPr/>
        </p:nvSpPr>
        <p:spPr>
          <a:xfrm>
            <a:off x="658368" y="450250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50250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15:30–15:45</a:t>
            </a:r>
          </a:p>
        </p:txBody>
      </p:sp>
      <p:sp>
        <p:nvSpPr>
          <p:cNvPr id="51" name="Rectangle 50"/>
          <p:cNvSpPr/>
          <p:nvPr/>
        </p:nvSpPr>
        <p:spPr>
          <a:xfrm>
            <a:off x="2500426" y="450250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10154" y="450250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53" name="Rectangle 52"/>
          <p:cNvSpPr/>
          <p:nvPr/>
        </p:nvSpPr>
        <p:spPr>
          <a:xfrm>
            <a:off x="9218522" y="450250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8250" y="450250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55" name="Rectangle 54"/>
          <p:cNvSpPr/>
          <p:nvPr/>
        </p:nvSpPr>
        <p:spPr>
          <a:xfrm>
            <a:off x="658368" y="4897520"/>
            <a:ext cx="1842058"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489752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15:45–17:30</a:t>
            </a:r>
          </a:p>
        </p:txBody>
      </p:sp>
      <p:sp>
        <p:nvSpPr>
          <p:cNvPr id="57" name="Rectangle 56"/>
          <p:cNvSpPr/>
          <p:nvPr/>
        </p:nvSpPr>
        <p:spPr>
          <a:xfrm>
            <a:off x="2500426" y="4897520"/>
            <a:ext cx="6718096"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0154" y="489752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LU2: Auditing Methodologies · T2: Auditing ISO 14001:2015 (K3, A2)</a:t>
            </a:r>
          </a:p>
        </p:txBody>
      </p:sp>
      <p:sp>
        <p:nvSpPr>
          <p:cNvPr id="59" name="Rectangle 58"/>
          <p:cNvSpPr/>
          <p:nvPr/>
        </p:nvSpPr>
        <p:spPr>
          <a:xfrm>
            <a:off x="9218522" y="4897520"/>
            <a:ext cx="2275484" cy="395020"/>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8250" y="489752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Discussion</a:t>
            </a:r>
          </a:p>
        </p:txBody>
      </p:sp>
      <p:sp>
        <p:nvSpPr>
          <p:cNvPr id="61" name="Rectangle 60"/>
          <p:cNvSpPr/>
          <p:nvPr/>
        </p:nvSpPr>
        <p:spPr>
          <a:xfrm>
            <a:off x="658368" y="5292540"/>
            <a:ext cx="1842058"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 y="5292540"/>
            <a:ext cx="1640890" cy="395020"/>
          </a:xfrm>
          <a:prstGeom prst="rect">
            <a:avLst/>
          </a:prstGeom>
          <a:noFill/>
        </p:spPr>
        <p:txBody>
          <a:bodyPr wrap="square" anchor="ctr" lIns="0" rIns="0">
            <a:spAutoFit/>
          </a:bodyPr>
          <a:lstStyle/>
          <a:p>
            <a:pPr algn="l">
              <a:spcAft>
                <a:spcPts val="400"/>
              </a:spcAft>
            </a:pPr>
            <a:r>
              <a:rPr sz="900" b="1">
                <a:solidFill>
                  <a:srgbClr val="161B26"/>
                </a:solidFill>
                <a:latin typeface="Arial"/>
              </a:rPr>
              <a:t>17:30–17:45</a:t>
            </a:r>
          </a:p>
        </p:txBody>
      </p:sp>
      <p:sp>
        <p:nvSpPr>
          <p:cNvPr id="63" name="Rectangle 62"/>
          <p:cNvSpPr/>
          <p:nvPr/>
        </p:nvSpPr>
        <p:spPr>
          <a:xfrm>
            <a:off x="2500426" y="5292540"/>
            <a:ext cx="6718096"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10154" y="5292540"/>
            <a:ext cx="6516928"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Day 1 recap · Q&amp;A · preview of Day 2</a:t>
            </a:r>
          </a:p>
        </p:txBody>
      </p:sp>
      <p:sp>
        <p:nvSpPr>
          <p:cNvPr id="65" name="Rectangle 64"/>
          <p:cNvSpPr/>
          <p:nvPr/>
        </p:nvSpPr>
        <p:spPr>
          <a:xfrm>
            <a:off x="9218522" y="5292540"/>
            <a:ext cx="2275484" cy="395020"/>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28250" y="5292540"/>
            <a:ext cx="2074316" cy="395020"/>
          </a:xfrm>
          <a:prstGeom prst="rect">
            <a:avLst/>
          </a:prstGeom>
          <a:noFill/>
        </p:spPr>
        <p:txBody>
          <a:bodyPr wrap="square" anchor="ctr" lIns="0" rIns="0">
            <a:spAutoFit/>
          </a:bodyPr>
          <a:lstStyle/>
          <a:p>
            <a:pPr algn="l">
              <a:spcAft>
                <a:spcPts val="400"/>
              </a:spcAft>
            </a:pPr>
            <a:r>
              <a:rPr sz="900" b="0">
                <a:solidFill>
                  <a:srgbClr val="161B26"/>
                </a:solidFill>
                <a:latin typeface="Arial"/>
              </a:rPr>
              <a:t>Review · Q&amp;A</a:t>
            </a:r>
          </a:p>
        </p:txBody>
      </p:sp>
      <p:sp>
        <p:nvSpPr>
          <p:cNvPr id="67" name="Rectangle 6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7 hours of facilitation (9:30 am – 5:45 pm). Digital attendance is taken in the morning and again in the afternoon.</a:t>
            </a:r>
          </a:p>
        </p:txBody>
      </p:sp>
      <p:sp>
        <p:nvSpPr>
          <p:cNvPr id="69" name="TextBox 6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70" name="TextBox 6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71" name="TextBox 7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SCHEDULE · DAY 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Lesson Plan — Day 2</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842058"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640890"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Time</a:t>
            </a:r>
          </a:p>
        </p:txBody>
      </p:sp>
      <p:sp>
        <p:nvSpPr>
          <p:cNvPr id="9" name="Rectangle 8"/>
          <p:cNvSpPr/>
          <p:nvPr/>
        </p:nvSpPr>
        <p:spPr>
          <a:xfrm>
            <a:off x="2500426" y="1737360"/>
            <a:ext cx="6718096"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0154" y="1737360"/>
            <a:ext cx="6516928"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Session</a:t>
            </a:r>
          </a:p>
        </p:txBody>
      </p:sp>
      <p:sp>
        <p:nvSpPr>
          <p:cNvPr id="11" name="Rectangle 10"/>
          <p:cNvSpPr/>
          <p:nvPr/>
        </p:nvSpPr>
        <p:spPr>
          <a:xfrm>
            <a:off x="9218522" y="1737360"/>
            <a:ext cx="2275484"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8250" y="1737360"/>
            <a:ext cx="2074316" cy="329184"/>
          </a:xfrm>
          <a:prstGeom prst="rect">
            <a:avLst/>
          </a:prstGeom>
          <a:noFill/>
        </p:spPr>
        <p:txBody>
          <a:bodyPr wrap="square" anchor="ctr" lIns="0" rIns="0">
            <a:spAutoFit/>
          </a:bodyPr>
          <a:lstStyle/>
          <a:p>
            <a:pPr algn="l">
              <a:spcAft>
                <a:spcPts val="400"/>
              </a:spcAft>
            </a:pPr>
            <a:r>
              <a:rPr sz="1000" b="1">
                <a:solidFill>
                  <a:srgbClr val="FFFFFF"/>
                </a:solidFill>
                <a:latin typeface="Arial"/>
              </a:rPr>
              <a:t>Method</a:t>
            </a:r>
          </a:p>
        </p:txBody>
      </p:sp>
      <p:sp>
        <p:nvSpPr>
          <p:cNvPr id="13" name="Rectangle 12"/>
          <p:cNvSpPr/>
          <p:nvPr/>
        </p:nvSpPr>
        <p:spPr>
          <a:xfrm>
            <a:off x="658368" y="2066544"/>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06654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9:30–9:45</a:t>
            </a:r>
          </a:p>
        </p:txBody>
      </p:sp>
      <p:sp>
        <p:nvSpPr>
          <p:cNvPr id="15" name="Rectangle 14"/>
          <p:cNvSpPr/>
          <p:nvPr/>
        </p:nvSpPr>
        <p:spPr>
          <a:xfrm>
            <a:off x="2500426" y="2066544"/>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10154" y="206654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(AM) · Day 1 recap</a:t>
            </a:r>
          </a:p>
        </p:txBody>
      </p:sp>
      <p:sp>
        <p:nvSpPr>
          <p:cNvPr id="17" name="Rectangle 16"/>
          <p:cNvSpPr/>
          <p:nvPr/>
        </p:nvSpPr>
        <p:spPr>
          <a:xfrm>
            <a:off x="9218522" y="2066544"/>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8250" y="206654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Admin · Review</a:t>
            </a:r>
          </a:p>
        </p:txBody>
      </p:sp>
      <p:sp>
        <p:nvSpPr>
          <p:cNvPr id="19" name="Rectangle 18"/>
          <p:cNvSpPr/>
          <p:nvPr/>
        </p:nvSpPr>
        <p:spPr>
          <a:xfrm>
            <a:off x="658368" y="2395728"/>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395728"/>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9:45–11:15</a:t>
            </a:r>
          </a:p>
        </p:txBody>
      </p:sp>
      <p:sp>
        <p:nvSpPr>
          <p:cNvPr id="21" name="Rectangle 20"/>
          <p:cNvSpPr/>
          <p:nvPr/>
        </p:nvSpPr>
        <p:spPr>
          <a:xfrm>
            <a:off x="2500426" y="2395728"/>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0154" y="2395728"/>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T2 continued — Phases of Auditing (K3, A2)</a:t>
            </a:r>
          </a:p>
        </p:txBody>
      </p:sp>
      <p:sp>
        <p:nvSpPr>
          <p:cNvPr id="23" name="Rectangle 22"/>
          <p:cNvSpPr/>
          <p:nvPr/>
        </p:nvSpPr>
        <p:spPr>
          <a:xfrm>
            <a:off x="9218522" y="2395728"/>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8250" y="2395728"/>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25" name="Rectangle 24"/>
          <p:cNvSpPr/>
          <p:nvPr/>
        </p:nvSpPr>
        <p:spPr>
          <a:xfrm>
            <a:off x="658368" y="2724912"/>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2724912"/>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11:15–11:30</a:t>
            </a:r>
          </a:p>
        </p:txBody>
      </p:sp>
      <p:sp>
        <p:nvSpPr>
          <p:cNvPr id="27" name="Rectangle 26"/>
          <p:cNvSpPr/>
          <p:nvPr/>
        </p:nvSpPr>
        <p:spPr>
          <a:xfrm>
            <a:off x="2500426" y="2724912"/>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10154" y="2724912"/>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29" name="Rectangle 28"/>
          <p:cNvSpPr/>
          <p:nvPr/>
        </p:nvSpPr>
        <p:spPr>
          <a:xfrm>
            <a:off x="9218522" y="2724912"/>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8250" y="2724912"/>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3054096"/>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054096"/>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11:30–13:00</a:t>
            </a:r>
          </a:p>
        </p:txBody>
      </p:sp>
      <p:sp>
        <p:nvSpPr>
          <p:cNvPr id="33" name="Rectangle 32"/>
          <p:cNvSpPr/>
          <p:nvPr/>
        </p:nvSpPr>
        <p:spPr>
          <a:xfrm>
            <a:off x="2500426" y="3054096"/>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0154" y="3054096"/>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T2 continued — Engagement with Stakeholders (A2) · ACTIVITY 2 — AquaPure…</a:t>
            </a:r>
          </a:p>
        </p:txBody>
      </p:sp>
      <p:sp>
        <p:nvSpPr>
          <p:cNvPr id="35" name="Rectangle 34"/>
          <p:cNvSpPr/>
          <p:nvPr/>
        </p:nvSpPr>
        <p:spPr>
          <a:xfrm>
            <a:off x="9218522" y="3054096"/>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8250" y="3054096"/>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Case study · Role play ·…</a:t>
            </a:r>
          </a:p>
        </p:txBody>
      </p:sp>
      <p:sp>
        <p:nvSpPr>
          <p:cNvPr id="37" name="Rectangle 36"/>
          <p:cNvSpPr/>
          <p:nvPr/>
        </p:nvSpPr>
        <p:spPr>
          <a:xfrm>
            <a:off x="658368" y="3383280"/>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383280"/>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13:00–13:45</a:t>
            </a:r>
          </a:p>
        </p:txBody>
      </p:sp>
      <p:sp>
        <p:nvSpPr>
          <p:cNvPr id="39" name="Rectangle 38"/>
          <p:cNvSpPr/>
          <p:nvPr/>
        </p:nvSpPr>
        <p:spPr>
          <a:xfrm>
            <a:off x="2500426" y="3383280"/>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10154" y="3383280"/>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Lunch Break</a:t>
            </a:r>
          </a:p>
        </p:txBody>
      </p:sp>
      <p:sp>
        <p:nvSpPr>
          <p:cNvPr id="41" name="Rectangle 40"/>
          <p:cNvSpPr/>
          <p:nvPr/>
        </p:nvSpPr>
        <p:spPr>
          <a:xfrm>
            <a:off x="9218522" y="3383280"/>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28250" y="3383280"/>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3" name="Rectangle 42"/>
          <p:cNvSpPr/>
          <p:nvPr/>
        </p:nvSpPr>
        <p:spPr>
          <a:xfrm>
            <a:off x="658368" y="3712464"/>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371246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13:45–15:30</a:t>
            </a:r>
          </a:p>
        </p:txBody>
      </p:sp>
      <p:sp>
        <p:nvSpPr>
          <p:cNvPr id="45" name="Rectangle 44"/>
          <p:cNvSpPr/>
          <p:nvPr/>
        </p:nvSpPr>
        <p:spPr>
          <a:xfrm>
            <a:off x="2500426" y="3712464"/>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0154" y="371246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Digital Attendance (PM) · LU3: Risk Assessment Techniques</a:t>
            </a:r>
          </a:p>
        </p:txBody>
      </p:sp>
      <p:sp>
        <p:nvSpPr>
          <p:cNvPr id="47" name="Rectangle 46"/>
          <p:cNvSpPr/>
          <p:nvPr/>
        </p:nvSpPr>
        <p:spPr>
          <a:xfrm>
            <a:off x="9218522" y="3712464"/>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8250" y="371246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Lecture · Worked examples…</a:t>
            </a:r>
          </a:p>
        </p:txBody>
      </p:sp>
      <p:sp>
        <p:nvSpPr>
          <p:cNvPr id="49" name="Rectangle 48"/>
          <p:cNvSpPr/>
          <p:nvPr/>
        </p:nvSpPr>
        <p:spPr>
          <a:xfrm>
            <a:off x="658368" y="4041648"/>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4041648"/>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15:30–15:45</a:t>
            </a:r>
          </a:p>
        </p:txBody>
      </p:sp>
      <p:sp>
        <p:nvSpPr>
          <p:cNvPr id="51" name="Rectangle 50"/>
          <p:cNvSpPr/>
          <p:nvPr/>
        </p:nvSpPr>
        <p:spPr>
          <a:xfrm>
            <a:off x="2500426" y="4041648"/>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10154" y="4041648"/>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Tea Break</a:t>
            </a:r>
          </a:p>
        </p:txBody>
      </p:sp>
      <p:sp>
        <p:nvSpPr>
          <p:cNvPr id="53" name="Rectangle 52"/>
          <p:cNvSpPr/>
          <p:nvPr/>
        </p:nvSpPr>
        <p:spPr>
          <a:xfrm>
            <a:off x="9218522" y="4041648"/>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8250" y="4041648"/>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55" name="Rectangle 54"/>
          <p:cNvSpPr/>
          <p:nvPr/>
        </p:nvSpPr>
        <p:spPr>
          <a:xfrm>
            <a:off x="658368" y="4370832"/>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 y="4370832"/>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15:45–17:30</a:t>
            </a:r>
          </a:p>
        </p:txBody>
      </p:sp>
      <p:sp>
        <p:nvSpPr>
          <p:cNvPr id="57" name="Rectangle 56"/>
          <p:cNvSpPr/>
          <p:nvPr/>
        </p:nvSpPr>
        <p:spPr>
          <a:xfrm>
            <a:off x="2500426" y="4370832"/>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0154" y="4370832"/>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T3 continued — Corrective Action and Reporting (K4, A3) · ACTIVITY 3…</a:t>
            </a:r>
          </a:p>
        </p:txBody>
      </p:sp>
      <p:sp>
        <p:nvSpPr>
          <p:cNvPr id="59" name="Rectangle 58"/>
          <p:cNvSpPr/>
          <p:nvPr/>
        </p:nvSpPr>
        <p:spPr>
          <a:xfrm>
            <a:off x="9218522" y="4370832"/>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8250" y="4370832"/>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Case study · Group work ·…</a:t>
            </a:r>
          </a:p>
        </p:txBody>
      </p:sp>
      <p:sp>
        <p:nvSpPr>
          <p:cNvPr id="61" name="Rectangle 60"/>
          <p:cNvSpPr/>
          <p:nvPr/>
        </p:nvSpPr>
        <p:spPr>
          <a:xfrm>
            <a:off x="658368" y="4700016"/>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68096" y="4700016"/>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17:30–17:45</a:t>
            </a:r>
          </a:p>
        </p:txBody>
      </p:sp>
      <p:sp>
        <p:nvSpPr>
          <p:cNvPr id="63" name="Rectangle 62"/>
          <p:cNvSpPr/>
          <p:nvPr/>
        </p:nvSpPr>
        <p:spPr>
          <a:xfrm>
            <a:off x="2500426" y="4700016"/>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10154" y="4700016"/>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Course summary · Briefing for Assessment · Assessment Digital Attendance ·…</a:t>
            </a:r>
          </a:p>
        </p:txBody>
      </p:sp>
      <p:sp>
        <p:nvSpPr>
          <p:cNvPr id="65" name="Rectangle 64"/>
          <p:cNvSpPr/>
          <p:nvPr/>
        </p:nvSpPr>
        <p:spPr>
          <a:xfrm>
            <a:off x="9218522" y="4700016"/>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28250" y="4700016"/>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Admin · Briefing</a:t>
            </a:r>
          </a:p>
        </p:txBody>
      </p:sp>
      <p:sp>
        <p:nvSpPr>
          <p:cNvPr id="67" name="Rectangle 66"/>
          <p:cNvSpPr/>
          <p:nvPr/>
        </p:nvSpPr>
        <p:spPr>
          <a:xfrm>
            <a:off x="658368" y="5029200"/>
            <a:ext cx="1842058"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8096" y="5029200"/>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17:45–18:45</a:t>
            </a:r>
          </a:p>
        </p:txBody>
      </p:sp>
      <p:sp>
        <p:nvSpPr>
          <p:cNvPr id="69" name="Rectangle 68"/>
          <p:cNvSpPr/>
          <p:nvPr/>
        </p:nvSpPr>
        <p:spPr>
          <a:xfrm>
            <a:off x="2500426" y="5029200"/>
            <a:ext cx="6718096"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610154" y="5029200"/>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FINAL ASSESSMENT — Written Assessment, Short Answer Questions (WA/SAQ) · 4…</a:t>
            </a:r>
          </a:p>
        </p:txBody>
      </p:sp>
      <p:sp>
        <p:nvSpPr>
          <p:cNvPr id="71" name="Rectangle 70"/>
          <p:cNvSpPr/>
          <p:nvPr/>
        </p:nvSpPr>
        <p:spPr>
          <a:xfrm>
            <a:off x="9218522" y="5029200"/>
            <a:ext cx="2275484" cy="329184"/>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28250" y="5029200"/>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Assessment</a:t>
            </a:r>
          </a:p>
        </p:txBody>
      </p:sp>
      <p:sp>
        <p:nvSpPr>
          <p:cNvPr id="73" name="Rectangle 72"/>
          <p:cNvSpPr/>
          <p:nvPr/>
        </p:nvSpPr>
        <p:spPr>
          <a:xfrm>
            <a:off x="658368" y="5358384"/>
            <a:ext cx="1842058"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8096" y="5358384"/>
            <a:ext cx="1640890" cy="329184"/>
          </a:xfrm>
          <a:prstGeom prst="rect">
            <a:avLst/>
          </a:prstGeom>
          <a:noFill/>
        </p:spPr>
        <p:txBody>
          <a:bodyPr wrap="square" anchor="ctr" lIns="0" rIns="0">
            <a:spAutoFit/>
          </a:bodyPr>
          <a:lstStyle/>
          <a:p>
            <a:pPr algn="l">
              <a:spcAft>
                <a:spcPts val="400"/>
              </a:spcAft>
            </a:pPr>
            <a:r>
              <a:rPr sz="900" b="1">
                <a:solidFill>
                  <a:srgbClr val="161B26"/>
                </a:solidFill>
                <a:latin typeface="Arial"/>
              </a:rPr>
              <a:t>18:45–19:45</a:t>
            </a:r>
          </a:p>
        </p:txBody>
      </p:sp>
      <p:sp>
        <p:nvSpPr>
          <p:cNvPr id="75" name="Rectangle 74"/>
          <p:cNvSpPr/>
          <p:nvPr/>
        </p:nvSpPr>
        <p:spPr>
          <a:xfrm>
            <a:off x="2500426" y="5358384"/>
            <a:ext cx="6718096"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10154" y="5358384"/>
            <a:ext cx="6516928"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FINAL ASSESSMENT — Case Study (CS) · 3 scenario-based questions covering A1…</a:t>
            </a:r>
          </a:p>
        </p:txBody>
      </p:sp>
      <p:sp>
        <p:nvSpPr>
          <p:cNvPr id="77" name="Rectangle 76"/>
          <p:cNvSpPr/>
          <p:nvPr/>
        </p:nvSpPr>
        <p:spPr>
          <a:xfrm>
            <a:off x="9218522" y="5358384"/>
            <a:ext cx="2275484" cy="329184"/>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328250" y="5358384"/>
            <a:ext cx="2074316" cy="329184"/>
          </a:xfrm>
          <a:prstGeom prst="rect">
            <a:avLst/>
          </a:prstGeom>
          <a:noFill/>
        </p:spPr>
        <p:txBody>
          <a:bodyPr wrap="square" anchor="ctr" lIns="0" rIns="0">
            <a:spAutoFit/>
          </a:bodyPr>
          <a:lstStyle/>
          <a:p>
            <a:pPr algn="l">
              <a:spcAft>
                <a:spcPts val="400"/>
              </a:spcAft>
            </a:pPr>
            <a:r>
              <a:rPr sz="900" b="0">
                <a:solidFill>
                  <a:srgbClr val="161B26"/>
                </a:solidFill>
                <a:latin typeface="Arial"/>
              </a:rPr>
              <a:t>Assessment</a:t>
            </a:r>
          </a:p>
        </p:txBody>
      </p:sp>
      <p:sp>
        <p:nvSpPr>
          <p:cNvPr id="79" name="Rectangle 7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7 hours of facilitation + 2 hours of assessment (9:30 am – 7:45 pm). Course total: 14 h facilitation + 2 h assessment.</a:t>
            </a:r>
          </a:p>
        </p:txBody>
      </p:sp>
      <p:sp>
        <p:nvSpPr>
          <p:cNvPr id="81" name="TextBox 8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2" name="TextBox 8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83" name="TextBox 8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BEFORE THE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Phones away</a:t>
            </a:r>
          </a:p>
          <a:p>
            <a:pPr algn="l">
              <a:spcAft>
                <a:spcPts val="300"/>
              </a:spcAft>
            </a:pPr>
            <a:r>
              <a:rPr sz="1200" b="0">
                <a:solidFill>
                  <a:srgbClr val="5B6372"/>
                </a:solidFill>
                <a:latin typeface="Arial"/>
              </a:rPr>
              <a:t>Place phones and all other materials under the table or on the floor.</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No recording</a:t>
            </a:r>
          </a:p>
          <a:p>
            <a:pPr algn="l">
              <a:spcAft>
                <a:spcPts val="300"/>
              </a:spcAft>
            </a:pPr>
            <a:r>
              <a:rPr sz="1200" b="0">
                <a:solidFill>
                  <a:srgbClr val="5B6372"/>
                </a:solidFill>
                <a:latin typeface="Arial"/>
              </a:rPr>
              <a:t>No photographs or recording of the assessment scripts.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Work alone</a:t>
            </a:r>
          </a:p>
          <a:p>
            <a:pPr algn="l">
              <a:spcAft>
                <a:spcPts val="300"/>
              </a:spcAft>
            </a:pPr>
            <a:r>
              <a:rPr sz="1200" b="0">
                <a:solidFill>
                  <a:srgbClr val="5B6372"/>
                </a:solidFill>
                <a:latin typeface="Arial"/>
              </a:rPr>
              <a:t>No discussion with other learners during the assessment.</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Black or blue pen</a:t>
            </a:r>
          </a:p>
          <a:p>
            <a:pPr algn="l">
              <a:spcAft>
                <a:spcPts val="300"/>
              </a:spcAft>
            </a:pPr>
            <a:r>
              <a:rPr sz="1200" b="0">
                <a:solidFill>
                  <a:srgbClr val="5B6372"/>
                </a:solidFill>
                <a:latin typeface="Arial"/>
              </a:rPr>
              <a:t>No liquid paper and no correction tape.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Raise your hand</a:t>
            </a:r>
          </a:p>
          <a:p>
            <a:pPr algn="l">
              <a:spcAft>
                <a:spcPts val="300"/>
              </a:spcAft>
            </a:pPr>
            <a:r>
              <a:rPr sz="1200" b="0">
                <a:solidFill>
                  <a:srgbClr val="5B6372"/>
                </a:solidFill>
                <a:latin typeface="Arial"/>
              </a:rPr>
              <a:t>The assessor will come to you if you have a question.</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Time is called</a:t>
            </a:r>
          </a:p>
          <a:p>
            <a:pPr algn="l">
              <a:spcAft>
                <a:spcPts val="300"/>
              </a:spcAft>
            </a:pPr>
            <a:r>
              <a:rPr sz="1200" b="0">
                <a:solidFill>
                  <a:srgbClr val="5B6372"/>
                </a:solidFill>
                <a:latin typeface="Arial"/>
              </a:rPr>
              <a:t>Scripts are collected when the time is up.</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FINAL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Written Assessment (SAQ)</a:t>
            </a:r>
          </a:p>
          <a:p>
            <a:pPr algn="l">
              <a:spcAft>
                <a:spcPts val="300"/>
              </a:spcAft>
            </a:pPr>
            <a:r>
              <a:rPr sz="1200" b="0">
                <a:solidFill>
                  <a:srgbClr val="5B6372"/>
                </a:solidFill>
                <a:latin typeface="Arial"/>
              </a:rPr>
              <a:t>4 short-answer questions · 60 minutes · covers K1–K4.</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3 scenario-based questions · 60 minutes · covers A1–A3.</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Slides, Learner Guide, activity briefs and your own notes.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Individual work</a:t>
            </a:r>
          </a:p>
          <a:p>
            <a:pPr algn="l">
              <a:spcAft>
                <a:spcPts val="300"/>
              </a:spcAft>
            </a:pPr>
            <a:r>
              <a:rPr sz="1200" b="0">
                <a:solidFill>
                  <a:srgbClr val="5B6372"/>
                </a:solidFill>
                <a:latin typeface="Arial"/>
              </a:rPr>
              <a:t>Both instruments are completed individually.</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Grading</a:t>
            </a:r>
          </a:p>
          <a:p>
            <a:pPr algn="l">
              <a:spcAft>
                <a:spcPts val="300"/>
              </a:spcAft>
            </a:pPr>
            <a:r>
              <a:rPr sz="1200" b="0">
                <a:solidFill>
                  <a:srgbClr val="5B6372"/>
                </a:solidFill>
                <a:latin typeface="Arial"/>
              </a:rPr>
              <a:t>Competent (C) / Not Yet Competent (NYC) — all answers must be correct to be Competent.</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Appeals</a:t>
            </a:r>
          </a:p>
          <a:p>
            <a:pPr algn="l">
              <a:spcAft>
                <a:spcPts val="300"/>
              </a:spcAft>
            </a:pPr>
            <a:r>
              <a:rPr sz="1200" b="0">
                <a:solidFill>
                  <a:srgbClr val="5B6372"/>
                </a:solidFill>
                <a:latin typeface="Arial"/>
              </a:rPr>
              <a:t>An appeal process is available if you disagree with the outcome.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ON ASSESSMENT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TRAQOM — scan the QR code on the LMS</a:t>
            </a:r>
          </a:p>
        </p:txBody>
      </p:sp>
      <p:sp>
        <p:nvSpPr>
          <p:cNvPr id="12" name="Chevron 11"/>
          <p:cNvSpPr/>
          <p:nvPr/>
        </p:nvSpPr>
        <p:spPr>
          <a:xfrm>
            <a:off x="2595067"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Assessment digital attendance — scan the SSG QR</a:t>
            </a:r>
          </a:p>
        </p:txBody>
      </p:sp>
      <p:sp>
        <p:nvSpPr>
          <p:cNvPr id="18" name="Chevron 17"/>
          <p:cNvSpPr/>
          <p:nvPr/>
        </p:nvSpPr>
        <p:spPr>
          <a:xfrm>
            <a:off x="4824374"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Sit the WA (SAQ) 1 hr, then the Case Study 1 hr — open book</a:t>
            </a:r>
          </a:p>
        </p:txBody>
      </p:sp>
      <p:sp>
        <p:nvSpPr>
          <p:cNvPr id="24" name="Chevron 23"/>
          <p:cNvSpPr/>
          <p:nvPr/>
        </p:nvSpPr>
        <p:spPr>
          <a:xfrm>
            <a:off x="7053681"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answers on the LMS</a:t>
            </a:r>
          </a:p>
        </p:txBody>
      </p:sp>
      <p:sp>
        <p:nvSpPr>
          <p:cNvPr id="30" name="Chevron 29"/>
          <p:cNvSpPr/>
          <p:nvPr/>
        </p:nvSpPr>
        <p:spPr>
          <a:xfrm>
            <a:off x="9282988"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Sign the Assessment Summary Record</a:t>
            </a:r>
          </a:p>
        </p:txBody>
      </p:sp>
      <p:sp>
        <p:nvSpPr>
          <p:cNvPr id="36" name="TextBox 35"/>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7" name="TextBox 36"/>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ELIGIBILITY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Criteria for WSQ Funding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Funding validity</a:t>
            </a:r>
          </a:p>
          <a:p>
            <a:pPr algn="l">
              <a:spcAft>
                <a:spcPts val="300"/>
              </a:spcAft>
            </a:pPr>
            <a:r>
              <a:rPr sz="1200" b="0">
                <a:solidFill>
                  <a:srgbClr val="5B6372"/>
                </a:solidFill>
                <a:latin typeface="Arial"/>
              </a:rPr>
              <a:t>This course is funded from 11 Apr 2025 to 10 Apr 2027.</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Attendance</a:t>
            </a:r>
          </a:p>
          <a:p>
            <a:pPr algn="l">
              <a:spcAft>
                <a:spcPts val="300"/>
              </a:spcAft>
            </a:pPr>
            <a:r>
              <a:rPr sz="1200" b="0">
                <a:solidFill>
                  <a:srgbClr val="5B6372"/>
                </a:solidFill>
                <a:latin typeface="Arial"/>
              </a:rPr>
              <a:t>Minimum 75% attendance based on the SSG digital attendance record.</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Assessment</a:t>
            </a:r>
          </a:p>
          <a:p>
            <a:pPr algn="l">
              <a:spcAft>
                <a:spcPts val="300"/>
              </a:spcAft>
            </a:pPr>
            <a:r>
              <a:rPr sz="1200" b="0">
                <a:solidFill>
                  <a:srgbClr val="5B6372"/>
                </a:solidFill>
                <a:latin typeface="Arial"/>
              </a:rPr>
              <a:t>Complete both instruments and be assessed as Competent (C).</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TRAQOM</a:t>
            </a:r>
          </a:p>
          <a:p>
            <a:pPr algn="l">
              <a:spcAft>
                <a:spcPts val="300"/>
              </a:spcAft>
            </a:pPr>
            <a:r>
              <a:rPr sz="1200" b="0">
                <a:solidFill>
                  <a:srgbClr val="5B6372"/>
                </a:solidFill>
                <a:latin typeface="Arial"/>
              </a:rPr>
              <a:t>Complete the TRAQOM survey on the LMS.</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SkillsFuture Credit</a:t>
            </a:r>
          </a:p>
          <a:p>
            <a:pPr algn="l">
              <a:spcAft>
                <a:spcPts val="300"/>
              </a:spcAft>
            </a:pPr>
            <a:r>
              <a:rPr sz="1200" b="0">
                <a:solidFill>
                  <a:srgbClr val="5B6372"/>
                </a:solidFill>
                <a:latin typeface="Arial"/>
              </a:rPr>
              <a:t>Eligible individuals may use SkillsFuture Credit to offset course fees. See www.skillsfuture.gov.sg.</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Course code</a:t>
            </a:r>
          </a:p>
          <a:p>
            <a:pPr algn="l">
              <a:spcAft>
                <a:spcPts val="300"/>
              </a:spcAft>
            </a:pPr>
            <a:r>
              <a:rPr sz="1200" b="0">
                <a:solidFill>
                  <a:srgbClr val="5B6372"/>
                </a:solidFill>
                <a:latin typeface="Arial"/>
              </a:rPr>
              <a:t>TGS-2025054479 · TSC ACC-IAD-3005-1.1</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01</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ISO 14001:2015 Internal Auditor Framework</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IPPF · the EMS and Annex SL · Clauses 4–10 · aspects, impacts and compliance obligations · risk-based thinking</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18</a:t>
            </a:r>
          </a:p>
        </p:txBody>
      </p:sp>
    </p:spTree>
  </p:cSld>
  <p:clrMapOvr>
    <a:masterClrMapping/>
  </p:clrMapOvr>
  <p:transition spd="med" advClick="1">
    <p:push dir="l"/>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WHY WE ARE HERE</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An internal audit is not an inspection.</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It is a systematic, independent and documented process for obtaining evidence and evaluating it objectively against agreed criteria.</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ROLE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an Internal EMS Auditor Actually Does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Verifies conformity</a:t>
            </a:r>
          </a:p>
          <a:p>
            <a:pPr algn="l">
              <a:spcAft>
                <a:spcPts val="300"/>
              </a:spcAft>
            </a:pPr>
            <a:r>
              <a:rPr sz="1100" b="0">
                <a:solidFill>
                  <a:srgbClr val="5B6372"/>
                </a:solidFill>
                <a:latin typeface="Arial"/>
              </a:rPr>
              <a:t>Tests the EMS against ISO 14001:2015 AND the organisation's own requirements — clause 9.2.1 requires both.</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Tests effectiveness</a:t>
            </a:r>
          </a:p>
          <a:p>
            <a:pPr algn="l">
              <a:spcAft>
                <a:spcPts val="300"/>
              </a:spcAft>
            </a:pPr>
            <a:r>
              <a:rPr sz="1100" b="0">
                <a:solidFill>
                  <a:srgbClr val="5B6372"/>
                </a:solidFill>
                <a:latin typeface="Arial"/>
              </a:rPr>
              <a:t>Not just 'is there a procedure' but 'is it implemented, maintained and working'.</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Gathers objective evidence</a:t>
            </a:r>
          </a:p>
          <a:p>
            <a:pPr algn="l">
              <a:spcAft>
                <a:spcPts val="300"/>
              </a:spcAft>
            </a:pPr>
            <a:r>
              <a:rPr sz="1100" b="0">
                <a:solidFill>
                  <a:srgbClr val="5B6372"/>
                </a:solidFill>
                <a:latin typeface="Arial"/>
              </a:rPr>
              <a:t>Records, documented information, observations and interview responses — never opinion.</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Reports to management</a:t>
            </a:r>
          </a:p>
          <a:p>
            <a:pPr algn="l">
              <a:spcAft>
                <a:spcPts val="300"/>
              </a:spcAft>
            </a:pPr>
            <a:r>
              <a:rPr sz="1100" b="0">
                <a:solidFill>
                  <a:srgbClr val="5B6372"/>
                </a:solidFill>
                <a:latin typeface="Arial"/>
              </a:rPr>
              <a:t>Findings go to the people who can act on them, and feed clause 9.3 management review.</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Supports improvement</a:t>
            </a:r>
          </a:p>
          <a:p>
            <a:pPr algn="l">
              <a:spcAft>
                <a:spcPts val="300"/>
              </a:spcAft>
            </a:pPr>
            <a:r>
              <a:rPr sz="1100" b="0">
                <a:solidFill>
                  <a:srgbClr val="5B6372"/>
                </a:solidFill>
                <a:latin typeface="Arial"/>
              </a:rPr>
              <a:t>Findings drive corrective action under clause 10.2 and continual improvement under 10.3.</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Stays independent</a:t>
            </a:r>
          </a:p>
          <a:p>
            <a:pPr algn="l">
              <a:spcAft>
                <a:spcPts val="300"/>
              </a:spcAft>
            </a:pPr>
            <a:r>
              <a:rPr sz="1100" b="0">
                <a:solidFill>
                  <a:srgbClr val="5B6372"/>
                </a:solidFill>
                <a:latin typeface="Arial"/>
              </a:rPr>
              <a:t>Auditors do not audit their own work — clause 9.2.2 requires objectivity and impartiality.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K1 · KNOWLEDGE</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The International Professional Practices Framework</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The professional framework that governs how internal auditors behave and work</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1.1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21</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FOUR MANDATORY COMPONENTS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IPPF — Mandatory Guidance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Definition of Internal Auditing</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independent, objective assurance and consulting activity designed to add value and improve an organisation's operations, using a systematic, disciplined approach.</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Code of Ethics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Integrity · Objectivity · Confidentiality · Competency — the rules of conduct that govern auditor behaviour.</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Core Principles</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fundamental characteristics of effective internal auditing: integrity, competence, due professional care, objectivity, alignment with strategy, and insight.</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International Standards</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Standards for the Professional Practice of Internal Auditing — attribute standards (who we are) and performance standards (what we do).</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All four are MANDATORY. Conformance is required for anyone claiming to practise internal auditing under the IPPF — and each one is examinable in this course.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HOW ETHICS SHOWS UP IN AN AUDIT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Code of Ethics — Four Principles in Practice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Integrity</a:t>
            </a:r>
          </a:p>
          <a:p>
            <a:pPr algn="l">
              <a:spcAft>
                <a:spcPts val="300"/>
              </a:spcAft>
            </a:pPr>
            <a:r>
              <a:rPr sz="1200" b="0">
                <a:solidFill>
                  <a:srgbClr val="5B6372"/>
                </a:solidFill>
                <a:latin typeface="Arial"/>
              </a:rPr>
              <a:t>Perform work with honesty, diligence and responsibility. Do not knowingly be party to any illegal activity.</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Objectivity</a:t>
            </a:r>
          </a:p>
          <a:p>
            <a:pPr algn="l">
              <a:spcAft>
                <a:spcPts val="300"/>
              </a:spcAft>
            </a:pPr>
            <a:r>
              <a:rPr sz="1200" b="0">
                <a:solidFill>
                  <a:srgbClr val="5B6372"/>
                </a:solidFill>
                <a:latin typeface="Arial"/>
              </a:rPr>
              <a:t>Maintain an unbiased mental attitude. Do NOT audit an area where you have operational responsibility.</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Confidentiality</a:t>
            </a:r>
          </a:p>
          <a:p>
            <a:pPr algn="l">
              <a:spcAft>
                <a:spcPts val="300"/>
              </a:spcAft>
            </a:pPr>
            <a:r>
              <a:rPr sz="1200" b="0">
                <a:solidFill>
                  <a:srgbClr val="5B6372"/>
                </a:solidFill>
                <a:latin typeface="Arial"/>
              </a:rPr>
              <a:t>Respect the value and ownership of information received; do not disclose it without authority.</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Competency</a:t>
            </a:r>
          </a:p>
          <a:p>
            <a:pPr algn="l">
              <a:spcAft>
                <a:spcPts val="300"/>
              </a:spcAft>
            </a:pPr>
            <a:r>
              <a:rPr sz="1200" b="0">
                <a:solidFill>
                  <a:srgbClr val="5B6372"/>
                </a:solidFill>
                <a:latin typeface="Arial"/>
              </a:rPr>
              <a:t>Apply the knowledge, skills and experience needed. Decline — or get support for — work you are not competent to do.</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14001 CL. 9.2.2 · IPPF OBJECTIVITY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Independence and Objectivity — the Two Failure Modes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IMPAIRED — do not do this</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Auditing the department you work in</a:t>
            </a:r>
          </a:p>
          <a:p>
            <a:pPr>
              <a:spcAft>
                <a:spcPts val="700"/>
              </a:spcAft>
            </a:pPr>
            <a:r>
              <a:rPr sz="1100" b="0">
                <a:solidFill>
                  <a:srgbClr val="5B6372"/>
                </a:solidFill>
                <a:latin typeface="Arial"/>
              </a:rPr>
              <a:t>–  Auditing a procedure you personally wrote</a:t>
            </a:r>
          </a:p>
          <a:p>
            <a:pPr>
              <a:spcAft>
                <a:spcPts val="700"/>
              </a:spcAft>
            </a:pPr>
            <a:r>
              <a:rPr sz="1100" b="0">
                <a:solidFill>
                  <a:srgbClr val="5B6372"/>
                </a:solidFill>
                <a:latin typeface="Arial"/>
              </a:rPr>
              <a:t>–  Auditing your own corrective actions from last year</a:t>
            </a:r>
          </a:p>
          <a:p>
            <a:pPr>
              <a:spcAft>
                <a:spcPts val="700"/>
              </a:spcAft>
            </a:pPr>
            <a:r>
              <a:rPr sz="1100" b="0">
                <a:solidFill>
                  <a:srgbClr val="5B6372"/>
                </a:solidFill>
                <a:latin typeface="Arial"/>
              </a:rPr>
              <a:t>–  Accepting gifts or hospitality from the auditee</a:t>
            </a:r>
          </a:p>
          <a:p>
            <a:pPr>
              <a:spcAft>
                <a:spcPts val="700"/>
              </a:spcAft>
            </a:pPr>
            <a:r>
              <a:rPr sz="1100" b="0">
                <a:solidFill>
                  <a:srgbClr val="5B6372"/>
                </a:solidFill>
                <a:latin typeface="Arial"/>
              </a:rPr>
              <a:t>–  Consulting mid-audit: 'what you should do is buy a new bund'</a:t>
            </a:r>
          </a:p>
          <a:p>
            <a:pPr>
              <a:spcAft>
                <a:spcPts val="700"/>
              </a:spcAft>
            </a:pPr>
            <a:r>
              <a:rPr sz="1100" b="0">
                <a:solidFill>
                  <a:srgbClr val="5B6372"/>
                </a:solidFill>
                <a:latin typeface="Arial"/>
              </a:rPr>
              <a:t>–  Being pressured to downgrade a finding</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INTACT — this is the standard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Auditing a department other than your own</a:t>
            </a:r>
          </a:p>
          <a:p>
            <a:pPr>
              <a:spcAft>
                <a:spcPts val="700"/>
              </a:spcAft>
            </a:pPr>
            <a:r>
              <a:rPr sz="1100" b="0">
                <a:solidFill>
                  <a:srgbClr val="5B6372"/>
                </a:solidFill>
                <a:latin typeface="Arial"/>
              </a:rPr>
              <a:t>–  Declaring any prior involvement before the audit starts</a:t>
            </a:r>
          </a:p>
          <a:p>
            <a:pPr>
              <a:spcAft>
                <a:spcPts val="700"/>
              </a:spcAft>
            </a:pPr>
            <a:r>
              <a:rPr sz="1100" b="0">
                <a:solidFill>
                  <a:srgbClr val="5B6372"/>
                </a:solidFill>
                <a:latin typeface="Arial"/>
              </a:rPr>
              <a:t>–  A second auditor verifies your own area</a:t>
            </a:r>
          </a:p>
          <a:p>
            <a:pPr>
              <a:spcAft>
                <a:spcPts val="700"/>
              </a:spcAft>
            </a:pPr>
            <a:r>
              <a:rPr sz="1100" b="0">
                <a:solidFill>
                  <a:srgbClr val="5B6372"/>
                </a:solidFill>
                <a:latin typeface="Arial"/>
              </a:rPr>
              <a:t>–  Findings graded on evidence, not on how the auditee reacts</a:t>
            </a:r>
          </a:p>
          <a:p>
            <a:pPr>
              <a:spcAft>
                <a:spcPts val="700"/>
              </a:spcAft>
            </a:pPr>
            <a:r>
              <a:rPr sz="1100" b="0">
                <a:solidFill>
                  <a:srgbClr val="5B6372"/>
                </a:solidFill>
                <a:latin typeface="Arial"/>
              </a:rPr>
              <a:t>–  You note the gap; the auditee designs the fix</a:t>
            </a:r>
          </a:p>
          <a:p>
            <a:pPr>
              <a:spcAft>
                <a:spcPts val="700"/>
              </a:spcAft>
            </a:pPr>
            <a:r>
              <a:rPr sz="1100" b="0">
                <a:solidFill>
                  <a:srgbClr val="5B6372"/>
                </a:solidFill>
                <a:latin typeface="Arial"/>
              </a:rPr>
              <a:t>–  Impartiality recorded in the audit plan</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9.2.2 requires the organisation to 'select auditors and conduct audits to ensure objectivity and the impartiality of the audit process'. In a small company, cross-departmental auditing is the usual solution.</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K1 · KNOWLEDGE</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ISO 14001:2015 and the Environmental Management System</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What the standard is, how it is structured, and what an EMS is for</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1.2</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25</a:t>
            </a:r>
          </a:p>
        </p:txBody>
      </p:sp>
    </p:spTree>
  </p:cSld>
  <p:clrMapOvr>
    <a:masterClrMapping/>
  </p:clrMapOvr>
  <p:transition spd="med" advClick="1">
    <p:push dir="l"/>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STANDARD IN ONE SLIDE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is ISO 14001:2015?</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An EMS standard</a:t>
            </a:r>
          </a:p>
          <a:p>
            <a:pPr algn="l">
              <a:spcAft>
                <a:spcPts val="300"/>
              </a:spcAft>
            </a:pPr>
            <a:r>
              <a:rPr sz="1200" b="0">
                <a:solidFill>
                  <a:srgbClr val="5B6372"/>
                </a:solidFill>
                <a:latin typeface="Arial"/>
              </a:rPr>
              <a:t>Specifies requirements for an environmental management system an organisation can use to enhance its environmental performance.</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Certifiable</a:t>
            </a:r>
          </a:p>
          <a:p>
            <a:pPr algn="l">
              <a:spcAft>
                <a:spcPts val="300"/>
              </a:spcAft>
            </a:pPr>
            <a:r>
              <a:rPr sz="1200" b="0">
                <a:solidFill>
                  <a:srgbClr val="5B6372"/>
                </a:solidFill>
                <a:latin typeface="Arial"/>
              </a:rPr>
              <a:t>The requirements are auditable; organisations can be certified to it by an accredited certification body.</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No performance levels</a:t>
            </a:r>
          </a:p>
          <a:p>
            <a:pPr algn="l">
              <a:spcAft>
                <a:spcPts val="300"/>
              </a:spcAft>
            </a:pPr>
            <a:r>
              <a:rPr sz="1200" b="0">
                <a:solidFill>
                  <a:srgbClr val="5B6372"/>
                </a:solidFill>
                <a:latin typeface="Arial"/>
              </a:rPr>
              <a:t>The standard does NOT state specific environmental performance criteria — the organisation sets its own.</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No exclusions</a:t>
            </a:r>
          </a:p>
          <a:p>
            <a:pPr algn="l">
              <a:spcAft>
                <a:spcPts val="300"/>
              </a:spcAft>
            </a:pPr>
            <a:r>
              <a:rPr sz="1200" b="0">
                <a:solidFill>
                  <a:srgbClr val="5B6372"/>
                </a:solidFill>
                <a:latin typeface="Arial"/>
              </a:rPr>
              <a:t>Unlike ISO 9001, there is no clause-exclusion mechanism. All requirements must be incorporated and fulfilled.</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1 · WHAT THE EMS IS FOR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Three Intended Outcomes of an EMS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Enhancement of environmental performance</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EMS must actually improve how the organisation performs environmentally — not merely document what it already does.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Fulfilment of compliance obligations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Legal requirements the organisation has to comply with, and other requirements it has to or chooses to comply with.</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Achievement of environmental objectives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Objectives set by the organisation, consistent with its environmental policy and its significant environmental aspects.</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Every audit finding you write should ultimately connect to one of these three outcomes. If it does not, ask yourself whether it is really a finding.</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STRUCTURE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PDCA — the Engine of the Standard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dca_clauses.png"/>
          <p:cNvPicPr>
            <a:picLocks noChangeAspect="1"/>
          </p:cNvPicPr>
          <p:nvPr/>
        </p:nvPicPr>
        <p:blipFill>
          <a:blip r:embed="rId2"/>
          <a:stretch>
            <a:fillRect/>
          </a:stretch>
        </p:blipFill>
        <p:spPr>
          <a:xfrm>
            <a:off x="2823075" y="1719072"/>
            <a:ext cx="6545544"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Plan (clauses 4–7) · Do (clause 8) · Check (clause 9) · Act (clause 10). Context (4.1/4.2) encircles the whole cycle. Continual improvement is the purpose, not a by-product.</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CLAUSES 4–10 · WHAT YOU AUDIT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10 Clauses — Annex SL High Level Structure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use_structure.png"/>
          <p:cNvPicPr>
            <a:picLocks noChangeAspect="1"/>
          </p:cNvPicPr>
          <p:nvPr/>
        </p:nvPicPr>
        <p:blipFill>
          <a:blip r:embed="rId2"/>
          <a:stretch>
            <a:fillRect/>
          </a:stretch>
        </p:blipFill>
        <p:spPr>
          <a:xfrm>
            <a:off x="2395064" y="1719072"/>
            <a:ext cx="7401566"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Clauses 1–3 are Scope, Normative references and Terms. Clauses 4–10 carry every auditable requirement. The identical high level structure is what lets ISO 14001 integrate with ISO 9001 and ISO 45001.</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READ THE STANDARD LIKE AN AUDITOR</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Verbal Forms — What Is Actually Auditable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516989"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315821"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Form</a:t>
            </a:r>
          </a:p>
        </p:txBody>
      </p:sp>
      <p:sp>
        <p:nvSpPr>
          <p:cNvPr id="9" name="Rectangle 8"/>
          <p:cNvSpPr/>
          <p:nvPr/>
        </p:nvSpPr>
        <p:spPr>
          <a:xfrm>
            <a:off x="2175357" y="1737360"/>
            <a:ext cx="4334256"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5085" y="1737360"/>
            <a:ext cx="4133088"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Meaning</a:t>
            </a:r>
          </a:p>
        </p:txBody>
      </p:sp>
      <p:sp>
        <p:nvSpPr>
          <p:cNvPr id="11" name="Rectangle 10"/>
          <p:cNvSpPr/>
          <p:nvPr/>
        </p:nvSpPr>
        <p:spPr>
          <a:xfrm>
            <a:off x="6509613" y="1737360"/>
            <a:ext cx="4984394" cy="79004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9341" y="1737360"/>
            <a:ext cx="4783226" cy="790041"/>
          </a:xfrm>
          <a:prstGeom prst="rect">
            <a:avLst/>
          </a:prstGeom>
          <a:noFill/>
        </p:spPr>
        <p:txBody>
          <a:bodyPr wrap="square" anchor="ctr" lIns="0" rIns="0">
            <a:spAutoFit/>
          </a:bodyPr>
          <a:lstStyle/>
          <a:p>
            <a:pPr algn="l">
              <a:spcAft>
                <a:spcPts val="400"/>
              </a:spcAft>
            </a:pPr>
            <a:r>
              <a:rPr sz="1200" b="1">
                <a:solidFill>
                  <a:srgbClr val="FFFFFF"/>
                </a:solidFill>
                <a:latin typeface="Arial"/>
              </a:rPr>
              <a:t>Auditable?</a:t>
            </a:r>
          </a:p>
        </p:txBody>
      </p:sp>
      <p:sp>
        <p:nvSpPr>
          <p:cNvPr id="13" name="Rectangle 12"/>
          <p:cNvSpPr/>
          <p:nvPr/>
        </p:nvSpPr>
        <p:spPr>
          <a:xfrm>
            <a:off x="658368" y="2527401"/>
            <a:ext cx="1516989"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shall</a:t>
            </a:r>
          </a:p>
        </p:txBody>
      </p:sp>
      <p:sp>
        <p:nvSpPr>
          <p:cNvPr id="15" name="Rectangle 14"/>
          <p:cNvSpPr/>
          <p:nvPr/>
        </p:nvSpPr>
        <p:spPr>
          <a:xfrm>
            <a:off x="2175357"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5085" y="2527401"/>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requirement</a:t>
            </a:r>
          </a:p>
        </p:txBody>
      </p:sp>
      <p:sp>
        <p:nvSpPr>
          <p:cNvPr id="17" name="Rectangle 16"/>
          <p:cNvSpPr/>
          <p:nvPr/>
        </p:nvSpPr>
        <p:spPr>
          <a:xfrm>
            <a:off x="6509613" y="2527401"/>
            <a:ext cx="4984394"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9341" y="2527401"/>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YES — non-fulfilment is a nonconformity</a:t>
            </a:r>
          </a:p>
        </p:txBody>
      </p:sp>
      <p:sp>
        <p:nvSpPr>
          <p:cNvPr id="19" name="Rectangle 18"/>
          <p:cNvSpPr/>
          <p:nvPr/>
        </p:nvSpPr>
        <p:spPr>
          <a:xfrm>
            <a:off x="658368" y="3317442"/>
            <a:ext cx="1516989"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should</a:t>
            </a:r>
          </a:p>
        </p:txBody>
      </p:sp>
      <p:sp>
        <p:nvSpPr>
          <p:cNvPr id="21" name="Rectangle 20"/>
          <p:cNvSpPr/>
          <p:nvPr/>
        </p:nvSpPr>
        <p:spPr>
          <a:xfrm>
            <a:off x="2175357"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5085" y="3317442"/>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recommendation</a:t>
            </a:r>
          </a:p>
        </p:txBody>
      </p:sp>
      <p:sp>
        <p:nvSpPr>
          <p:cNvPr id="23" name="Rectangle 22"/>
          <p:cNvSpPr/>
          <p:nvPr/>
        </p:nvSpPr>
        <p:spPr>
          <a:xfrm>
            <a:off x="6509613" y="3317442"/>
            <a:ext cx="4984394"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9341" y="3317442"/>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 — cannot raise an NC against a 'should'</a:t>
            </a:r>
          </a:p>
        </p:txBody>
      </p:sp>
      <p:sp>
        <p:nvSpPr>
          <p:cNvPr id="25" name="Rectangle 24"/>
          <p:cNvSpPr/>
          <p:nvPr/>
        </p:nvSpPr>
        <p:spPr>
          <a:xfrm>
            <a:off x="658368" y="4107483"/>
            <a:ext cx="1516989"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may</a:t>
            </a:r>
          </a:p>
        </p:txBody>
      </p:sp>
      <p:sp>
        <p:nvSpPr>
          <p:cNvPr id="27" name="Rectangle 26"/>
          <p:cNvSpPr/>
          <p:nvPr/>
        </p:nvSpPr>
        <p:spPr>
          <a:xfrm>
            <a:off x="2175357"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85085" y="4107483"/>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permission</a:t>
            </a:r>
          </a:p>
        </p:txBody>
      </p:sp>
      <p:sp>
        <p:nvSpPr>
          <p:cNvPr id="29" name="Rectangle 28"/>
          <p:cNvSpPr/>
          <p:nvPr/>
        </p:nvSpPr>
        <p:spPr>
          <a:xfrm>
            <a:off x="6509613" y="4107483"/>
            <a:ext cx="4984394"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9341" y="4107483"/>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a:t>
            </a:r>
          </a:p>
        </p:txBody>
      </p:sp>
      <p:sp>
        <p:nvSpPr>
          <p:cNvPr id="31" name="Rectangle 30"/>
          <p:cNvSpPr/>
          <p:nvPr/>
        </p:nvSpPr>
        <p:spPr>
          <a:xfrm>
            <a:off x="658368" y="4897524"/>
            <a:ext cx="1516989"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315821" cy="790041"/>
          </a:xfrm>
          <a:prstGeom prst="rect">
            <a:avLst/>
          </a:prstGeom>
          <a:noFill/>
        </p:spPr>
        <p:txBody>
          <a:bodyPr wrap="square" anchor="ctr" lIns="0" rIns="0">
            <a:spAutoFit/>
          </a:bodyPr>
          <a:lstStyle/>
          <a:p>
            <a:pPr algn="l">
              <a:spcAft>
                <a:spcPts val="400"/>
              </a:spcAft>
            </a:pPr>
            <a:r>
              <a:rPr sz="1100" b="1">
                <a:solidFill>
                  <a:srgbClr val="161B26"/>
                </a:solidFill>
                <a:latin typeface="Arial"/>
              </a:rPr>
              <a:t>can</a:t>
            </a:r>
          </a:p>
        </p:txBody>
      </p:sp>
      <p:sp>
        <p:nvSpPr>
          <p:cNvPr id="33" name="Rectangle 32"/>
          <p:cNvSpPr/>
          <p:nvPr/>
        </p:nvSpPr>
        <p:spPr>
          <a:xfrm>
            <a:off x="2175357"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85085" y="4897524"/>
            <a:ext cx="4133088"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A possibility or capability</a:t>
            </a:r>
          </a:p>
        </p:txBody>
      </p:sp>
      <p:sp>
        <p:nvSpPr>
          <p:cNvPr id="35" name="Rectangle 34"/>
          <p:cNvSpPr/>
          <p:nvPr/>
        </p:nvSpPr>
        <p:spPr>
          <a:xfrm>
            <a:off x="6509613" y="4897524"/>
            <a:ext cx="4984394"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19341" y="4897524"/>
            <a:ext cx="4783226" cy="790041"/>
          </a:xfrm>
          <a:prstGeom prst="rect">
            <a:avLst/>
          </a:prstGeom>
          <a:noFill/>
        </p:spPr>
        <p:txBody>
          <a:bodyPr wrap="square" anchor="ctr" lIns="0" rIns="0">
            <a:spAutoFit/>
          </a:bodyPr>
          <a:lstStyle/>
          <a:p>
            <a:pPr algn="l">
              <a:spcAft>
                <a:spcPts val="400"/>
              </a:spcAft>
            </a:pPr>
            <a:r>
              <a:rPr sz="1100" b="0">
                <a:solidFill>
                  <a:srgbClr val="161B26"/>
                </a:solidFill>
                <a:latin typeface="Arial"/>
              </a:rPr>
              <a:t>No</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ISO 19011 is written entirely in 'should' — it is GUIDANCE. You audit against ISO 14001 clause 9.2, never 'against ISO 19011'.</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2015 REVISION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Changed: ISO 14001:2004 → 2015</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NEW OR STRENGTHENED</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Context of the organisation (4.1, 4.2)</a:t>
            </a:r>
          </a:p>
          <a:p>
            <a:pPr>
              <a:spcAft>
                <a:spcPts val="700"/>
              </a:spcAft>
            </a:pPr>
            <a:r>
              <a:rPr sz="1100" b="0">
                <a:solidFill>
                  <a:srgbClr val="5B6372"/>
                </a:solidFill>
                <a:latin typeface="Arial"/>
              </a:rPr>
              <a:t>–  Two-way: the organisation affects the environment AND environmental conditions affect the organisation</a:t>
            </a:r>
          </a:p>
          <a:p>
            <a:pPr>
              <a:spcAft>
                <a:spcPts val="700"/>
              </a:spcAft>
            </a:pPr>
            <a:r>
              <a:rPr sz="1300" b="1">
                <a:solidFill>
                  <a:srgbClr val="161B26"/>
                </a:solidFill>
                <a:latin typeface="Arial"/>
              </a:rPr>
              <a:t>•  Leadership (5.1) — top management must DEMONSTRATE leadership</a:t>
            </a:r>
          </a:p>
          <a:p>
            <a:pPr>
              <a:spcAft>
                <a:spcPts val="700"/>
              </a:spcAft>
            </a:pPr>
            <a:r>
              <a:rPr sz="1300" b="1">
                <a:solidFill>
                  <a:srgbClr val="161B26"/>
                </a:solidFill>
                <a:latin typeface="Arial"/>
              </a:rPr>
              <a:t>•  Risk-based thinking (6.1) — risks and opportunities</a:t>
            </a:r>
          </a:p>
          <a:p>
            <a:pPr>
              <a:spcAft>
                <a:spcPts val="700"/>
              </a:spcAft>
            </a:pPr>
            <a:r>
              <a:rPr sz="1300" b="1">
                <a:solidFill>
                  <a:srgbClr val="161B26"/>
                </a:solidFill>
                <a:latin typeface="Arial"/>
              </a:rPr>
              <a:t>•  Life cycle perspective (6.1.2, 8.1)</a:t>
            </a:r>
          </a:p>
          <a:p>
            <a:pPr>
              <a:spcAft>
                <a:spcPts val="700"/>
              </a:spcAft>
            </a:pPr>
            <a:r>
              <a:rPr sz="1300" b="1">
                <a:solidFill>
                  <a:srgbClr val="161B26"/>
                </a:solidFill>
                <a:latin typeface="Arial"/>
              </a:rPr>
              <a:t>•  Environmental performance emphasis (9.1.1, 10.3)</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REMOVED OR RENAMED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300" b="1">
                <a:solidFill>
                  <a:srgbClr val="161B26"/>
                </a:solidFill>
                <a:latin typeface="Arial"/>
              </a:rPr>
              <a:t>•  Preventive action — DELETED</a:t>
            </a:r>
          </a:p>
          <a:p>
            <a:pPr>
              <a:spcAft>
                <a:spcPts val="700"/>
              </a:spcAft>
            </a:pPr>
            <a:r>
              <a:rPr sz="1100" b="0">
                <a:solidFill>
                  <a:srgbClr val="5B6372"/>
                </a:solidFill>
                <a:latin typeface="Arial"/>
              </a:rPr>
              <a:t>–  The whole of clause 6.1 IS the preventive mechanism. Never raise an NC for 'no preventive action procedure'</a:t>
            </a:r>
          </a:p>
          <a:p>
            <a:pPr>
              <a:spcAft>
                <a:spcPts val="700"/>
              </a:spcAft>
            </a:pPr>
            <a:r>
              <a:rPr sz="1300" b="1">
                <a:solidFill>
                  <a:srgbClr val="161B26"/>
                </a:solidFill>
                <a:latin typeface="Arial"/>
              </a:rPr>
              <a:t>•  Management representative — no longer mandatory</a:t>
            </a:r>
          </a:p>
          <a:p>
            <a:pPr>
              <a:spcAft>
                <a:spcPts val="700"/>
              </a:spcAft>
            </a:pPr>
            <a:r>
              <a:rPr sz="1100" b="0">
                <a:solidFill>
                  <a:srgbClr val="5B6372"/>
                </a:solidFill>
                <a:latin typeface="Arial"/>
              </a:rPr>
              <a:t>–  Duties remain but may be distributed (5.3)</a:t>
            </a:r>
          </a:p>
          <a:p>
            <a:pPr>
              <a:spcAft>
                <a:spcPts val="700"/>
              </a:spcAft>
            </a:pPr>
            <a:r>
              <a:rPr sz="1300" b="1">
                <a:solidFill>
                  <a:srgbClr val="161B26"/>
                </a:solidFill>
                <a:latin typeface="Arial"/>
              </a:rPr>
              <a:t>•  'Documents' + 'records' → 'documented information'</a:t>
            </a:r>
          </a:p>
          <a:p>
            <a:pPr>
              <a:spcAft>
                <a:spcPts val="700"/>
              </a:spcAft>
            </a:pPr>
            <a:r>
              <a:rPr sz="1300" b="1">
                <a:solidFill>
                  <a:srgbClr val="161B26"/>
                </a:solidFill>
                <a:latin typeface="Arial"/>
              </a:rPr>
              <a:t>•  'Objectives and targets' → 'environmental objectives'</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The single most common auditor error on a transitioned EMS: raising a finding for a missing preventive-action procedure or a missing environmental manual. Neither is required by ISO 14001:2015.</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WHAT YOU AUDIT · CLAUSE 4</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4 — Context of the Organisation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4.1 Issues</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external and internal issues relevant to the EMS — INCLUDING environmental conditions capable of affecting the organisation. No documented information required.</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4.2 Interested parties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the parties, their relevant needs, and CRUCIALLY which of those needs the organisation adopts as compliance obligations.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4.3 Scope</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Boundaries and applicability. MUST be maintained as documented information and be available to interested parties.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4.4 The EMS</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 implement, maintain and continually improve the EMS including the processes needed and their interactions.</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Audit tip: 4.1 and 4.2 require NO documented information. Do not demand a 'context document' — test by interview and by tracing whether context actually shaped the aspects, obligations and objectives.</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WHAT YOU AUDIT · CLAUSE 5</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5 — Leadership</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5.1 Leadership and commitment</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Top management shall DEMONSTRATE leadership: take accountability for EMS effectiveness, integrate EMS requirements into business processes, ensure resources. Non-delegable — interview top management directly.</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5.2 Environmental policy</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Commitments to protection of the environment (including prevention of pollution), to fulfil compliance obligations, and to continual improvement. Maintained as documented information; communicated; available to interested parties.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5.3 Roles and responsibilities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Assigned AND communicated. Specific assignment for EMS conformity and for reporting EMS performance to top management. The 'management representative' is no longer mandatory.</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The strongest leadership test is not the signed policy on the wall — it is whether top management can describe the organisation's significant environmental aspects without being prompted.</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CORE CONCEPT OF THE STANDARD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6.1.2 — Environmental Aspects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pect_impact.png"/>
          <p:cNvPicPr>
            <a:picLocks noChangeAspect="1"/>
          </p:cNvPicPr>
          <p:nvPr/>
        </p:nvPicPr>
        <p:blipFill>
          <a:blip r:embed="rId2"/>
          <a:stretch>
            <a:fillRect/>
          </a:stretch>
        </p:blipFill>
        <p:spPr>
          <a:xfrm>
            <a:off x="658368" y="2294710"/>
            <a:ext cx="6035040" cy="2862938"/>
          </a:xfrm>
          <a:prstGeom prst="rect">
            <a:avLst/>
          </a:prstGeom>
        </p:spPr>
      </p:pic>
      <p:sp>
        <p:nvSpPr>
          <p:cNvPr id="8" name="Rectangle 7"/>
          <p:cNvSpPr/>
          <p:nvPr/>
        </p:nvSpPr>
        <p:spPr>
          <a:xfrm>
            <a:off x="6986016" y="1737360"/>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86016" y="1737360"/>
            <a:ext cx="82296" cy="87096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0" y="1737360"/>
            <a:ext cx="4087368" cy="870965"/>
          </a:xfrm>
          <a:prstGeom prst="rect">
            <a:avLst/>
          </a:prstGeom>
          <a:noFill/>
        </p:spPr>
        <p:txBody>
          <a:bodyPr wrap="square" anchor="ctr" lIns="0" rIns="0">
            <a:spAutoFit/>
          </a:bodyPr>
          <a:lstStyle/>
          <a:p>
            <a:pPr algn="l">
              <a:spcAft>
                <a:spcPts val="200"/>
              </a:spcAft>
            </a:pPr>
            <a:r>
              <a:rPr sz="1300" b="1">
                <a:solidFill>
                  <a:srgbClr val="1F6FEB"/>
                </a:solidFill>
                <a:latin typeface="Arial"/>
              </a:rPr>
              <a:t>Aspect = the CAUSE</a:t>
            </a:r>
          </a:p>
          <a:p>
            <a:pPr algn="l">
              <a:spcAft>
                <a:spcPts val="200"/>
              </a:spcAft>
            </a:pPr>
            <a:r>
              <a:rPr sz="1100" b="0">
                <a:solidFill>
                  <a:srgbClr val="161B26"/>
                </a:solidFill>
                <a:latin typeface="Arial"/>
              </a:rPr>
              <a:t>The element of your activity that interacts with the environment. You control it.</a:t>
            </a:r>
          </a:p>
        </p:txBody>
      </p:sp>
      <p:sp>
        <p:nvSpPr>
          <p:cNvPr id="11" name="Rectangle 10"/>
          <p:cNvSpPr/>
          <p:nvPr/>
        </p:nvSpPr>
        <p:spPr>
          <a:xfrm>
            <a:off x="6986016" y="2772917"/>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86016" y="2772917"/>
            <a:ext cx="82296" cy="87096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0" y="2772917"/>
            <a:ext cx="4087368" cy="870965"/>
          </a:xfrm>
          <a:prstGeom prst="rect">
            <a:avLst/>
          </a:prstGeom>
          <a:noFill/>
        </p:spPr>
        <p:txBody>
          <a:bodyPr wrap="square" anchor="ctr" lIns="0" rIns="0">
            <a:spAutoFit/>
          </a:bodyPr>
          <a:lstStyle/>
          <a:p>
            <a:pPr algn="l">
              <a:spcAft>
                <a:spcPts val="200"/>
              </a:spcAft>
            </a:pPr>
            <a:r>
              <a:rPr sz="1300" b="1">
                <a:solidFill>
                  <a:srgbClr val="10B981"/>
                </a:solidFill>
                <a:latin typeface="Arial"/>
              </a:rPr>
              <a:t>Impact = the EFFECT</a:t>
            </a:r>
          </a:p>
          <a:p>
            <a:pPr algn="l">
              <a:spcAft>
                <a:spcPts val="200"/>
              </a:spcAft>
            </a:pPr>
            <a:r>
              <a:rPr sz="1100" b="0">
                <a:solidFill>
                  <a:srgbClr val="161B26"/>
                </a:solidFill>
                <a:latin typeface="Arial"/>
              </a:rPr>
              <a:t>The change to the environment — adverse OR beneficial.</a:t>
            </a:r>
          </a:p>
        </p:txBody>
      </p:sp>
      <p:sp>
        <p:nvSpPr>
          <p:cNvPr id="14" name="Rectangle 13"/>
          <p:cNvSpPr/>
          <p:nvPr/>
        </p:nvSpPr>
        <p:spPr>
          <a:xfrm>
            <a:off x="6986016" y="3808474"/>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86016" y="3808474"/>
            <a:ext cx="82296" cy="87096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3808474"/>
            <a:ext cx="4087368" cy="870965"/>
          </a:xfrm>
          <a:prstGeom prst="rect">
            <a:avLst/>
          </a:prstGeom>
          <a:noFill/>
        </p:spPr>
        <p:txBody>
          <a:bodyPr wrap="square" anchor="ctr" lIns="0" rIns="0">
            <a:spAutoFit/>
          </a:bodyPr>
          <a:lstStyle/>
          <a:p>
            <a:pPr algn="l">
              <a:spcAft>
                <a:spcPts val="200"/>
              </a:spcAft>
            </a:pPr>
            <a:r>
              <a:rPr sz="1300" b="1">
                <a:solidFill>
                  <a:srgbClr val="7C3AED"/>
                </a:solidFill>
                <a:latin typeface="Arial"/>
              </a:rPr>
              <a:t>Control AND influence</a:t>
            </a:r>
          </a:p>
          <a:p>
            <a:pPr algn="l">
              <a:spcAft>
                <a:spcPts val="200"/>
              </a:spcAft>
            </a:pPr>
            <a:r>
              <a:rPr sz="1100" b="0">
                <a:solidFill>
                  <a:srgbClr val="161B26"/>
                </a:solidFill>
                <a:latin typeface="Arial"/>
              </a:rPr>
              <a:t>6.1.2 covers aspects you can control and those you can influence — not just inside the fence.</a:t>
            </a:r>
          </a:p>
        </p:txBody>
      </p:sp>
      <p:sp>
        <p:nvSpPr>
          <p:cNvPr id="17" name="Rectangle 16"/>
          <p:cNvSpPr/>
          <p:nvPr/>
        </p:nvSpPr>
        <p:spPr>
          <a:xfrm>
            <a:off x="6986016" y="4844031"/>
            <a:ext cx="4507992" cy="87096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86016" y="4844031"/>
            <a:ext cx="82296" cy="87096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4844031"/>
            <a:ext cx="4087368" cy="870965"/>
          </a:xfrm>
          <a:prstGeom prst="rect">
            <a:avLst/>
          </a:prstGeom>
          <a:noFill/>
        </p:spPr>
        <p:txBody>
          <a:bodyPr wrap="square" anchor="ctr" lIns="0" rIns="0">
            <a:spAutoFit/>
          </a:bodyPr>
          <a:lstStyle/>
          <a:p>
            <a:pPr algn="l">
              <a:spcAft>
                <a:spcPts val="200"/>
              </a:spcAft>
            </a:pPr>
            <a:r>
              <a:rPr sz="1300" b="1">
                <a:solidFill>
                  <a:srgbClr val="F59E0B"/>
                </a:solidFill>
                <a:latin typeface="Arial"/>
              </a:rPr>
              <a:t>Criteria decide significance</a:t>
            </a:r>
          </a:p>
          <a:p>
            <a:pPr algn="l">
              <a:spcAft>
                <a:spcPts val="200"/>
              </a:spcAft>
            </a:pPr>
            <a:r>
              <a:rPr sz="1100" b="0">
                <a:solidFill>
                  <a:srgbClr val="161B26"/>
                </a:solidFill>
                <a:latin typeface="Arial"/>
              </a:rPr>
              <a:t>Determine significant aspects BY USING ESTABLISHED CRITERIA. The criteria are auditable.</a:t>
            </a:r>
          </a:p>
        </p:txBody>
      </p:sp>
      <p:sp>
        <p:nvSpPr>
          <p:cNvPr id="20" name="Rectangle 19"/>
          <p:cNvSpPr/>
          <p:nvPr/>
        </p:nvSpPr>
        <p:spPr>
          <a:xfrm>
            <a:off x="658368" y="5833872"/>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33872"/>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 classic register errors: writing 'diesel generator' (that is equipment), or 'pollution' (that is an impact) in the aspect column.</a:t>
            </a:r>
          </a:p>
        </p:txBody>
      </p:sp>
      <p:sp>
        <p:nvSpPr>
          <p:cNvPr id="22" name="TextBox 2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3" name="TextBox 2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4" name="TextBox 2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6.1.2 IN PRACTICE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Determining Aspects — the Required Process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pect_process.png"/>
          <p:cNvPicPr>
            <a:picLocks noChangeAspect="1"/>
          </p:cNvPicPr>
          <p:nvPr/>
        </p:nvPicPr>
        <p:blipFill>
          <a:blip r:embed="rId2"/>
          <a:stretch>
            <a:fillRect/>
          </a:stretch>
        </p:blipFill>
        <p:spPr>
          <a:xfrm>
            <a:off x="1102099" y="1719072"/>
            <a:ext cx="9987497"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6.1.2 explicitly requires consideration of CHANGE (including new or modified activities), of ABNORMAL conditions and of REASONABLY FORESEEABLE EMERGENCY situations — and a life cycle perspective.</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GET THE COLUMNS RIGHT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Aspects and Impacts — Worked Examples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950415"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749247"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Activity</a:t>
            </a:r>
          </a:p>
        </p:txBody>
      </p:sp>
      <p:sp>
        <p:nvSpPr>
          <p:cNvPr id="9" name="Rectangle 8"/>
          <p:cNvSpPr/>
          <p:nvPr/>
        </p:nvSpPr>
        <p:spPr>
          <a:xfrm>
            <a:off x="2608783" y="1737360"/>
            <a:ext cx="433425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8511" y="1737360"/>
            <a:ext cx="4133088"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Environmental ASPECT (cause)</a:t>
            </a:r>
          </a:p>
        </p:txBody>
      </p:sp>
      <p:sp>
        <p:nvSpPr>
          <p:cNvPr id="11" name="Rectangle 10"/>
          <p:cNvSpPr/>
          <p:nvPr/>
        </p:nvSpPr>
        <p:spPr>
          <a:xfrm>
            <a:off x="6943039" y="1737360"/>
            <a:ext cx="4550968"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2767" y="1737360"/>
            <a:ext cx="4349800" cy="658368"/>
          </a:xfrm>
          <a:prstGeom prst="rect">
            <a:avLst/>
          </a:prstGeom>
          <a:noFill/>
        </p:spPr>
        <p:txBody>
          <a:bodyPr wrap="square" anchor="ctr" lIns="0" rIns="0">
            <a:spAutoFit/>
          </a:bodyPr>
          <a:lstStyle/>
          <a:p>
            <a:pPr algn="l">
              <a:spcAft>
                <a:spcPts val="400"/>
              </a:spcAft>
            </a:pPr>
            <a:r>
              <a:rPr sz="1100" b="1">
                <a:solidFill>
                  <a:srgbClr val="FFFFFF"/>
                </a:solidFill>
                <a:latin typeface="Arial"/>
              </a:rPr>
              <a:t>Environmental IMPACT (effect)</a:t>
            </a:r>
          </a:p>
        </p:txBody>
      </p:sp>
      <p:sp>
        <p:nvSpPr>
          <p:cNvPr id="13" name="Rectangle 12"/>
          <p:cNvSpPr/>
          <p:nvPr/>
        </p:nvSpPr>
        <p:spPr>
          <a:xfrm>
            <a:off x="658368" y="2395728"/>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PCB washing</a:t>
            </a:r>
          </a:p>
        </p:txBody>
      </p:sp>
      <p:sp>
        <p:nvSpPr>
          <p:cNvPr id="15" name="Rectangle 14"/>
          <p:cNvSpPr/>
          <p:nvPr/>
        </p:nvSpPr>
        <p:spPr>
          <a:xfrm>
            <a:off x="2608783" y="2395728"/>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8511" y="2395728"/>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Discharge of trade effluent containing copper</a:t>
            </a:r>
          </a:p>
        </p:txBody>
      </p:sp>
      <p:sp>
        <p:nvSpPr>
          <p:cNvPr id="17" name="Rectangle 16"/>
          <p:cNvSpPr/>
          <p:nvPr/>
        </p:nvSpPr>
        <p:spPr>
          <a:xfrm>
            <a:off x="6943039" y="2395728"/>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2767" y="2395728"/>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Watercourse contamination; toxicity to aquatic life</a:t>
            </a:r>
          </a:p>
        </p:txBody>
      </p:sp>
      <p:sp>
        <p:nvSpPr>
          <p:cNvPr id="19" name="Rectangle 18"/>
          <p:cNvSpPr/>
          <p:nvPr/>
        </p:nvSpPr>
        <p:spPr>
          <a:xfrm>
            <a:off x="658368" y="3054096"/>
            <a:ext cx="195041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Solvent lamination</a:t>
            </a:r>
          </a:p>
        </p:txBody>
      </p:sp>
      <p:sp>
        <p:nvSpPr>
          <p:cNvPr id="21" name="Rectangle 20"/>
          <p:cNvSpPr/>
          <p:nvPr/>
        </p:nvSpPr>
        <p:spPr>
          <a:xfrm>
            <a:off x="2608783" y="3054096"/>
            <a:ext cx="4334256"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18511" y="3054096"/>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Emission of VOCs from solvent-based adhesives</a:t>
            </a:r>
          </a:p>
        </p:txBody>
      </p:sp>
      <p:sp>
        <p:nvSpPr>
          <p:cNvPr id="23" name="Rectangle 22"/>
          <p:cNvSpPr/>
          <p:nvPr/>
        </p:nvSpPr>
        <p:spPr>
          <a:xfrm>
            <a:off x="6943039" y="3054096"/>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2767" y="3054096"/>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Air pollution; photochemical smog</a:t>
            </a:r>
          </a:p>
        </p:txBody>
      </p:sp>
      <p:sp>
        <p:nvSpPr>
          <p:cNvPr id="25" name="Rectangle 24"/>
          <p:cNvSpPr/>
          <p:nvPr/>
        </p:nvSpPr>
        <p:spPr>
          <a:xfrm>
            <a:off x="658368" y="3712464"/>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Chiller operation</a:t>
            </a:r>
          </a:p>
        </p:txBody>
      </p:sp>
      <p:sp>
        <p:nvSpPr>
          <p:cNvPr id="27" name="Rectangle 26"/>
          <p:cNvSpPr/>
          <p:nvPr/>
        </p:nvSpPr>
        <p:spPr>
          <a:xfrm>
            <a:off x="2608783" y="3712464"/>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18511" y="3712464"/>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Consumption of grid electricity; HFC refrigerant leakage</a:t>
            </a:r>
          </a:p>
        </p:txBody>
      </p:sp>
      <p:sp>
        <p:nvSpPr>
          <p:cNvPr id="29" name="Rectangle 28"/>
          <p:cNvSpPr/>
          <p:nvPr/>
        </p:nvSpPr>
        <p:spPr>
          <a:xfrm>
            <a:off x="6943039" y="3712464"/>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2767" y="3712464"/>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Resource depletion; GHG emissions and climate change</a:t>
            </a:r>
          </a:p>
        </p:txBody>
      </p:sp>
      <p:sp>
        <p:nvSpPr>
          <p:cNvPr id="31" name="Rectangle 30"/>
          <p:cNvSpPr/>
          <p:nvPr/>
        </p:nvSpPr>
        <p:spPr>
          <a:xfrm>
            <a:off x="658368" y="4370832"/>
            <a:ext cx="195041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Chemical drum storage</a:t>
            </a:r>
          </a:p>
        </p:txBody>
      </p:sp>
      <p:sp>
        <p:nvSpPr>
          <p:cNvPr id="33" name="Rectangle 32"/>
          <p:cNvSpPr/>
          <p:nvPr/>
        </p:nvSpPr>
        <p:spPr>
          <a:xfrm>
            <a:off x="2608783" y="4370832"/>
            <a:ext cx="4334256"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18511" y="4370832"/>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Potential release from bund failure (EMERGENCY)</a:t>
            </a:r>
          </a:p>
        </p:txBody>
      </p:sp>
      <p:sp>
        <p:nvSpPr>
          <p:cNvPr id="35" name="Rectangle 34"/>
          <p:cNvSpPr/>
          <p:nvPr/>
        </p:nvSpPr>
        <p:spPr>
          <a:xfrm>
            <a:off x="6943039" y="4370832"/>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2767" y="4370832"/>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Soil and groundwater contamination</a:t>
            </a:r>
          </a:p>
        </p:txBody>
      </p:sp>
      <p:sp>
        <p:nvSpPr>
          <p:cNvPr id="37" name="Rectangle 36"/>
          <p:cNvSpPr/>
          <p:nvPr/>
        </p:nvSpPr>
        <p:spPr>
          <a:xfrm>
            <a:off x="658368" y="5029200"/>
            <a:ext cx="195041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749247" cy="658368"/>
          </a:xfrm>
          <a:prstGeom prst="rect">
            <a:avLst/>
          </a:prstGeom>
          <a:noFill/>
        </p:spPr>
        <p:txBody>
          <a:bodyPr wrap="square" anchor="ctr" lIns="0" rIns="0">
            <a:spAutoFit/>
          </a:bodyPr>
          <a:lstStyle/>
          <a:p>
            <a:pPr algn="l">
              <a:spcAft>
                <a:spcPts val="400"/>
              </a:spcAft>
            </a:pPr>
            <a:r>
              <a:rPr sz="1000" b="1">
                <a:solidFill>
                  <a:srgbClr val="161B26"/>
                </a:solidFill>
                <a:latin typeface="Arial"/>
              </a:rPr>
              <a:t>Waste segregation</a:t>
            </a:r>
          </a:p>
        </p:txBody>
      </p:sp>
      <p:sp>
        <p:nvSpPr>
          <p:cNvPr id="39" name="Rectangle 38"/>
          <p:cNvSpPr/>
          <p:nvPr/>
        </p:nvSpPr>
        <p:spPr>
          <a:xfrm>
            <a:off x="2608783" y="5029200"/>
            <a:ext cx="4334256"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18511" y="5029200"/>
            <a:ext cx="4133088"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Recovery of recyclable material</a:t>
            </a:r>
          </a:p>
        </p:txBody>
      </p:sp>
      <p:sp>
        <p:nvSpPr>
          <p:cNvPr id="41" name="Rectangle 40"/>
          <p:cNvSpPr/>
          <p:nvPr/>
        </p:nvSpPr>
        <p:spPr>
          <a:xfrm>
            <a:off x="6943039" y="5029200"/>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52767" y="5029200"/>
            <a:ext cx="4349800" cy="658368"/>
          </a:xfrm>
          <a:prstGeom prst="rect">
            <a:avLst/>
          </a:prstGeom>
          <a:noFill/>
        </p:spPr>
        <p:txBody>
          <a:bodyPr wrap="square" anchor="ctr" lIns="0" rIns="0">
            <a:spAutoFit/>
          </a:bodyPr>
          <a:lstStyle/>
          <a:p>
            <a:pPr algn="l">
              <a:spcAft>
                <a:spcPts val="400"/>
              </a:spcAft>
            </a:pPr>
            <a:r>
              <a:rPr sz="1000" b="0">
                <a:solidFill>
                  <a:srgbClr val="161B26"/>
                </a:solidFill>
                <a:latin typeface="Arial"/>
              </a:rPr>
              <a:t>Conserves resources — a BENEFICIAL impact</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 register with zero beneficial aspects and zero emergency aspects is a red flag — it usually means the register was copied, not built.</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WHAT A GOOD REGISTER COVERS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Three Dimensions of a Complete Aspect Register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Normal</a:t>
            </a:r>
          </a:p>
          <a:p>
            <a:pPr algn="l">
              <a:spcAft>
                <a:spcPts val="300"/>
              </a:spcAft>
            </a:pPr>
            <a:r>
              <a:rPr sz="1100" b="0">
                <a:solidFill>
                  <a:srgbClr val="5B6372"/>
                </a:solidFill>
                <a:latin typeface="Arial"/>
              </a:rPr>
              <a:t>Routine, steady-state operation as designed.</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Abnormal</a:t>
            </a:r>
          </a:p>
          <a:p>
            <a:pPr algn="l">
              <a:spcAft>
                <a:spcPts val="300"/>
              </a:spcAft>
            </a:pPr>
            <a:r>
              <a:rPr sz="1100" b="0">
                <a:solidFill>
                  <a:srgbClr val="5B6372"/>
                </a:solidFill>
                <a:latin typeface="Arial"/>
              </a:rPr>
              <a:t>Predictable but non-routine: maintenance, cleaning, changeover, start-up and shut-down — often the WORST emissions per hour.</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Emergency</a:t>
            </a:r>
          </a:p>
          <a:p>
            <a:pPr algn="l">
              <a:spcAft>
                <a:spcPts val="300"/>
              </a:spcAft>
            </a:pPr>
            <a:r>
              <a:rPr sz="1100" b="0">
                <a:solidFill>
                  <a:srgbClr val="5B6372"/>
                </a:solidFill>
                <a:latin typeface="Arial"/>
              </a:rPr>
              <a:t>Reasonably foreseeable: spill, fire, bund failure, power loss. Links directly to clause 8.2.</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Past · present · planned</a:t>
            </a:r>
          </a:p>
          <a:p>
            <a:pPr algn="l">
              <a:spcAft>
                <a:spcPts val="300"/>
              </a:spcAft>
            </a:pPr>
            <a:r>
              <a:rPr sz="1100" b="0">
                <a:solidFill>
                  <a:srgbClr val="5B6372"/>
                </a:solidFill>
                <a:latin typeface="Arial"/>
              </a:rPr>
              <a:t>Legacy contamination, current operations, and planned changes — assessed BEFORE the change.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Direct (control)</a:t>
            </a:r>
          </a:p>
          <a:p>
            <a:pPr algn="l">
              <a:spcAft>
                <a:spcPts val="300"/>
              </a:spcAft>
            </a:pPr>
            <a:r>
              <a:rPr sz="1100" b="0">
                <a:solidFill>
                  <a:srgbClr val="5B6372"/>
                </a:solidFill>
                <a:latin typeface="Arial"/>
              </a:rPr>
              <a:t>Own emissions, own effluent, own waste, own energy.</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Indirect (influence)</a:t>
            </a:r>
          </a:p>
          <a:p>
            <a:pPr algn="l">
              <a:spcAft>
                <a:spcPts val="300"/>
              </a:spcAft>
            </a:pPr>
            <a:r>
              <a:rPr sz="1100" b="0">
                <a:solidFill>
                  <a:srgbClr val="5B6372"/>
                </a:solidFill>
                <a:latin typeface="Arial"/>
              </a:rPr>
              <a:t>Supplier practices, contractor behaviour, product use, end-of-life. Omitting these entirely is a common finding.</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WHAT YOU AUDIT · CLAUSE 6.1.3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6.1.3 — Compliance Obligations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Legal requirements</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the organisation HAS TO comply with: EPMA and its regulations, EPHA, the Sewerage and Drainage Act, the Resource Sustainability Act, the Carbon Pricing Act, licences and permit conditions.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Other requirements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it HAS TO or CHOOSES TO comply with: customer contracts, corporate policies, industry codes, agreements with community groups.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The three duties</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 determine and HAVE ACCESS TO them; (b) determine HOW THEY APPLY; (c) TAKE THEM INTO ACCOUNT in the EMS. Maintained as documented information.</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F59E0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 bare register of law titles does not meet 6.1.3 — the organisation must have determined HOW each obligation applies to it. That interpretation is what you audit.</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THE SINGAPORE CONTEXT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Singapore Compliance Obligations — What to Ask For</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383840"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182672"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Regime</a:t>
            </a:r>
          </a:p>
        </p:txBody>
      </p:sp>
      <p:sp>
        <p:nvSpPr>
          <p:cNvPr id="9" name="Rectangle 8"/>
          <p:cNvSpPr/>
          <p:nvPr/>
        </p:nvSpPr>
        <p:spPr>
          <a:xfrm>
            <a:off x="3042208" y="1737360"/>
            <a:ext cx="1408633"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1936" y="1737360"/>
            <a:ext cx="1207465"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Regulator</a:t>
            </a:r>
          </a:p>
        </p:txBody>
      </p:sp>
      <p:sp>
        <p:nvSpPr>
          <p:cNvPr id="11" name="Rectangle 10"/>
          <p:cNvSpPr/>
          <p:nvPr/>
        </p:nvSpPr>
        <p:spPr>
          <a:xfrm>
            <a:off x="4450841" y="1737360"/>
            <a:ext cx="7043166" cy="493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0569" y="1737360"/>
            <a:ext cx="6841998" cy="493776"/>
          </a:xfrm>
          <a:prstGeom prst="rect">
            <a:avLst/>
          </a:prstGeom>
          <a:noFill/>
        </p:spPr>
        <p:txBody>
          <a:bodyPr wrap="square" anchor="ctr" lIns="0" rIns="0">
            <a:spAutoFit/>
          </a:bodyPr>
          <a:lstStyle/>
          <a:p>
            <a:pPr algn="l">
              <a:spcAft>
                <a:spcPts val="400"/>
              </a:spcAft>
            </a:pPr>
            <a:r>
              <a:rPr sz="1000" b="1">
                <a:solidFill>
                  <a:srgbClr val="FFFFFF"/>
                </a:solidFill>
                <a:latin typeface="Arial"/>
              </a:rPr>
              <a:t>Evidence an auditor asks to see</a:t>
            </a:r>
          </a:p>
        </p:txBody>
      </p:sp>
      <p:sp>
        <p:nvSpPr>
          <p:cNvPr id="13" name="Rectangle 12"/>
          <p:cNvSpPr/>
          <p:nvPr/>
        </p:nvSpPr>
        <p:spPr>
          <a:xfrm>
            <a:off x="658368" y="2231136"/>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231136"/>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Air emissions (EPMA)</a:t>
            </a:r>
          </a:p>
        </p:txBody>
      </p:sp>
      <p:sp>
        <p:nvSpPr>
          <p:cNvPr id="15" name="Rectangle 14"/>
          <p:cNvSpPr/>
          <p:nvPr/>
        </p:nvSpPr>
        <p:spPr>
          <a:xfrm>
            <a:off x="3042208" y="2231136"/>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1936" y="2231136"/>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17" name="Rectangle 16"/>
          <p:cNvSpPr/>
          <p:nvPr/>
        </p:nvSpPr>
        <p:spPr>
          <a:xfrm>
            <a:off x="4450841" y="2231136"/>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0569" y="2231136"/>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Source emission test reports from an accredited lab; stack/CEMS records; calibration certificates</a:t>
            </a:r>
          </a:p>
        </p:txBody>
      </p:sp>
      <p:sp>
        <p:nvSpPr>
          <p:cNvPr id="19" name="Rectangle 18"/>
          <p:cNvSpPr/>
          <p:nvPr/>
        </p:nvSpPr>
        <p:spPr>
          <a:xfrm>
            <a:off x="658368" y="2724912"/>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724912"/>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Trade effluent to SEWER</a:t>
            </a:r>
          </a:p>
        </p:txBody>
      </p:sp>
      <p:sp>
        <p:nvSpPr>
          <p:cNvPr id="21" name="Rectangle 20"/>
          <p:cNvSpPr/>
          <p:nvPr/>
        </p:nvSpPr>
        <p:spPr>
          <a:xfrm>
            <a:off x="3042208" y="2724912"/>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51936" y="2724912"/>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PUB</a:t>
            </a:r>
          </a:p>
        </p:txBody>
      </p:sp>
      <p:sp>
        <p:nvSpPr>
          <p:cNvPr id="23" name="Rectangle 22"/>
          <p:cNvSpPr/>
          <p:nvPr/>
        </p:nvSpPr>
        <p:spPr>
          <a:xfrm>
            <a:off x="4450841" y="2724912"/>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0569" y="2724912"/>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Written Approval and its conditions; sampling results; pre-treatment O&amp;M logs</a:t>
            </a:r>
          </a:p>
        </p:txBody>
      </p:sp>
      <p:sp>
        <p:nvSpPr>
          <p:cNvPr id="25" name="Rectangle 24"/>
          <p:cNvSpPr/>
          <p:nvPr/>
        </p:nvSpPr>
        <p:spPr>
          <a:xfrm>
            <a:off x="658368" y="3218688"/>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218688"/>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Trade effluent to WATERCOURSE</a:t>
            </a:r>
          </a:p>
        </p:txBody>
      </p:sp>
      <p:sp>
        <p:nvSpPr>
          <p:cNvPr id="27" name="Rectangle 26"/>
          <p:cNvSpPr/>
          <p:nvPr/>
        </p:nvSpPr>
        <p:spPr>
          <a:xfrm>
            <a:off x="3042208" y="3218688"/>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1936" y="3218688"/>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29" name="Rectangle 28"/>
          <p:cNvSpPr/>
          <p:nvPr/>
        </p:nvSpPr>
        <p:spPr>
          <a:xfrm>
            <a:off x="4450841" y="3218688"/>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60569" y="3218688"/>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Discharge limits (e.g. pH 6–9, TSS 50 mg/L); accredited lab analyses</a:t>
            </a:r>
          </a:p>
        </p:txBody>
      </p:sp>
      <p:sp>
        <p:nvSpPr>
          <p:cNvPr id="31" name="Rectangle 30"/>
          <p:cNvSpPr/>
          <p:nvPr/>
        </p:nvSpPr>
        <p:spPr>
          <a:xfrm>
            <a:off x="658368" y="3712464"/>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712464"/>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Toxic industrial waste</a:t>
            </a:r>
          </a:p>
        </p:txBody>
      </p:sp>
      <p:sp>
        <p:nvSpPr>
          <p:cNvPr id="33" name="Rectangle 32"/>
          <p:cNvSpPr/>
          <p:nvPr/>
        </p:nvSpPr>
        <p:spPr>
          <a:xfrm>
            <a:off x="3042208" y="3712464"/>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51936" y="3712464"/>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35" name="Rectangle 34"/>
          <p:cNvSpPr/>
          <p:nvPr/>
        </p:nvSpPr>
        <p:spPr>
          <a:xfrm>
            <a:off x="4450841" y="3712464"/>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60569" y="3712464"/>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Collector's licence covering THAT waste; e-consignment notes (WRMS); transport approvals</a:t>
            </a:r>
          </a:p>
        </p:txBody>
      </p:sp>
      <p:sp>
        <p:nvSpPr>
          <p:cNvPr id="37" name="Rectangle 36"/>
          <p:cNvSpPr/>
          <p:nvPr/>
        </p:nvSpPr>
        <p:spPr>
          <a:xfrm>
            <a:off x="658368" y="4206240"/>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206240"/>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Boundary noise</a:t>
            </a:r>
          </a:p>
        </p:txBody>
      </p:sp>
      <p:sp>
        <p:nvSpPr>
          <p:cNvPr id="39" name="Rectangle 38"/>
          <p:cNvSpPr/>
          <p:nvPr/>
        </p:nvSpPr>
        <p:spPr>
          <a:xfrm>
            <a:off x="3042208" y="4206240"/>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51936" y="4206240"/>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41" name="Rectangle 40"/>
          <p:cNvSpPr/>
          <p:nvPr/>
        </p:nvSpPr>
        <p:spPr>
          <a:xfrm>
            <a:off x="4450841" y="4206240"/>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60569" y="4206240"/>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Monitoring by a Type 1 meter; calibration certificates; complaint register</a:t>
            </a:r>
          </a:p>
        </p:txBody>
      </p:sp>
      <p:sp>
        <p:nvSpPr>
          <p:cNvPr id="43" name="Rectangle 42"/>
          <p:cNvSpPr/>
          <p:nvPr/>
        </p:nvSpPr>
        <p:spPr>
          <a:xfrm>
            <a:off x="658368" y="4700016"/>
            <a:ext cx="2383840"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4700016"/>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Carbon tax</a:t>
            </a:r>
          </a:p>
        </p:txBody>
      </p:sp>
      <p:sp>
        <p:nvSpPr>
          <p:cNvPr id="45" name="Rectangle 44"/>
          <p:cNvSpPr/>
          <p:nvPr/>
        </p:nvSpPr>
        <p:spPr>
          <a:xfrm>
            <a:off x="3042208" y="4700016"/>
            <a:ext cx="1408633"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51936" y="4700016"/>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47" name="Rectangle 46"/>
          <p:cNvSpPr/>
          <p:nvPr/>
        </p:nvSpPr>
        <p:spPr>
          <a:xfrm>
            <a:off x="4450841" y="4700016"/>
            <a:ext cx="7043166" cy="493776"/>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0569" y="4700016"/>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Registration; Monitoring Plan; verified Emissions Report; calibration records</a:t>
            </a:r>
          </a:p>
        </p:txBody>
      </p:sp>
      <p:sp>
        <p:nvSpPr>
          <p:cNvPr id="49" name="Rectangle 48"/>
          <p:cNvSpPr/>
          <p:nvPr/>
        </p:nvSpPr>
        <p:spPr>
          <a:xfrm>
            <a:off x="658368" y="5193792"/>
            <a:ext cx="2383840"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5193792"/>
            <a:ext cx="2182672" cy="493776"/>
          </a:xfrm>
          <a:prstGeom prst="rect">
            <a:avLst/>
          </a:prstGeom>
          <a:noFill/>
        </p:spPr>
        <p:txBody>
          <a:bodyPr wrap="square" anchor="ctr" lIns="0" rIns="0">
            <a:spAutoFit/>
          </a:bodyPr>
          <a:lstStyle/>
          <a:p>
            <a:pPr algn="l">
              <a:spcAft>
                <a:spcPts val="400"/>
              </a:spcAft>
            </a:pPr>
            <a:r>
              <a:rPr sz="900" b="1">
                <a:solidFill>
                  <a:srgbClr val="161B26"/>
                </a:solidFill>
                <a:latin typeface="Arial"/>
              </a:rPr>
              <a:t>Hazardous substances</a:t>
            </a:r>
          </a:p>
        </p:txBody>
      </p:sp>
      <p:sp>
        <p:nvSpPr>
          <p:cNvPr id="51" name="Rectangle 50"/>
          <p:cNvSpPr/>
          <p:nvPr/>
        </p:nvSpPr>
        <p:spPr>
          <a:xfrm>
            <a:off x="3042208" y="5193792"/>
            <a:ext cx="1408633"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51936" y="5193792"/>
            <a:ext cx="1207465"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NEA</a:t>
            </a:r>
          </a:p>
        </p:txBody>
      </p:sp>
      <p:sp>
        <p:nvSpPr>
          <p:cNvPr id="53" name="Rectangle 52"/>
          <p:cNvSpPr/>
          <p:nvPr/>
        </p:nvSpPr>
        <p:spPr>
          <a:xfrm>
            <a:off x="4450841" y="5193792"/>
            <a:ext cx="7043166" cy="493776"/>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60569" y="5193792"/>
            <a:ext cx="6841998" cy="493776"/>
          </a:xfrm>
          <a:prstGeom prst="rect">
            <a:avLst/>
          </a:prstGeom>
          <a:noFill/>
        </p:spPr>
        <p:txBody>
          <a:bodyPr wrap="square" anchor="ctr" lIns="0" rIns="0">
            <a:spAutoFit/>
          </a:bodyPr>
          <a:lstStyle/>
          <a:p>
            <a:pPr algn="l">
              <a:spcAft>
                <a:spcPts val="400"/>
              </a:spcAft>
            </a:pPr>
            <a:r>
              <a:rPr sz="900" b="0">
                <a:solidFill>
                  <a:srgbClr val="161B26"/>
                </a:solidFill>
                <a:latin typeface="Arial"/>
              </a:rPr>
              <a:t>Hazardous Substances Licence and permits; transaction records; SDS</a:t>
            </a:r>
          </a:p>
        </p:txBody>
      </p:sp>
      <p:sp>
        <p:nvSpPr>
          <p:cNvPr id="55" name="Rectangle 54"/>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Verified as at August 2026. Limits, thresholds and rates change — audit the METHOD of maintaining the legal register (6.1.3) and the evaluation of compliance (9.1.2), not just this year's numbers.</a:t>
            </a:r>
          </a:p>
        </p:txBody>
      </p:sp>
      <p:sp>
        <p:nvSpPr>
          <p:cNvPr id="57" name="TextBox 5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8" name="TextBox 5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9" name="TextBox 5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FIGURES VERIFIED AUG 2026</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Verified Singapore Figures — Use With a 'Verified As At' Date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3684117"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3482949"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Item</a:t>
            </a:r>
          </a:p>
        </p:txBody>
      </p:sp>
      <p:sp>
        <p:nvSpPr>
          <p:cNvPr id="9" name="Rectangle 8"/>
          <p:cNvSpPr/>
          <p:nvPr/>
        </p:nvSpPr>
        <p:spPr>
          <a:xfrm>
            <a:off x="4342485" y="1737360"/>
            <a:ext cx="3900830"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2213" y="1737360"/>
            <a:ext cx="3699662"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Figure</a:t>
            </a:r>
          </a:p>
        </p:txBody>
      </p:sp>
      <p:sp>
        <p:nvSpPr>
          <p:cNvPr id="11" name="Rectangle 10"/>
          <p:cNvSpPr/>
          <p:nvPr/>
        </p:nvSpPr>
        <p:spPr>
          <a:xfrm>
            <a:off x="8243315" y="1737360"/>
            <a:ext cx="3250692" cy="56431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3043" y="1737360"/>
            <a:ext cx="3049524" cy="564315"/>
          </a:xfrm>
          <a:prstGeom prst="rect">
            <a:avLst/>
          </a:prstGeom>
          <a:noFill/>
        </p:spPr>
        <p:txBody>
          <a:bodyPr wrap="square" anchor="ctr" lIns="0" rIns="0">
            <a:spAutoFit/>
          </a:bodyPr>
          <a:lstStyle/>
          <a:p>
            <a:pPr algn="l">
              <a:spcAft>
                <a:spcPts val="400"/>
              </a:spcAft>
            </a:pPr>
            <a:r>
              <a:rPr sz="1100" b="1">
                <a:solidFill>
                  <a:srgbClr val="FFFFFF"/>
                </a:solidFill>
                <a:latin typeface="Arial"/>
              </a:rPr>
              <a:t>Source</a:t>
            </a:r>
          </a:p>
        </p:txBody>
      </p:sp>
      <p:sp>
        <p:nvSpPr>
          <p:cNvPr id="13" name="Rectangle 12"/>
          <p:cNvSpPr/>
          <p:nvPr/>
        </p:nvSpPr>
        <p:spPr>
          <a:xfrm>
            <a:off x="658368" y="230167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0167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2026–2027</a:t>
            </a:r>
          </a:p>
        </p:txBody>
      </p:sp>
      <p:sp>
        <p:nvSpPr>
          <p:cNvPr id="15" name="Rectangle 14"/>
          <p:cNvSpPr/>
          <p:nvPr/>
        </p:nvSpPr>
        <p:spPr>
          <a:xfrm>
            <a:off x="4342485" y="230167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2213" y="230167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S$45 per tCO₂e</a:t>
            </a:r>
          </a:p>
        </p:txBody>
      </p:sp>
      <p:sp>
        <p:nvSpPr>
          <p:cNvPr id="17" name="Rectangle 16"/>
          <p:cNvSpPr/>
          <p:nvPr/>
        </p:nvSpPr>
        <p:spPr>
          <a:xfrm>
            <a:off x="8243315" y="230167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3043" y="230167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NCCS / Carbon Pricing Act</a:t>
            </a:r>
          </a:p>
        </p:txBody>
      </p:sp>
      <p:sp>
        <p:nvSpPr>
          <p:cNvPr id="19" name="Rectangle 18"/>
          <p:cNvSpPr/>
          <p:nvPr/>
        </p:nvSpPr>
        <p:spPr>
          <a:xfrm>
            <a:off x="658368" y="286599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86599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 taxable facility</a:t>
            </a:r>
          </a:p>
        </p:txBody>
      </p:sp>
      <p:sp>
        <p:nvSpPr>
          <p:cNvPr id="21" name="Rectangle 20"/>
          <p:cNvSpPr/>
          <p:nvPr/>
        </p:nvSpPr>
        <p:spPr>
          <a:xfrm>
            <a:off x="4342485" y="286599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2213" y="286599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25,000 tCO₂e per year</a:t>
            </a:r>
          </a:p>
        </p:txBody>
      </p:sp>
      <p:sp>
        <p:nvSpPr>
          <p:cNvPr id="23" name="Rectangle 22"/>
          <p:cNvSpPr/>
          <p:nvPr/>
        </p:nvSpPr>
        <p:spPr>
          <a:xfrm>
            <a:off x="8243315" y="286599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3043" y="286599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Carbon Pricing Act</a:t>
            </a:r>
          </a:p>
        </p:txBody>
      </p:sp>
      <p:sp>
        <p:nvSpPr>
          <p:cNvPr id="25" name="Rectangle 24"/>
          <p:cNvSpPr/>
          <p:nvPr/>
        </p:nvSpPr>
        <p:spPr>
          <a:xfrm>
            <a:off x="658368" y="343030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43030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Carbon tax — reportable facility</a:t>
            </a:r>
          </a:p>
        </p:txBody>
      </p:sp>
      <p:sp>
        <p:nvSpPr>
          <p:cNvPr id="27" name="Rectangle 26"/>
          <p:cNvSpPr/>
          <p:nvPr/>
        </p:nvSpPr>
        <p:spPr>
          <a:xfrm>
            <a:off x="4342485" y="343030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52213" y="343030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2,000 tCO₂e per year (report, no tax)</a:t>
            </a:r>
          </a:p>
        </p:txBody>
      </p:sp>
      <p:sp>
        <p:nvSpPr>
          <p:cNvPr id="29" name="Rectangle 28"/>
          <p:cNvSpPr/>
          <p:nvPr/>
        </p:nvSpPr>
        <p:spPr>
          <a:xfrm>
            <a:off x="8243315" y="343030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3043" y="343030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Carbon Pricing Act</a:t>
            </a:r>
          </a:p>
        </p:txBody>
      </p:sp>
      <p:sp>
        <p:nvSpPr>
          <p:cNvPr id="31" name="Rectangle 30"/>
          <p:cNvSpPr/>
          <p:nvPr/>
        </p:nvSpPr>
        <p:spPr>
          <a:xfrm>
            <a:off x="658368" y="399462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99462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Boundary noise — factory, day</a:t>
            </a:r>
          </a:p>
        </p:txBody>
      </p:sp>
      <p:sp>
        <p:nvSpPr>
          <p:cNvPr id="33" name="Rectangle 32"/>
          <p:cNvSpPr/>
          <p:nvPr/>
        </p:nvSpPr>
        <p:spPr>
          <a:xfrm>
            <a:off x="4342485" y="399462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2213" y="399462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75 dB(A) over any 5-min period</a:t>
            </a:r>
          </a:p>
        </p:txBody>
      </p:sp>
      <p:sp>
        <p:nvSpPr>
          <p:cNvPr id="35" name="Rectangle 34"/>
          <p:cNvSpPr/>
          <p:nvPr/>
        </p:nvSpPr>
        <p:spPr>
          <a:xfrm>
            <a:off x="8243315" y="399462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3043" y="399462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EPM (Boundary Noise) Regs</a:t>
            </a:r>
          </a:p>
        </p:txBody>
      </p:sp>
      <p:sp>
        <p:nvSpPr>
          <p:cNvPr id="37" name="Rectangle 36"/>
          <p:cNvSpPr/>
          <p:nvPr/>
        </p:nvSpPr>
        <p:spPr>
          <a:xfrm>
            <a:off x="658368" y="4558935"/>
            <a:ext cx="368411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558935"/>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Trade effluent to watercourse</a:t>
            </a:r>
          </a:p>
        </p:txBody>
      </p:sp>
      <p:sp>
        <p:nvSpPr>
          <p:cNvPr id="39" name="Rectangle 38"/>
          <p:cNvSpPr/>
          <p:nvPr/>
        </p:nvSpPr>
        <p:spPr>
          <a:xfrm>
            <a:off x="4342485" y="4558935"/>
            <a:ext cx="3900830"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52213" y="4558935"/>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pH 6–9 · TSS 50 mg/L · COD 100 mg/L</a:t>
            </a:r>
          </a:p>
        </p:txBody>
      </p:sp>
      <p:sp>
        <p:nvSpPr>
          <p:cNvPr id="41" name="Rectangle 40"/>
          <p:cNvSpPr/>
          <p:nvPr/>
        </p:nvSpPr>
        <p:spPr>
          <a:xfrm>
            <a:off x="8243315" y="4558935"/>
            <a:ext cx="3250692"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3043" y="4558935"/>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NEA</a:t>
            </a:r>
          </a:p>
        </p:txBody>
      </p:sp>
      <p:sp>
        <p:nvSpPr>
          <p:cNvPr id="43" name="Rectangle 42"/>
          <p:cNvSpPr/>
          <p:nvPr/>
        </p:nvSpPr>
        <p:spPr>
          <a:xfrm>
            <a:off x="658368" y="5123250"/>
            <a:ext cx="368411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123250"/>
            <a:ext cx="3482949" cy="564315"/>
          </a:xfrm>
          <a:prstGeom prst="rect">
            <a:avLst/>
          </a:prstGeom>
          <a:noFill/>
        </p:spPr>
        <p:txBody>
          <a:bodyPr wrap="square" anchor="ctr" lIns="0" rIns="0">
            <a:spAutoFit/>
          </a:bodyPr>
          <a:lstStyle/>
          <a:p>
            <a:pPr algn="l">
              <a:spcAft>
                <a:spcPts val="400"/>
              </a:spcAft>
            </a:pPr>
            <a:r>
              <a:rPr sz="1000" b="1">
                <a:solidFill>
                  <a:srgbClr val="161B26"/>
                </a:solidFill>
                <a:latin typeface="Arial"/>
              </a:rPr>
              <a:t>Energy Conservation Act trigger</a:t>
            </a:r>
          </a:p>
        </p:txBody>
      </p:sp>
      <p:sp>
        <p:nvSpPr>
          <p:cNvPr id="45" name="Rectangle 44"/>
          <p:cNvSpPr/>
          <p:nvPr/>
        </p:nvSpPr>
        <p:spPr>
          <a:xfrm>
            <a:off x="4342485" y="5123250"/>
            <a:ext cx="3900830"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52213" y="5123250"/>
            <a:ext cx="3699662"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 54 TJ/yr in 2 of 3 preceding years</a:t>
            </a:r>
          </a:p>
        </p:txBody>
      </p:sp>
      <p:sp>
        <p:nvSpPr>
          <p:cNvPr id="47" name="Rectangle 46"/>
          <p:cNvSpPr/>
          <p:nvPr/>
        </p:nvSpPr>
        <p:spPr>
          <a:xfrm>
            <a:off x="8243315" y="5123250"/>
            <a:ext cx="3250692"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53043" y="5123250"/>
            <a:ext cx="3049524" cy="564315"/>
          </a:xfrm>
          <a:prstGeom prst="rect">
            <a:avLst/>
          </a:prstGeom>
          <a:noFill/>
        </p:spPr>
        <p:txBody>
          <a:bodyPr wrap="square" anchor="ctr" lIns="0" rIns="0">
            <a:spAutoFit/>
          </a:bodyPr>
          <a:lstStyle/>
          <a:p>
            <a:pPr algn="l">
              <a:spcAft>
                <a:spcPts val="400"/>
              </a:spcAft>
            </a:pPr>
            <a:r>
              <a:rPr sz="1000" b="0">
                <a:solidFill>
                  <a:srgbClr val="161B26"/>
                </a:solidFill>
                <a:latin typeface="Arial"/>
              </a:rPr>
              <a:t>ECA 2012</a:t>
            </a:r>
          </a:p>
        </p:txBody>
      </p:sp>
      <p:sp>
        <p:nvSpPr>
          <p:cNvPr id="49" name="Rectangle 4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Teach learners to date every figure in a legal register and to re-verify at a defined frequency — that discipline is what clause 6.1.3 and 9.1.2 actually require.</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TWO-WAY TEST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4.1 — Context Works BOTH Ways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The organisation affects the environment</a:t>
            </a:r>
          </a:p>
          <a:p>
            <a:pPr algn="l">
              <a:spcAft>
                <a:spcPts val="300"/>
              </a:spcAft>
            </a:pPr>
            <a:r>
              <a:rPr sz="1100" b="0">
                <a:solidFill>
                  <a:srgbClr val="5B6372"/>
                </a:solidFill>
                <a:latin typeface="Arial"/>
              </a:rPr>
              <a:t>Emissions, effluent, waste, resource use — the traditional view, and still clause 6.1.2.</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The environment affects the organisation</a:t>
            </a:r>
          </a:p>
          <a:p>
            <a:pPr algn="l">
              <a:spcAft>
                <a:spcPts val="300"/>
              </a:spcAft>
            </a:pPr>
            <a:r>
              <a:rPr sz="1100" b="0">
                <a:solidFill>
                  <a:srgbClr val="5B6372"/>
                </a:solidFill>
                <a:latin typeface="Arial"/>
              </a:rPr>
              <a:t>NEW in 2015: 'environmental conditions capable of affecting the organisation'.</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External issues</a:t>
            </a:r>
          </a:p>
          <a:p>
            <a:pPr algn="l">
              <a:spcAft>
                <a:spcPts val="300"/>
              </a:spcAft>
            </a:pPr>
            <a:r>
              <a:rPr sz="1100" b="0">
                <a:solidFill>
                  <a:srgbClr val="5B6372"/>
                </a:solidFill>
                <a:latin typeface="Arial"/>
              </a:rPr>
              <a:t>Regulation, climate, resource scarcity and price, technology, market and competitive pressure, community expectations.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Internal issues</a:t>
            </a:r>
          </a:p>
          <a:p>
            <a:pPr algn="l">
              <a:spcAft>
                <a:spcPts val="300"/>
              </a:spcAft>
            </a:pPr>
            <a:r>
              <a:rPr sz="1100" b="0">
                <a:solidFill>
                  <a:srgbClr val="5B6372"/>
                </a:solidFill>
                <a:latin typeface="Arial"/>
              </a:rPr>
              <a:t>Activities, products and services, strategic direction, culture, capabilities, and planned change.</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Climate change is explicit</a:t>
            </a:r>
          </a:p>
          <a:p>
            <a:pPr algn="l">
              <a:spcAft>
                <a:spcPts val="300"/>
              </a:spcAft>
            </a:pPr>
            <a:r>
              <a:rPr sz="1100" b="0">
                <a:solidFill>
                  <a:srgbClr val="5B6372"/>
                </a:solidFill>
                <a:latin typeface="Arial"/>
              </a:rPr>
              <a:t>The Feb 2024 amendment requires the organisation to determine whether climate change is a relevant issue.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No document required</a:t>
            </a:r>
          </a:p>
          <a:p>
            <a:pPr algn="l">
              <a:spcAft>
                <a:spcPts val="300"/>
              </a:spcAft>
            </a:pPr>
            <a:r>
              <a:rPr sz="1100" b="0">
                <a:solidFill>
                  <a:srgbClr val="5B6372"/>
                </a:solidFill>
                <a:latin typeface="Arial"/>
              </a:rPr>
              <a:t>4.1 mandates no documented information — test whether context actually shaped the aspects, obligations and objectives.</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CLAUSE 4.2(C) · THE GATEWAY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How an Interested Party Need Becomes Auditable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Identify the party</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Neighbours, NEA, customers, landlord, employees</a:t>
            </a:r>
          </a:p>
        </p:txBody>
      </p:sp>
      <p:cxnSp>
        <p:nvCxnSpPr>
          <p:cNvPr id="13" name="Connector 12"/>
          <p:cNvCxnSpPr/>
          <p:nvPr/>
        </p:nvCxnSpPr>
        <p:spPr>
          <a:xfrm>
            <a:off x="2622499"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Determine their need</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What they actually require or expect of you</a:t>
            </a:r>
          </a:p>
        </p:txBody>
      </p:sp>
      <p:cxnSp>
        <p:nvCxnSpPr>
          <p:cNvPr id="20" name="Connector 19"/>
          <p:cNvCxnSpPr/>
          <p:nvPr/>
        </p:nvCxnSpPr>
        <p:spPr>
          <a:xfrm>
            <a:off x="4851806"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DECIDE — clause 4.2(c)</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Which needs the organisation ADOPTS</a:t>
            </a:r>
          </a:p>
        </p:txBody>
      </p:sp>
      <p:cxnSp>
        <p:nvCxnSpPr>
          <p:cNvPr id="27" name="Connector 26"/>
          <p:cNvCxnSpPr/>
          <p:nvPr/>
        </p:nvCxnSpPr>
        <p:spPr>
          <a:xfrm>
            <a:off x="7081113"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It becomes an obligation</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Now a compliance obligation under 6.1.3</a:t>
            </a:r>
          </a:p>
        </p:txBody>
      </p:sp>
      <p:cxnSp>
        <p:nvCxnSpPr>
          <p:cNvPr id="34" name="Connector 33"/>
          <p:cNvCxnSpPr/>
          <p:nvPr/>
        </p:nvCxnSpPr>
        <p:spPr>
          <a:xfrm>
            <a:off x="9310420" y="3291840"/>
            <a:ext cx="219456" cy="0"/>
          </a:xfrm>
          <a:prstGeom prst="line">
            <a:avLst/>
          </a:prstGeom>
          <a:ln w="28575">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Audit it</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Determined, applied, taken into account, and evaluated at 9.1.2</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Not every expectation is a compliance obligation. A customer request becomes one the moment it is written into a contract the organisation signs — or the organisation otherwise chooses to comply. That decision point is exactly what you audit.</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TAKE THESE ON SITE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Identifying Aspects — Four Methods That Actually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Method</a:t>
            </a:r>
          </a:p>
        </p:txBody>
      </p:sp>
      <p:sp>
        <p:nvSpPr>
          <p:cNvPr id="9" name="Rectangle 8"/>
          <p:cNvSpPr/>
          <p:nvPr/>
        </p:nvSpPr>
        <p:spPr>
          <a:xfrm>
            <a:off x="2825496" y="1737360"/>
            <a:ext cx="4334256"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133088"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How it works</a:t>
            </a:r>
          </a:p>
        </p:txBody>
      </p:sp>
      <p:sp>
        <p:nvSpPr>
          <p:cNvPr id="11" name="Rectangle 10"/>
          <p:cNvSpPr/>
          <p:nvPr/>
        </p:nvSpPr>
        <p:spPr>
          <a:xfrm>
            <a:off x="7159752" y="1737360"/>
            <a:ext cx="4334256" cy="79004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1737360"/>
            <a:ext cx="4133088"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What it catches</a:t>
            </a:r>
          </a:p>
        </p:txBody>
      </p:sp>
      <p:sp>
        <p:nvSpPr>
          <p:cNvPr id="13" name="Rectangle 12"/>
          <p:cNvSpPr/>
          <p:nvPr/>
        </p:nvSpPr>
        <p:spPr>
          <a:xfrm>
            <a:off x="658368" y="2527401"/>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Process mapping</a:t>
            </a:r>
          </a:p>
        </p:txBody>
      </p:sp>
      <p:sp>
        <p:nvSpPr>
          <p:cNvPr id="15" name="Rectangle 14"/>
          <p:cNvSpPr/>
          <p:nvPr/>
        </p:nvSpPr>
        <p:spPr>
          <a:xfrm>
            <a:off x="2825496"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527401"/>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Flowchart each step, interrogate each for interaction</a:t>
            </a:r>
          </a:p>
        </p:txBody>
      </p:sp>
      <p:sp>
        <p:nvSpPr>
          <p:cNvPr id="17" name="Rectangle 16"/>
          <p:cNvSpPr/>
          <p:nvPr/>
        </p:nvSpPr>
        <p:spPr>
          <a:xfrm>
            <a:off x="7159752" y="2527401"/>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2527401"/>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Aspects inside repeatable production processes</a:t>
            </a:r>
          </a:p>
        </p:txBody>
      </p:sp>
      <p:sp>
        <p:nvSpPr>
          <p:cNvPr id="19" name="Rectangle 18"/>
          <p:cNvSpPr/>
          <p:nvPr/>
        </p:nvSpPr>
        <p:spPr>
          <a:xfrm>
            <a:off x="658368" y="3317442"/>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Input–output analysis</a:t>
            </a:r>
          </a:p>
        </p:txBody>
      </p:sp>
      <p:sp>
        <p:nvSpPr>
          <p:cNvPr id="21" name="Rectangle 20"/>
          <p:cNvSpPr/>
          <p:nvPr/>
        </p:nvSpPr>
        <p:spPr>
          <a:xfrm>
            <a:off x="2825496"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317442"/>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Materials, water, energy, chemicals IN → product, emissions, effluent, waste OUT</a:t>
            </a:r>
          </a:p>
        </p:txBody>
      </p:sp>
      <p:sp>
        <p:nvSpPr>
          <p:cNvPr id="23" name="Rectangle 22"/>
          <p:cNvSpPr/>
          <p:nvPr/>
        </p:nvSpPr>
        <p:spPr>
          <a:xfrm>
            <a:off x="7159752" y="3317442"/>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3317442"/>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MASS BALANCE gap — 'you bought 500 L of solvent and disposed of 120 L. Where did the rest go?'</a:t>
            </a:r>
          </a:p>
        </p:txBody>
      </p:sp>
      <p:sp>
        <p:nvSpPr>
          <p:cNvPr id="25" name="Rectangle 24"/>
          <p:cNvSpPr/>
          <p:nvPr/>
        </p:nvSpPr>
        <p:spPr>
          <a:xfrm>
            <a:off x="658368" y="4107483"/>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Site walkthrough</a:t>
            </a:r>
          </a:p>
        </p:txBody>
      </p:sp>
      <p:sp>
        <p:nvSpPr>
          <p:cNvPr id="27" name="Rectangle 26"/>
          <p:cNvSpPr/>
          <p:nvPr/>
        </p:nvSpPr>
        <p:spPr>
          <a:xfrm>
            <a:off x="2825496"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4107483"/>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Walk the drains, stacks, vents, bunds, skips, storage areas</a:t>
            </a:r>
          </a:p>
        </p:txBody>
      </p:sp>
      <p:sp>
        <p:nvSpPr>
          <p:cNvPr id="29" name="Rectangle 28"/>
          <p:cNvSpPr/>
          <p:nvPr/>
        </p:nvSpPr>
        <p:spPr>
          <a:xfrm>
            <a:off x="7159752" y="4107483"/>
            <a:ext cx="4334256"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9480" y="4107483"/>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informal and undocumented — the unbunded drum behind the workshop</a:t>
            </a:r>
          </a:p>
        </p:txBody>
      </p:sp>
      <p:sp>
        <p:nvSpPr>
          <p:cNvPr id="31" name="Rectangle 30"/>
          <p:cNvSpPr/>
          <p:nvPr/>
        </p:nvSpPr>
        <p:spPr>
          <a:xfrm>
            <a:off x="658368" y="4897524"/>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Life cycle stages</a:t>
            </a:r>
          </a:p>
        </p:txBody>
      </p:sp>
      <p:sp>
        <p:nvSpPr>
          <p:cNvPr id="33" name="Rectangle 32"/>
          <p:cNvSpPr/>
          <p:nvPr/>
        </p:nvSpPr>
        <p:spPr>
          <a:xfrm>
            <a:off x="2825496"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897524"/>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Raw materials → design → production → transport → use → end of life</a:t>
            </a:r>
          </a:p>
        </p:txBody>
      </p:sp>
      <p:sp>
        <p:nvSpPr>
          <p:cNvPr id="35" name="Rectangle 34"/>
          <p:cNvSpPr/>
          <p:nvPr/>
        </p:nvSpPr>
        <p:spPr>
          <a:xfrm>
            <a:off x="7159752" y="4897524"/>
            <a:ext cx="4334256"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9480" y="4897524"/>
            <a:ext cx="4133088"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Indirect aspects outside the fence that a register often misses</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 mass-balance question is the single most productive aspect-audit technique: unaccounted input is almost always an unregistered fugitive emission.</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THE MOST MISUNDERSTOOD PART OF THE 2015 STANDARD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Risks and Opportunities are NOT Aspects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sk_matrix.png"/>
          <p:cNvPicPr>
            <a:picLocks noChangeAspect="1"/>
          </p:cNvPicPr>
          <p:nvPr/>
        </p:nvPicPr>
        <p:blipFill>
          <a:blip r:embed="rId2"/>
          <a:stretch>
            <a:fillRect/>
          </a:stretch>
        </p:blipFill>
        <p:spPr>
          <a:xfrm>
            <a:off x="658368" y="1998274"/>
            <a:ext cx="5669280" cy="3913012"/>
          </a:xfrm>
          <a:prstGeom prst="rect">
            <a:avLst/>
          </a:prstGeom>
        </p:spPr>
      </p:pic>
      <p:sp>
        <p:nvSpPr>
          <p:cNvPr id="8" name="Rectangle 7"/>
          <p:cNvSpPr/>
          <p:nvPr/>
        </p:nvSpPr>
        <p:spPr>
          <a:xfrm>
            <a:off x="6620256" y="1737360"/>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173736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737360"/>
            <a:ext cx="4453128" cy="985266"/>
          </a:xfrm>
          <a:prstGeom prst="rect">
            <a:avLst/>
          </a:prstGeom>
          <a:noFill/>
        </p:spPr>
        <p:txBody>
          <a:bodyPr wrap="square" anchor="ctr" lIns="0" rIns="0">
            <a:spAutoFit/>
          </a:bodyPr>
          <a:lstStyle/>
          <a:p>
            <a:pPr algn="l">
              <a:spcAft>
                <a:spcPts val="200"/>
              </a:spcAft>
            </a:pPr>
            <a:r>
              <a:rPr sz="1300" b="1">
                <a:solidFill>
                  <a:srgbClr val="1F6FEB"/>
                </a:solidFill>
                <a:latin typeface="Arial"/>
              </a:rPr>
              <a:t>Aspect (6.1.2)</a:t>
            </a:r>
          </a:p>
          <a:p>
            <a:pPr algn="l">
              <a:spcAft>
                <a:spcPts val="200"/>
              </a:spcAft>
            </a:pPr>
            <a:r>
              <a:rPr sz="1100" b="0">
                <a:solidFill>
                  <a:srgbClr val="161B26"/>
                </a:solidFill>
                <a:latin typeface="Arial"/>
              </a:rPr>
              <a:t>Your interaction with the environment. Technical and physical.</a:t>
            </a:r>
          </a:p>
        </p:txBody>
      </p:sp>
      <p:sp>
        <p:nvSpPr>
          <p:cNvPr id="11" name="Rectangle 10"/>
          <p:cNvSpPr/>
          <p:nvPr/>
        </p:nvSpPr>
        <p:spPr>
          <a:xfrm>
            <a:off x="6620256" y="2887218"/>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0256" y="288721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7218"/>
            <a:ext cx="4453128" cy="985266"/>
          </a:xfrm>
          <a:prstGeom prst="rect">
            <a:avLst/>
          </a:prstGeom>
          <a:noFill/>
        </p:spPr>
        <p:txBody>
          <a:bodyPr wrap="square" anchor="ctr" lIns="0" rIns="0">
            <a:spAutoFit/>
          </a:bodyPr>
          <a:lstStyle/>
          <a:p>
            <a:pPr algn="l">
              <a:spcAft>
                <a:spcPts val="200"/>
              </a:spcAft>
            </a:pPr>
            <a:r>
              <a:rPr sz="1300" b="1">
                <a:solidFill>
                  <a:srgbClr val="10B981"/>
                </a:solidFill>
                <a:latin typeface="Arial"/>
              </a:rPr>
              <a:t>Risk / opportunity (6.1.1)</a:t>
            </a:r>
          </a:p>
          <a:p>
            <a:pPr algn="l">
              <a:spcAft>
                <a:spcPts val="200"/>
              </a:spcAft>
            </a:pPr>
            <a:r>
              <a:rPr sz="1100" b="0">
                <a:solidFill>
                  <a:srgbClr val="161B26"/>
                </a:solidFill>
                <a:latin typeface="Arial"/>
              </a:rPr>
              <a:t>Threats and opportunities to the EMS achieving its intended outcomes. Strategic.</a:t>
            </a:r>
          </a:p>
        </p:txBody>
      </p:sp>
      <p:sp>
        <p:nvSpPr>
          <p:cNvPr id="14" name="Rectangle 13"/>
          <p:cNvSpPr/>
          <p:nvPr/>
        </p:nvSpPr>
        <p:spPr>
          <a:xfrm>
            <a:off x="6620256" y="4037076"/>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0256" y="403707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4037076"/>
            <a:ext cx="4453128" cy="985266"/>
          </a:xfrm>
          <a:prstGeom prst="rect">
            <a:avLst/>
          </a:prstGeom>
          <a:noFill/>
        </p:spPr>
        <p:txBody>
          <a:bodyPr wrap="square" anchor="ctr" lIns="0" rIns="0">
            <a:spAutoFit/>
          </a:bodyPr>
          <a:lstStyle/>
          <a:p>
            <a:pPr algn="l">
              <a:spcAft>
                <a:spcPts val="200"/>
              </a:spcAft>
            </a:pPr>
            <a:r>
              <a:rPr sz="1300" b="1">
                <a:solidFill>
                  <a:srgbClr val="7C3AED"/>
                </a:solidFill>
                <a:latin typeface="Arial"/>
              </a:rPr>
              <a:t>Aspects FEED risks</a:t>
            </a:r>
          </a:p>
          <a:p>
            <a:pPr algn="l">
              <a:spcAft>
                <a:spcPts val="200"/>
              </a:spcAft>
            </a:pPr>
            <a:r>
              <a:rPr sz="1100" b="0">
                <a:solidFill>
                  <a:srgbClr val="161B26"/>
                </a:solidFill>
                <a:latin typeface="Arial"/>
              </a:rPr>
              <a:t>Aspects are one input to 6.1.1 — along with compliance obligations and 4.1/4.2 issues.</a:t>
            </a:r>
          </a:p>
        </p:txBody>
      </p:sp>
      <p:sp>
        <p:nvSpPr>
          <p:cNvPr id="17" name="Rectangle 16"/>
          <p:cNvSpPr/>
          <p:nvPr/>
        </p:nvSpPr>
        <p:spPr>
          <a:xfrm>
            <a:off x="6620256" y="5186934"/>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0256" y="518693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5186934"/>
            <a:ext cx="4453128" cy="985266"/>
          </a:xfrm>
          <a:prstGeom prst="rect">
            <a:avLst/>
          </a:prstGeom>
          <a:noFill/>
        </p:spPr>
        <p:txBody>
          <a:bodyPr wrap="square" anchor="ctr" lIns="0" rIns="0">
            <a:spAutoFit/>
          </a:bodyPr>
          <a:lstStyle/>
          <a:p>
            <a:pPr algn="l">
              <a:spcAft>
                <a:spcPts val="200"/>
              </a:spcAft>
            </a:pPr>
            <a:r>
              <a:rPr sz="1300" b="1">
                <a:solidFill>
                  <a:srgbClr val="F59E0B"/>
                </a:solidFill>
                <a:latin typeface="Arial"/>
              </a:rPr>
              <a:t>The common failure</a:t>
            </a:r>
          </a:p>
          <a:p>
            <a:pPr algn="l">
              <a:spcAft>
                <a:spcPts val="200"/>
              </a:spcAft>
            </a:pPr>
            <a:r>
              <a:rPr sz="1100" b="0">
                <a:solidFill>
                  <a:srgbClr val="161B26"/>
                </a:solidFill>
                <a:latin typeface="Arial"/>
              </a:rPr>
              <a:t>Relabelling the aspect register as the 'risk register' does NOT meet clause 6.1.1.</a:t>
            </a:r>
          </a:p>
        </p:txBody>
      </p:sp>
      <p:sp>
        <p:nvSpPr>
          <p:cNvPr id="20" name="TextBox 1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1" name="TextBox 2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2" name="TextBox 2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WHAT YOU AUDIT · CLAUSE 6.2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6.2 — Environmental Objectives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6.2.1 The objective</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Established at relevant functions and levels, taking account of significant aspects and associated compliance obligations. Consistent with policy, measurable if practicable, monitored, communicated, updated.</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6.2.2 The plan — five parts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will be done · WHAT RESOURCES · WHO is responsible · WHEN it completes · HOW results are evaluated, including indicators.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The audit test</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Trace each objective BACKWARDS to a significant aspect or obligation, and FORWARDS to 9.1 monitoring evidence and 9.3 management review.</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'Comply with all laws' and 'zero incidents' are not improvement objectives — they are baseline expectations. Challenge them.</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WHAT YOU AUDIT · CLAUSE 7</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7 — Support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7.1 Resources · 7.2 Competence</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and provide resources. Determine necessary competence for work affecting environmental performance and the ability to fulfil compliance obligations — including contractors. RETAIN evidence of competence.</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7.3 Awareness</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Policy, the significant aspects related to THEIR work, their contribution to EMS effectiveness, and the implications of not conforming. No documented information required — test by interview.</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7.4 Communication</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when, with whom and how. Internal communication must enable staff to CONTRIBUTE to continual improvement. External as required by compliance obligations.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7.5 Documented information</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Creating and updating (identification, format, review and approval); control (availability, protection, distribution, storage, change control, retention).</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Awareness ≠ competence. Ask an operator: 'which environmental aspects relate to YOUR job, and what happens if this goes wrong?' — that is a 7.3 test, and it is where paper systems fall over.</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WHAT YOU AUDIT · CLAUSE 8</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8 — Operation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8.1 Operational planning and control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Establish OPERATING CRITERIA and control processes in accordance with them. Control planned changes and review unintended changes. Ensure outsourced processes are controlled or influenced.</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8.1 Life cycle perspective — four duties</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Environmental requirements in design and development · procurement requirements · communicate requirements to external providers including contractors · consider providing information on transport, use and end-of-life.</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8.2 Emergency preparedness and response</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Prepare, respond, mitigate, PERIODICALLY TEST where practicable, review and revise (especially after an incident or a test), and provide information and training.</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F59E0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 full Life Cycle Assessment is NOT required. Ask instead: 'which life cycle stages did you consider, what did you conclude you can control or influence, and why?'</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WHAT YOU AUDIT · CLAUSE 9</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9 — Performance Evaluation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9.1.1 Monitoring and measurement</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What to monitor, methods ensuring valid results, the CRITERIA and INDICATORS for evaluating performance, and when. Equipment must be CALIBRATED OR VERIFIED.</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9.1.2 Evaluation of compliance</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the FREQUENCY of evaluation, evaluate and act, and MAINTAIN KNOWLEDGE AND UNDERSTANDING of compliance status. Retain the results.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9.2 Internal audit</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At planned intervals, testing conformity to ISO 14001 AND the organisation's own requirements, and effective implementation. The programme must consider environmental importance, changes, and previous results.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9.3 Management review</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Seven required inputs and six required outputs — including implications for the STRATEGIC DIRECTION of the organisation.</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7C3AED"/>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9.1.2 is NOT the same as 6.1.3, and NOT the same as 9.2. 6.1.3 asks 'which obligations apply?'; 9.1.2 asks 'are we actually complying?'; 9.2 audits the system.</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WHAT YOU AUDIT · CLAUSE 10</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10 — Improvement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10.1 General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Determine opportunities for improvement from 9.1, 9.2 and 9.3, and implement actions to achieve the intended outcomes of the EMS.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10.2 Nonconformity and corrective action</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React and correct · evaluate the need to eliminate the CAUSE · determine whether similar nonconformities exist or could occur · implement · REVIEW EFFECTIVENESS · change the EMS if necessary. Retain evidence of both the NC and the results.</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10.3 Continual improvement</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Continually improve the suitability, adequacy and effectiveness of the EMS TO ENHANCE ENVIRONMENTAL PERFORMANCE.</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10.2(d) — 'review the effectiveness of any corrective action taken' — is the clause that makes 'closed without verification' a nonconformity in its own right.</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15 MANDATORY ITEMS · 7 MAINTAIN + 8 RETAIN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Documented Information — MAINTAIN vs RETAIN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408633"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207465"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
            </a:r>
          </a:p>
        </p:txBody>
      </p:sp>
      <p:sp>
        <p:nvSpPr>
          <p:cNvPr id="9" name="Rectangle 8"/>
          <p:cNvSpPr/>
          <p:nvPr/>
        </p:nvSpPr>
        <p:spPr>
          <a:xfrm>
            <a:off x="2067001" y="1737360"/>
            <a:ext cx="4767681"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6729" y="1737360"/>
            <a:ext cx="4566513"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MAINTAIN (a document — how to do it)</a:t>
            </a:r>
          </a:p>
        </p:txBody>
      </p:sp>
      <p:sp>
        <p:nvSpPr>
          <p:cNvPr id="11" name="Rectangle 10"/>
          <p:cNvSpPr/>
          <p:nvPr/>
        </p:nvSpPr>
        <p:spPr>
          <a:xfrm>
            <a:off x="6834682" y="1737360"/>
            <a:ext cx="4659325"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4410" y="1737360"/>
            <a:ext cx="4458157" cy="658368"/>
          </a:xfrm>
          <a:prstGeom prst="rect">
            <a:avLst/>
          </a:prstGeom>
          <a:noFill/>
        </p:spPr>
        <p:txBody>
          <a:bodyPr wrap="square" anchor="ctr" lIns="0" rIns="0">
            <a:spAutoFit/>
          </a:bodyPr>
          <a:lstStyle/>
          <a:p>
            <a:pPr algn="l">
              <a:spcAft>
                <a:spcPts val="400"/>
              </a:spcAft>
            </a:pPr>
            <a:r>
              <a:rPr sz="1000" b="1">
                <a:solidFill>
                  <a:srgbClr val="FFFFFF"/>
                </a:solidFill>
                <a:latin typeface="Arial"/>
              </a:rPr>
              <a:t>RETAIN (a record — evidence it was done)</a:t>
            </a:r>
          </a:p>
        </p:txBody>
      </p:sp>
      <p:sp>
        <p:nvSpPr>
          <p:cNvPr id="13" name="Rectangle 12"/>
          <p:cNvSpPr/>
          <p:nvPr/>
        </p:nvSpPr>
        <p:spPr>
          <a:xfrm>
            <a:off x="658368" y="2395728"/>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4–6</a:t>
            </a:r>
          </a:p>
        </p:txBody>
      </p:sp>
      <p:sp>
        <p:nvSpPr>
          <p:cNvPr id="15" name="Rectangle 14"/>
          <p:cNvSpPr/>
          <p:nvPr/>
        </p:nvSpPr>
        <p:spPr>
          <a:xfrm>
            <a:off x="2067001" y="2395728"/>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76729" y="2395728"/>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4.3 scope · 5.2 policy · 6.1.1 risks &amp; opportunities · 6.1.2 aspects, criteria, significant aspects · 6.1.3 obligations</a:t>
            </a:r>
          </a:p>
        </p:txBody>
      </p:sp>
      <p:sp>
        <p:nvSpPr>
          <p:cNvPr id="17" name="Rectangle 16"/>
          <p:cNvSpPr/>
          <p:nvPr/>
        </p:nvSpPr>
        <p:spPr>
          <a:xfrm>
            <a:off x="6834682" y="2395728"/>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4410" y="2395728"/>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6.2.1 environmental objectives</a:t>
            </a:r>
          </a:p>
        </p:txBody>
      </p:sp>
      <p:sp>
        <p:nvSpPr>
          <p:cNvPr id="19" name="Rectangle 18"/>
          <p:cNvSpPr/>
          <p:nvPr/>
        </p:nvSpPr>
        <p:spPr>
          <a:xfrm>
            <a:off x="658368" y="3054096"/>
            <a:ext cx="140863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7</a:t>
            </a:r>
          </a:p>
        </p:txBody>
      </p:sp>
      <p:sp>
        <p:nvSpPr>
          <p:cNvPr id="21" name="Rectangle 20"/>
          <p:cNvSpPr/>
          <p:nvPr/>
        </p:nvSpPr>
        <p:spPr>
          <a:xfrm>
            <a:off x="2067001" y="3054096"/>
            <a:ext cx="4767681"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76729" y="3054096"/>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23" name="Rectangle 22"/>
          <p:cNvSpPr/>
          <p:nvPr/>
        </p:nvSpPr>
        <p:spPr>
          <a:xfrm>
            <a:off x="6834682" y="3054096"/>
            <a:ext cx="465932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4410" y="3054096"/>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7.2 competence · 7.4.1 communications</a:t>
            </a:r>
          </a:p>
        </p:txBody>
      </p:sp>
      <p:sp>
        <p:nvSpPr>
          <p:cNvPr id="25" name="Rectangle 24"/>
          <p:cNvSpPr/>
          <p:nvPr/>
        </p:nvSpPr>
        <p:spPr>
          <a:xfrm>
            <a:off x="658368" y="3712464"/>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8</a:t>
            </a:r>
          </a:p>
        </p:txBody>
      </p:sp>
      <p:sp>
        <p:nvSpPr>
          <p:cNvPr id="27" name="Rectangle 26"/>
          <p:cNvSpPr/>
          <p:nvPr/>
        </p:nvSpPr>
        <p:spPr>
          <a:xfrm>
            <a:off x="2067001" y="3712464"/>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76729" y="3712464"/>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8.1 operational control · 8.2 emergency</a:t>
            </a:r>
          </a:p>
        </p:txBody>
      </p:sp>
      <p:sp>
        <p:nvSpPr>
          <p:cNvPr id="29" name="Rectangle 28"/>
          <p:cNvSpPr/>
          <p:nvPr/>
        </p:nvSpPr>
        <p:spPr>
          <a:xfrm>
            <a:off x="6834682" y="3712464"/>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4410" y="3712464"/>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1" name="Rectangle 30"/>
          <p:cNvSpPr/>
          <p:nvPr/>
        </p:nvSpPr>
        <p:spPr>
          <a:xfrm>
            <a:off x="658368" y="4370832"/>
            <a:ext cx="140863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9</a:t>
            </a:r>
          </a:p>
        </p:txBody>
      </p:sp>
      <p:sp>
        <p:nvSpPr>
          <p:cNvPr id="33" name="Rectangle 32"/>
          <p:cNvSpPr/>
          <p:nvPr/>
        </p:nvSpPr>
        <p:spPr>
          <a:xfrm>
            <a:off x="2067001" y="4370832"/>
            <a:ext cx="4767681"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76729" y="4370832"/>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35" name="Rectangle 34"/>
          <p:cNvSpPr/>
          <p:nvPr/>
        </p:nvSpPr>
        <p:spPr>
          <a:xfrm>
            <a:off x="6834682" y="4370832"/>
            <a:ext cx="4659325"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4410" y="4370832"/>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9.1.1 monitoring results · 9.1.2 compliance evaluation · 9.2.2 audit programme and results · 9.3 management review</a:t>
            </a:r>
          </a:p>
        </p:txBody>
      </p:sp>
      <p:sp>
        <p:nvSpPr>
          <p:cNvPr id="37" name="Rectangle 36"/>
          <p:cNvSpPr/>
          <p:nvPr/>
        </p:nvSpPr>
        <p:spPr>
          <a:xfrm>
            <a:off x="658368" y="5029200"/>
            <a:ext cx="140863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207465" cy="658368"/>
          </a:xfrm>
          <a:prstGeom prst="rect">
            <a:avLst/>
          </a:prstGeom>
          <a:noFill/>
        </p:spPr>
        <p:txBody>
          <a:bodyPr wrap="square" anchor="ctr" lIns="0" rIns="0">
            <a:spAutoFit/>
          </a:bodyPr>
          <a:lstStyle/>
          <a:p>
            <a:pPr algn="l">
              <a:spcAft>
                <a:spcPts val="400"/>
              </a:spcAft>
            </a:pPr>
            <a:r>
              <a:rPr sz="900" b="1">
                <a:solidFill>
                  <a:srgbClr val="161B26"/>
                </a:solidFill>
                <a:latin typeface="Arial"/>
              </a:rPr>
              <a:t>Clause 10</a:t>
            </a:r>
          </a:p>
        </p:txBody>
      </p:sp>
      <p:sp>
        <p:nvSpPr>
          <p:cNvPr id="39" name="Rectangle 38"/>
          <p:cNvSpPr/>
          <p:nvPr/>
        </p:nvSpPr>
        <p:spPr>
          <a:xfrm>
            <a:off x="2067001" y="5029200"/>
            <a:ext cx="4767681"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76729" y="5029200"/>
            <a:ext cx="4566513"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a:t>
            </a:r>
          </a:p>
        </p:txBody>
      </p:sp>
      <p:sp>
        <p:nvSpPr>
          <p:cNvPr id="41" name="Rectangle 40"/>
          <p:cNvSpPr/>
          <p:nvPr/>
        </p:nvSpPr>
        <p:spPr>
          <a:xfrm>
            <a:off x="6834682" y="5029200"/>
            <a:ext cx="4659325"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4410" y="5029200"/>
            <a:ext cx="4458157" cy="658368"/>
          </a:xfrm>
          <a:prstGeom prst="rect">
            <a:avLst/>
          </a:prstGeom>
          <a:noFill/>
        </p:spPr>
        <p:txBody>
          <a:bodyPr wrap="square" anchor="ctr" lIns="0" rIns="0">
            <a:spAutoFit/>
          </a:bodyPr>
          <a:lstStyle/>
          <a:p>
            <a:pPr algn="l">
              <a:spcAft>
                <a:spcPts val="400"/>
              </a:spcAft>
            </a:pPr>
            <a:r>
              <a:rPr sz="900" b="0">
                <a:solidFill>
                  <a:srgbClr val="161B26"/>
                </a:solidFill>
                <a:latin typeface="Arial"/>
              </a:rPr>
              <a:t>10.2 nature of NCs, actions taken, and results of corrective action</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There is NO required documented procedure anywhere in ISO 14001:2015, and NO environmental manual. Never raise a nonconformity for their absence.</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F59E0B"/>
                </a:solidFill>
                <a:latin typeface="Arial"/>
              </a:rPr>
              <a:t>TRANSITION AWARENESS</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ISO 14001:2015 was withdrawn on 15 April 2026 and replaced by ISO 14001:2026.</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Certificates issued to the 2015 edition remain valid through a 36-month transition. The 10-clause high level structure is retained. This course teaches the 2015 edition because that is what most auditees are still certified to.</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01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1 — Auditing GreenPack — Framework, Context and…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1  ·  45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GreenPack Manufacturing has expanded capacity by 40% and added a solvent-based thermal lamination line. Energy use is up 25%, VOC emissions have risen and three odour complaints have been received — but the aspects register and policy are stale. You are the lead internal auditor: scope the engagement.</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Read the scenario and list the IPPF components that govern your conduct</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Map the symptoms to ISO 14001:2015 clauses (4.1–4.4, 5.2, 6.1.2, 8.1)</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a context table: issues, interested parties, compliance obligations</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Decide the audit scope, boundaries and the areas you will prioritise</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the engagement note justifying scope against risk</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 completed Audit Engagement Scoping Note for GreenPack — clause map, context table, prioritised scope and the IPPF basis for your independence.</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1 brief · ISO 14001:2015 clause map · Context &amp; scope template</a:t>
            </a:r>
            <a:r>
              <a:rPr sz="1100" b="0">
                <a:solidFill>
                  <a:srgbClr val="5B6372"/>
                </a:solidFill>
                <a:latin typeface="Arial"/>
              </a:rPr>
              <a:t>     ·     Full step-by-step guide: Learner Guide, Activity 1</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01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1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scoping note names at least 8 relevant clauses each tied to a specific scenario fact, ranks the lamination line as the top priority with a stated reason, and contains an explicit auditor-independence statement.</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 listed clauses but did not tie each one to a fact from the scenario — the clause map must be evidence-led, not a contents page.</a:t>
            </a:r>
          </a:p>
          <a:p>
            <a:pPr>
              <a:spcAft>
                <a:spcPts val="800"/>
              </a:spcAft>
            </a:pPr>
            <a:r>
              <a:rPr sz="1200" b="0">
                <a:solidFill>
                  <a:srgbClr val="161B26"/>
                </a:solidFill>
                <a:latin typeface="Arial"/>
              </a:rPr>
              <a:t>•  You allocated equal audit time to all three departments. Audit effort follows environmental risk and change; say so and defend it.</a:t>
            </a:r>
          </a:p>
          <a:p>
            <a:pPr>
              <a:spcAft>
                <a:spcPts val="800"/>
              </a:spcAft>
            </a:pPr>
            <a:r>
              <a:rPr sz="1200" b="0">
                <a:solidFill>
                  <a:srgbClr val="161B26"/>
                </a:solidFill>
                <a:latin typeface="Arial"/>
              </a:rPr>
              <a:t>•  You treated the odour complaints as the finding. They are a SYMPTOM — the stale aspects register is the systemic issue.</a:t>
            </a:r>
          </a:p>
          <a:p>
            <a:pPr>
              <a:spcAft>
                <a:spcPts val="800"/>
              </a:spcAft>
            </a:pPr>
            <a:r>
              <a:rPr sz="1200" b="0">
                <a:solidFill>
                  <a:srgbClr val="161B26"/>
                </a:solidFill>
                <a:latin typeface="Arial"/>
              </a:rPr>
              <a:t>•  You forgot the independence statement. The IPPF requires objectivity to be considered and recorded before the engagement starts.</a:t>
            </a:r>
          </a:p>
          <a:p>
            <a:pPr>
              <a:spcAft>
                <a:spcPts val="800"/>
              </a:spcAft>
            </a:pPr>
            <a:r>
              <a:rPr sz="1200" b="0">
                <a:solidFill>
                  <a:srgbClr val="161B26"/>
                </a:solidFill>
                <a:latin typeface="Arial"/>
              </a:rPr>
              <a:t>•  You wrote 'the policy is old' without naming clause 5.2 and what it requires.</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a:spAutoFit/>
          </a:bodyPr>
          <a:lstStyle/>
          <a:p>
            <a:pPr algn="ctr">
              <a:spcAft>
                <a:spcPts val="400"/>
              </a:spcAft>
            </a:pPr>
            <a:r>
              <a:rPr sz="44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a:spAutoFit/>
          </a:bodyPr>
          <a:lstStyle/>
          <a:p>
            <a:pPr algn="ctr">
              <a:spcAft>
                <a:spcPts val="400"/>
              </a:spcAft>
            </a:pPr>
            <a:r>
              <a:rPr sz="2000" b="1">
                <a:solidFill>
                  <a:srgbClr val="F59E0B"/>
                </a:solidFill>
                <a:latin typeface="Arial"/>
              </a:rPr>
              <a:t>15 minutes</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02</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Auditing ISO 14001:2015</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ISO 19011:2018 principles · audit programme vs audit · the six-stage lifecycle · checklists, evidence, interviewing · stakeholders</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02</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55</a:t>
            </a:r>
          </a:p>
        </p:txBody>
      </p:sp>
    </p:spTree>
  </p:cSld>
  <p:clrMapOvr>
    <a:masterClrMapping/>
  </p:clrMapOvr>
  <p:transition spd="med" advClick="1">
    <p:push dir="l"/>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0B981"/>
                </a:solidFill>
                <a:latin typeface="Arial"/>
              </a:rPr>
              <a:t>GET THIS RIGHT FIRST</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ISO 19011 tells you HOW to audit. ISO 14001 clause 9.2 says you MUST.</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ISO 19011:2018 is written entirely in 'should' — it is guidance, not requirements. You never raise a nonconformity 'against ISO 19011'.</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THE PROFESSIONAL FOUNDATION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Seven Audit Principles — ISO 19011:2018 Clause 4</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Integrity</a:t>
            </a:r>
          </a:p>
          <a:p>
            <a:pPr algn="l">
              <a:spcAft>
                <a:spcPts val="300"/>
              </a:spcAft>
            </a:pPr>
            <a:r>
              <a:rPr sz="1100" b="0">
                <a:solidFill>
                  <a:srgbClr val="5B6372"/>
                </a:solidFill>
                <a:latin typeface="Arial"/>
              </a:rPr>
              <a:t>The foundation of professionalism — perform work honestly, diligently and responsibly.</a:t>
            </a:r>
          </a:p>
        </p:txBody>
      </p:sp>
      <p:sp>
        <p:nvSpPr>
          <p:cNvPr id="12" name="Rectangle 11"/>
          <p:cNvSpPr/>
          <p:nvPr/>
        </p:nvSpPr>
        <p:spPr>
          <a:xfrm>
            <a:off x="6204204" y="1719072"/>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1960245"/>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Fair presentation</a:t>
            </a:r>
          </a:p>
          <a:p>
            <a:pPr algn="l">
              <a:spcAft>
                <a:spcPts val="300"/>
              </a:spcAft>
            </a:pPr>
            <a:r>
              <a:rPr sz="1100" b="0">
                <a:solidFill>
                  <a:srgbClr val="5B6372"/>
                </a:solidFill>
                <a:latin typeface="Arial"/>
              </a:rPr>
              <a:t>The obligation to report truthfully and accurately — including unresolved disagreements.</a:t>
            </a:r>
          </a:p>
        </p:txBody>
      </p:sp>
      <p:sp>
        <p:nvSpPr>
          <p:cNvPr id="17" name="Rectangle 16"/>
          <p:cNvSpPr/>
          <p:nvPr/>
        </p:nvSpPr>
        <p:spPr>
          <a:xfrm>
            <a:off x="658368" y="2878074"/>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878074"/>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119247"/>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2987802"/>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Due professional care</a:t>
            </a:r>
          </a:p>
          <a:p>
            <a:pPr algn="l">
              <a:spcAft>
                <a:spcPts val="300"/>
              </a:spcAft>
            </a:pPr>
            <a:r>
              <a:rPr sz="1100" b="0">
                <a:solidFill>
                  <a:srgbClr val="5B6372"/>
                </a:solidFill>
                <a:latin typeface="Arial"/>
              </a:rPr>
              <a:t>Diligence and judgement appropriate to the importance of the task and the confidence placed in the auditor.</a:t>
            </a:r>
          </a:p>
        </p:txBody>
      </p:sp>
      <p:sp>
        <p:nvSpPr>
          <p:cNvPr id="22" name="Rectangle 21"/>
          <p:cNvSpPr/>
          <p:nvPr/>
        </p:nvSpPr>
        <p:spPr>
          <a:xfrm>
            <a:off x="6204204" y="2878074"/>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2878074"/>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119247"/>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2987802"/>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Confidentiality</a:t>
            </a:r>
          </a:p>
          <a:p>
            <a:pPr algn="l">
              <a:spcAft>
                <a:spcPts val="300"/>
              </a:spcAft>
            </a:pPr>
            <a:r>
              <a:rPr sz="1100" b="0">
                <a:solidFill>
                  <a:srgbClr val="5B6372"/>
                </a:solidFill>
                <a:latin typeface="Arial"/>
              </a:rPr>
              <a:t>Security of information — auditors must not use information for personal gain or to the detriment of the auditee.</a:t>
            </a:r>
          </a:p>
        </p:txBody>
      </p:sp>
      <p:sp>
        <p:nvSpPr>
          <p:cNvPr id="27" name="Rectangle 26"/>
          <p:cNvSpPr/>
          <p:nvPr/>
        </p:nvSpPr>
        <p:spPr>
          <a:xfrm>
            <a:off x="658368" y="4037076"/>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037076"/>
            <a:ext cx="82296" cy="95783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278249"/>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146804"/>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Independence</a:t>
            </a:r>
          </a:p>
          <a:p>
            <a:pPr algn="l">
              <a:spcAft>
                <a:spcPts val="300"/>
              </a:spcAft>
            </a:pPr>
            <a:r>
              <a:rPr sz="1100" b="0">
                <a:solidFill>
                  <a:srgbClr val="5B6372"/>
                </a:solidFill>
                <a:latin typeface="Arial"/>
              </a:rPr>
              <a:t>The basis for impartiality and objectivity of the audit conclusions — auditors do not audit their own work.</a:t>
            </a:r>
          </a:p>
        </p:txBody>
      </p:sp>
      <p:sp>
        <p:nvSpPr>
          <p:cNvPr id="32" name="Rectangle 31"/>
          <p:cNvSpPr/>
          <p:nvPr/>
        </p:nvSpPr>
        <p:spPr>
          <a:xfrm>
            <a:off x="6204204" y="4037076"/>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037076"/>
            <a:ext cx="82296" cy="95783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4278249"/>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146804"/>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Evidence-based approach</a:t>
            </a:r>
          </a:p>
          <a:p>
            <a:pPr algn="l">
              <a:spcAft>
                <a:spcPts val="300"/>
              </a:spcAft>
            </a:pPr>
            <a:r>
              <a:rPr sz="1100" b="0">
                <a:solidFill>
                  <a:srgbClr val="5B6372"/>
                </a:solidFill>
                <a:latin typeface="Arial"/>
              </a:rPr>
              <a:t>The rational method for reaching reliable and REPRODUCIBLE conclusions in a systematic process.</a:t>
            </a:r>
          </a:p>
        </p:txBody>
      </p:sp>
      <p:sp>
        <p:nvSpPr>
          <p:cNvPr id="37" name="Rectangle 36"/>
          <p:cNvSpPr/>
          <p:nvPr/>
        </p:nvSpPr>
        <p:spPr>
          <a:xfrm>
            <a:off x="658368" y="5196078"/>
            <a:ext cx="5289804"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196078"/>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437251"/>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7</a:t>
            </a:r>
          </a:p>
        </p:txBody>
      </p:sp>
      <p:sp>
        <p:nvSpPr>
          <p:cNvPr id="41" name="TextBox 40"/>
          <p:cNvSpPr txBox="1"/>
          <p:nvPr/>
        </p:nvSpPr>
        <p:spPr>
          <a:xfrm>
            <a:off x="1536192" y="5305806"/>
            <a:ext cx="4192524"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Risk-based approach</a:t>
            </a:r>
          </a:p>
          <a:p>
            <a:pPr algn="l">
              <a:spcAft>
                <a:spcPts val="300"/>
              </a:spcAft>
            </a:pPr>
            <a:r>
              <a:rPr sz="1100" b="0">
                <a:solidFill>
                  <a:srgbClr val="5B6372"/>
                </a:solidFill>
                <a:latin typeface="Arial"/>
              </a:rPr>
              <a:t>An audit approach that considers risks and opportunities — new in the 2018 edition.</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DISTINCTION MOST COURSES SKIP</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Audit Programme vs Individual Audit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udit_lifecycle.png"/>
          <p:cNvPicPr>
            <a:picLocks noChangeAspect="1"/>
          </p:cNvPicPr>
          <p:nvPr/>
        </p:nvPicPr>
        <p:blipFill>
          <a:blip r:embed="rId2"/>
          <a:stretch>
            <a:fillRect/>
          </a:stretch>
        </p:blipFill>
        <p:spPr>
          <a:xfrm>
            <a:off x="1805659" y="1719072"/>
            <a:ext cx="8580376"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5 manages the PROGRAMME — the whole schedule of audits for the year. Clause 6 conducts ONE audit. ISO 14001 clause 9.2.2 requires the programme to consider environmental importance, changes, and previous audit results.</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TWO DIFFERENT CONVERSATIONS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Programme Findings vs Audit Findings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PROGRAMME-LEVEL (ISO 14001 cl. 9.2.2)</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The audit procedure has not been updated after major change</a:t>
            </a:r>
          </a:p>
          <a:p>
            <a:pPr>
              <a:spcAft>
                <a:spcPts val="700"/>
              </a:spcAft>
            </a:pPr>
            <a:r>
              <a:rPr sz="1100" b="0">
                <a:solidFill>
                  <a:srgbClr val="5B6372"/>
                </a:solidFill>
                <a:latin typeface="Arial"/>
              </a:rPr>
              <a:t>–  Equal audit time regardless of environmental risk</a:t>
            </a:r>
          </a:p>
          <a:p>
            <a:pPr>
              <a:spcAft>
                <a:spcPts val="700"/>
              </a:spcAft>
            </a:pPr>
            <a:r>
              <a:rPr sz="1100" b="0">
                <a:solidFill>
                  <a:srgbClr val="5B6372"/>
                </a:solidFill>
                <a:latin typeface="Arial"/>
              </a:rPr>
              <a:t>–  Previous nonconformities closed without verification</a:t>
            </a:r>
          </a:p>
          <a:p>
            <a:pPr>
              <a:spcAft>
                <a:spcPts val="700"/>
              </a:spcAft>
            </a:pPr>
            <a:r>
              <a:rPr sz="1100" b="0">
                <a:solidFill>
                  <a:srgbClr val="5B6372"/>
                </a:solidFill>
                <a:latin typeface="Arial"/>
              </a:rPr>
              <a:t>–  Auditors not competent or not impartial</a:t>
            </a:r>
          </a:p>
          <a:p>
            <a:pPr>
              <a:spcAft>
                <a:spcPts val="700"/>
              </a:spcAft>
            </a:pPr>
            <a:r>
              <a:rPr sz="1100" b="0">
                <a:solidFill>
                  <a:srgbClr val="5B6372"/>
                </a:solidFill>
                <a:latin typeface="Arial"/>
              </a:rPr>
              <a:t>–  Results not reported to relevant management</a:t>
            </a:r>
          </a:p>
          <a:p>
            <a:pPr>
              <a:spcAft>
                <a:spcPts val="700"/>
              </a:spcAft>
            </a:pPr>
            <a:r>
              <a:rPr sz="1100" b="0">
                <a:solidFill>
                  <a:srgbClr val="5B6372"/>
                </a:solidFill>
                <a:latin typeface="Arial"/>
              </a:rPr>
              <a:t>–  The programme itself is not monitored or improved</a:t>
            </a:r>
          </a:p>
        </p:txBody>
      </p:sp>
      <p:sp>
        <p:nvSpPr>
          <p:cNvPr id="11" name="Rectangle 10"/>
          <p:cNvSpPr/>
          <p:nvPr/>
        </p:nvSpPr>
        <p:spPr>
          <a:xfrm>
            <a:off x="6190488" y="1737360"/>
            <a:ext cx="53035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AUDIT-LEVEL (this one audit)</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A checklist that does not cover the audit criteria</a:t>
            </a:r>
          </a:p>
          <a:p>
            <a:pPr>
              <a:spcAft>
                <a:spcPts val="700"/>
              </a:spcAft>
            </a:pPr>
            <a:r>
              <a:rPr sz="1100" b="0">
                <a:solidFill>
                  <a:srgbClr val="5B6372"/>
                </a:solidFill>
                <a:latin typeface="Arial"/>
              </a:rPr>
              <a:t>–  Evidence not verified before a finding is raised</a:t>
            </a:r>
          </a:p>
          <a:p>
            <a:pPr>
              <a:spcAft>
                <a:spcPts val="700"/>
              </a:spcAft>
            </a:pPr>
            <a:r>
              <a:rPr sz="1100" b="0">
                <a:solidFill>
                  <a:srgbClr val="5B6372"/>
                </a:solidFill>
                <a:latin typeface="Arial"/>
              </a:rPr>
              <a:t>–  A nonconformity statement missing its evidence</a:t>
            </a:r>
          </a:p>
          <a:p>
            <a:pPr>
              <a:spcAft>
                <a:spcPts val="700"/>
              </a:spcAft>
            </a:pPr>
            <a:r>
              <a:rPr sz="1100" b="0">
                <a:solidFill>
                  <a:srgbClr val="5B6372"/>
                </a:solidFill>
                <a:latin typeface="Arial"/>
              </a:rPr>
              <a:t>–  No opening or closing meeting held</a:t>
            </a:r>
          </a:p>
          <a:p>
            <a:pPr>
              <a:spcAft>
                <a:spcPts val="700"/>
              </a:spcAft>
            </a:pPr>
            <a:r>
              <a:rPr sz="1100" b="0">
                <a:solidFill>
                  <a:srgbClr val="5B6372"/>
                </a:solidFill>
                <a:latin typeface="Arial"/>
              </a:rPr>
              <a:t>–  The report omits the sampling limitation</a:t>
            </a:r>
          </a:p>
          <a:p>
            <a:pPr>
              <a:spcAft>
                <a:spcPts val="700"/>
              </a:spcAft>
            </a:pPr>
            <a:r>
              <a:rPr sz="1100" b="0">
                <a:solidFill>
                  <a:srgbClr val="5B6372"/>
                </a:solidFill>
                <a:latin typeface="Arial"/>
              </a:rPr>
              <a:t>–  Findings not agreed with the auditee before reporting</a:t>
            </a:r>
          </a:p>
        </p:txBody>
      </p:sp>
      <p:sp>
        <p:nvSpPr>
          <p:cNvPr id="15" name="Rectangle 14"/>
          <p:cNvSpPr/>
          <p:nvPr/>
        </p:nvSpPr>
        <p:spPr>
          <a:xfrm>
            <a:off x="658368" y="5650992"/>
            <a:ext cx="10835640" cy="65836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Fixing a programme finding improves every future audit. Fixing an audit finding improves one. Know which one you are looking at.</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19011:2018 §6.2 – §6.7</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Six-Stage Audit Lifecycle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5182"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5182"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Initiating</a:t>
            </a:r>
          </a:p>
        </p:txBody>
      </p:sp>
      <p:sp>
        <p:nvSpPr>
          <p:cNvPr id="12" name="TextBox 11"/>
          <p:cNvSpPr txBox="1"/>
          <p:nvPr/>
        </p:nvSpPr>
        <p:spPr>
          <a:xfrm>
            <a:off x="768096"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Contact the auditee · confirm feasibility and authority</a:t>
            </a:r>
          </a:p>
        </p:txBody>
      </p:sp>
      <p:cxnSp>
        <p:nvCxnSpPr>
          <p:cNvPr id="13" name="Connector 12"/>
          <p:cNvCxnSpPr/>
          <p:nvPr/>
        </p:nvCxnSpPr>
        <p:spPr>
          <a:xfrm>
            <a:off x="2250948"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16124"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6124"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32938"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3293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625852"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Preparing</a:t>
            </a:r>
          </a:p>
        </p:txBody>
      </p:sp>
      <p:sp>
        <p:nvSpPr>
          <p:cNvPr id="19" name="TextBox 18"/>
          <p:cNvSpPr txBox="1"/>
          <p:nvPr/>
        </p:nvSpPr>
        <p:spPr>
          <a:xfrm>
            <a:off x="2625852"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Document review · audit plan · work assignment · checklist</a:t>
            </a:r>
          </a:p>
        </p:txBody>
      </p:sp>
      <p:cxnSp>
        <p:nvCxnSpPr>
          <p:cNvPr id="20" name="Connector 19"/>
          <p:cNvCxnSpPr/>
          <p:nvPr/>
        </p:nvCxnSpPr>
        <p:spPr>
          <a:xfrm>
            <a:off x="4108704"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73880"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3880"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90694"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9069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4483608"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Conducting</a:t>
            </a:r>
          </a:p>
        </p:txBody>
      </p:sp>
      <p:sp>
        <p:nvSpPr>
          <p:cNvPr id="26" name="TextBox 25"/>
          <p:cNvSpPr txBox="1"/>
          <p:nvPr/>
        </p:nvSpPr>
        <p:spPr>
          <a:xfrm>
            <a:off x="4483608"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Opening meeting · collect and VERIFY · findings · closing</a:t>
            </a:r>
          </a:p>
        </p:txBody>
      </p:sp>
      <p:cxnSp>
        <p:nvCxnSpPr>
          <p:cNvPr id="27" name="Connector 26"/>
          <p:cNvCxnSpPr/>
          <p:nvPr/>
        </p:nvCxnSpPr>
        <p:spPr>
          <a:xfrm>
            <a:off x="5966460"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31636"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8450"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8450"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6341364"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Reporting</a:t>
            </a:r>
          </a:p>
        </p:txBody>
      </p:sp>
      <p:sp>
        <p:nvSpPr>
          <p:cNvPr id="33" name="TextBox 32"/>
          <p:cNvSpPr txBox="1"/>
          <p:nvPr/>
        </p:nvSpPr>
        <p:spPr>
          <a:xfrm>
            <a:off x="6341364"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Prepare and distribute the audit report</a:t>
            </a:r>
          </a:p>
        </p:txBody>
      </p:sp>
      <p:cxnSp>
        <p:nvCxnSpPr>
          <p:cNvPr id="34" name="Connector 33"/>
          <p:cNvCxnSpPr/>
          <p:nvPr/>
        </p:nvCxnSpPr>
        <p:spPr>
          <a:xfrm>
            <a:off x="7824216"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089392"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89392"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06206"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6206"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8199120"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Completing</a:t>
            </a:r>
          </a:p>
        </p:txBody>
      </p:sp>
      <p:sp>
        <p:nvSpPr>
          <p:cNvPr id="40" name="TextBox 39"/>
          <p:cNvSpPr txBox="1"/>
          <p:nvPr/>
        </p:nvSpPr>
        <p:spPr>
          <a:xfrm>
            <a:off x="8199120"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Distribute · retain records · close the audit</a:t>
            </a:r>
          </a:p>
        </p:txBody>
      </p:sp>
      <p:cxnSp>
        <p:nvCxnSpPr>
          <p:cNvPr id="41" name="Connector 40"/>
          <p:cNvCxnSpPr/>
          <p:nvPr/>
        </p:nvCxnSpPr>
        <p:spPr>
          <a:xfrm>
            <a:off x="9681972" y="3291840"/>
            <a:ext cx="219456" cy="0"/>
          </a:xfrm>
          <a:prstGeom prst="line">
            <a:avLst/>
          </a:prstGeom>
          <a:ln w="28575">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47148" y="2103120"/>
            <a:ext cx="1546860"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47148" y="2103120"/>
            <a:ext cx="15468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63962" y="2450592"/>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63962"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6</a:t>
            </a:r>
          </a:p>
        </p:txBody>
      </p:sp>
      <p:sp>
        <p:nvSpPr>
          <p:cNvPr id="46" name="TextBox 45"/>
          <p:cNvSpPr txBox="1"/>
          <p:nvPr/>
        </p:nvSpPr>
        <p:spPr>
          <a:xfrm>
            <a:off x="10056876" y="3310128"/>
            <a:ext cx="1327404"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Follow-up</a:t>
            </a:r>
          </a:p>
        </p:txBody>
      </p:sp>
      <p:sp>
        <p:nvSpPr>
          <p:cNvPr id="47" name="TextBox 46"/>
          <p:cNvSpPr txBox="1"/>
          <p:nvPr/>
        </p:nvSpPr>
        <p:spPr>
          <a:xfrm>
            <a:off x="10056876" y="3858768"/>
            <a:ext cx="1327404"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Verify the corrective actions were effective</a:t>
            </a:r>
          </a:p>
        </p:txBody>
      </p:sp>
      <p:sp>
        <p:nvSpPr>
          <p:cNvPr id="48" name="Rectangle 47"/>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50" name="TextBox 49"/>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Every commercial provider researched teaches this same sequence. Stage 6 is the one organisations most often skip — and skipping it is what turns 'closed' nonconformities into repeat findings.</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ISO 19011 CLAUSE 5 · THE YEAR, NOT THE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Clause 5 — Managing the Audit Programme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410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49579" cy="449579"/>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Establish programme objectives</a:t>
            </a:r>
          </a:p>
          <a:p>
            <a:pPr algn="l">
              <a:spcAft>
                <a:spcPts val="200"/>
              </a:spcAft>
            </a:pPr>
            <a:r>
              <a:rPr sz="1100" b="0">
                <a:solidFill>
                  <a:srgbClr val="5B6372"/>
                </a:solidFill>
                <a:latin typeface="Arial"/>
              </a:rPr>
              <a:t>Driven by management priorities, the significant aspects, compliance obligations and previous results.</a:t>
            </a:r>
          </a:p>
        </p:txBody>
      </p:sp>
      <p:sp>
        <p:nvSpPr>
          <p:cNvPr id="12" name="Rectangle 11"/>
          <p:cNvSpPr/>
          <p:nvPr/>
        </p:nvSpPr>
        <p:spPr>
          <a:xfrm>
            <a:off x="658368" y="2424683"/>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42468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70403"/>
            <a:ext cx="449579" cy="449579"/>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70403"/>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424683"/>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Determine programme risks and opportunities</a:t>
            </a:r>
          </a:p>
          <a:p>
            <a:pPr algn="l">
              <a:spcAft>
                <a:spcPts val="200"/>
              </a:spcAft>
            </a:pPr>
            <a:r>
              <a:rPr sz="1100" b="0">
                <a:solidFill>
                  <a:srgbClr val="5B6372"/>
                </a:solidFill>
                <a:latin typeface="Arial"/>
              </a:rPr>
              <a:t>Resourcing, scheduling, auditor competence, access, and ineffective follow-up.</a:t>
            </a:r>
          </a:p>
        </p:txBody>
      </p:sp>
      <p:sp>
        <p:nvSpPr>
          <p:cNvPr id="17" name="Rectangle 16"/>
          <p:cNvSpPr/>
          <p:nvPr/>
        </p:nvSpPr>
        <p:spPr>
          <a:xfrm>
            <a:off x="658368" y="3112006"/>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112006"/>
            <a:ext cx="82296" cy="5410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157726"/>
            <a:ext cx="449579" cy="449579"/>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157726"/>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112006"/>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Establish the programme</a:t>
            </a:r>
          </a:p>
          <a:p>
            <a:pPr algn="l">
              <a:spcAft>
                <a:spcPts val="200"/>
              </a:spcAft>
            </a:pPr>
            <a:r>
              <a:rPr sz="1100" b="0">
                <a:solidFill>
                  <a:srgbClr val="5B6372"/>
                </a:solidFill>
                <a:latin typeface="Arial"/>
              </a:rPr>
              <a:t>Frequency, methods, responsibilities, planning requirements and reporting — ISO 14001 cl. 9.2.2.</a:t>
            </a:r>
          </a:p>
        </p:txBody>
      </p:sp>
      <p:sp>
        <p:nvSpPr>
          <p:cNvPr id="22" name="Rectangle 21"/>
          <p:cNvSpPr/>
          <p:nvPr/>
        </p:nvSpPr>
        <p:spPr>
          <a:xfrm>
            <a:off x="658368" y="3799329"/>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99329"/>
            <a:ext cx="82296" cy="5410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845049"/>
            <a:ext cx="449579" cy="449579"/>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845049"/>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99329"/>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Implement it</a:t>
            </a:r>
          </a:p>
          <a:p>
            <a:pPr algn="l">
              <a:spcAft>
                <a:spcPts val="200"/>
              </a:spcAft>
            </a:pPr>
            <a:r>
              <a:rPr sz="1100" b="0">
                <a:solidFill>
                  <a:srgbClr val="5B6372"/>
                </a:solidFill>
                <a:latin typeface="Arial"/>
              </a:rPr>
              <a:t>Schedule audits, select and assign competent auditors, manage records.</a:t>
            </a:r>
          </a:p>
        </p:txBody>
      </p:sp>
      <p:sp>
        <p:nvSpPr>
          <p:cNvPr id="27" name="Rectangle 26"/>
          <p:cNvSpPr/>
          <p:nvPr/>
        </p:nvSpPr>
        <p:spPr>
          <a:xfrm>
            <a:off x="658368" y="4486652"/>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486652"/>
            <a:ext cx="82296" cy="541019"/>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532372"/>
            <a:ext cx="449579" cy="449579"/>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532372"/>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486652"/>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Monitor it</a:t>
            </a:r>
          </a:p>
          <a:p>
            <a:pPr algn="l">
              <a:spcAft>
                <a:spcPts val="200"/>
              </a:spcAft>
            </a:pPr>
            <a:r>
              <a:rPr sz="1100" b="0">
                <a:solidFill>
                  <a:srgbClr val="5B6372"/>
                </a:solidFill>
                <a:latin typeface="Arial"/>
              </a:rPr>
              <a:t>Are audits happening on schedule? Are findings being closed? Are auditors performing?</a:t>
            </a:r>
          </a:p>
        </p:txBody>
      </p:sp>
      <p:sp>
        <p:nvSpPr>
          <p:cNvPr id="32" name="Rectangle 31"/>
          <p:cNvSpPr/>
          <p:nvPr/>
        </p:nvSpPr>
        <p:spPr>
          <a:xfrm>
            <a:off x="658368" y="5173975"/>
            <a:ext cx="10835640"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173975"/>
            <a:ext cx="82296" cy="541019"/>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219695"/>
            <a:ext cx="449579" cy="449579"/>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219695"/>
            <a:ext cx="449579" cy="449579"/>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173975"/>
            <a:ext cx="9784080" cy="541019"/>
          </a:xfrm>
          <a:prstGeom prst="rect">
            <a:avLst/>
          </a:prstGeom>
          <a:noFill/>
        </p:spPr>
        <p:txBody>
          <a:bodyPr wrap="square" anchor="ctr" lIns="0" rIns="0">
            <a:spAutoFit/>
          </a:bodyPr>
          <a:lstStyle/>
          <a:p>
            <a:pPr algn="l">
              <a:spcAft>
                <a:spcPts val="200"/>
              </a:spcAft>
            </a:pPr>
            <a:r>
              <a:rPr sz="1300" b="1">
                <a:solidFill>
                  <a:srgbClr val="161B26"/>
                </a:solidFill>
                <a:latin typeface="Arial"/>
              </a:rPr>
              <a:t>Review and improve it</a:t>
            </a:r>
          </a:p>
          <a:p>
            <a:pPr algn="l">
              <a:spcAft>
                <a:spcPts val="200"/>
              </a:spcAft>
            </a:pPr>
            <a:r>
              <a:rPr sz="1100" b="0">
                <a:solidFill>
                  <a:srgbClr val="5B6372"/>
                </a:solidFill>
                <a:latin typeface="Arial"/>
              </a:rPr>
              <a:t>Feed the programme's own performance back into next year's programme.</a:t>
            </a:r>
          </a:p>
        </p:txBody>
      </p:sp>
      <p:sp>
        <p:nvSpPr>
          <p:cNvPr id="37" name="Rectangle 36"/>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ISO 14001 cl. 9.2.2 requires the programme to take into account the environmental importance of the processes concerned, changes affecting the organisation, and the results of previous audits. All three are directly auditable.</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A.6</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Sampling — Why Every Audit Report Carries a Caveat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You cannot audit everything</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audit examines a SAMPLE of evidence within a finite time. That is not a weakness — it is the definition of auditing.</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Judgement-based sampling</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Chosen by risk: the newest process, the biggest aspect, the area with previous findings, the shift nobody watches. Most internal audits use this.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Statistical sampling</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Random selection allowing a confidence level to be stated. Used where populations are large and homogeneous, e.g. thousands of waste tickets.</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State the basis and its limit</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Record what you sampled and why — and put the sampling statement in the report. Absence of a finding is NOT proof of conformity.</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F6FEB"/>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If you cannot explain WHY you looked at those three drums and not the other forty, your finding is vulnerable at the closing meeting.</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TRACEABILITY IN PRACTICE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Following an Audit Trail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Start at a claim</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'All hazardous waste goes to a licensed collector'</a:t>
            </a:r>
          </a:p>
        </p:txBody>
      </p:sp>
      <p:cxnSp>
        <p:nvCxnSpPr>
          <p:cNvPr id="13" name="Connector 12"/>
          <p:cNvCxnSpPr/>
          <p:nvPr/>
        </p:nvCxnSpPr>
        <p:spPr>
          <a:xfrm>
            <a:off x="2622499"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Ask for the record</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Show me last month's consignment notes</a:t>
            </a:r>
          </a:p>
        </p:txBody>
      </p:sp>
      <p:cxnSp>
        <p:nvCxnSpPr>
          <p:cNvPr id="20" name="Connector 19"/>
          <p:cNvCxnSpPr/>
          <p:nvPr/>
        </p:nvCxnSpPr>
        <p:spPr>
          <a:xfrm>
            <a:off x="4851806"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the counterparty</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Is the collector licensed for THAT waste stream?</a:t>
            </a:r>
          </a:p>
        </p:txBody>
      </p:sp>
      <p:cxnSp>
        <p:nvCxnSpPr>
          <p:cNvPr id="27" name="Connector 26"/>
          <p:cNvCxnSpPr/>
          <p:nvPr/>
        </p:nvCxnSpPr>
        <p:spPr>
          <a:xfrm>
            <a:off x="7081113"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Reconcile the quantities</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 the notes match the waste actually generated?</a:t>
            </a:r>
          </a:p>
        </p:txBody>
      </p:sp>
      <p:cxnSp>
        <p:nvCxnSpPr>
          <p:cNvPr id="34" name="Connector 33"/>
          <p:cNvCxnSpPr/>
          <p:nvPr/>
        </p:nvCxnSpPr>
        <p:spPr>
          <a:xfrm>
            <a:off x="9310420" y="3291840"/>
            <a:ext cx="219456" cy="0"/>
          </a:xfrm>
          <a:prstGeom prst="line">
            <a:avLst/>
          </a:prstGeom>
          <a:ln w="28575">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Close or escalate</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Consistent → conformity. Gap → collect more evidence</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An audit trail is a chain: claim → record → verification → reconciliation. Each link is a chance to find the gap, and the whole chain is what makes a finding defensible six months later.</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§6.3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Stage 2 — Preparing: What Actually Happens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84800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8002"/>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Review documented information</a:t>
            </a:r>
          </a:p>
          <a:p>
            <a:pPr algn="l">
              <a:spcAft>
                <a:spcPts val="200"/>
              </a:spcAft>
            </a:pPr>
            <a:r>
              <a:rPr sz="1100" b="0">
                <a:solidFill>
                  <a:srgbClr val="5B6372"/>
                </a:solidFill>
                <a:latin typeface="Arial"/>
              </a:rPr>
              <a:t>The EMS documentation, previous audit reports, the aspects register, the legal register, licences and monitoring data. Determine adequacy BEFORE you go on site.</a:t>
            </a:r>
          </a:p>
        </p:txBody>
      </p:sp>
      <p:sp>
        <p:nvSpPr>
          <p:cNvPr id="12" name="Rectangle 11"/>
          <p:cNvSpPr/>
          <p:nvPr/>
        </p:nvSpPr>
        <p:spPr>
          <a:xfrm>
            <a:off x="658368" y="2562148"/>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56214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67279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672790"/>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562148"/>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Prepare the audit plan</a:t>
            </a:r>
          </a:p>
          <a:p>
            <a:pPr algn="l">
              <a:spcAft>
                <a:spcPts val="200"/>
              </a:spcAft>
            </a:pPr>
            <a:r>
              <a:rPr sz="1100" b="0">
                <a:solidFill>
                  <a:srgbClr val="5B6372"/>
                </a:solidFill>
                <a:latin typeface="Arial"/>
              </a:rPr>
              <a:t>Objectives, criteria, scope, locations, dates and times, methods, roles, and the opening and closing meeting times. Agreed with the auditee.</a:t>
            </a:r>
          </a:p>
        </p:txBody>
      </p:sp>
      <p:sp>
        <p:nvSpPr>
          <p:cNvPr id="17" name="Rectangle 16"/>
          <p:cNvSpPr/>
          <p:nvPr/>
        </p:nvSpPr>
        <p:spPr>
          <a:xfrm>
            <a:off x="658368" y="3386936"/>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86936"/>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49757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497578"/>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386936"/>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Assign work to the audit team</a:t>
            </a:r>
          </a:p>
          <a:p>
            <a:pPr algn="l">
              <a:spcAft>
                <a:spcPts val="200"/>
              </a:spcAft>
            </a:pPr>
            <a:r>
              <a:rPr sz="1100" b="0">
                <a:solidFill>
                  <a:srgbClr val="5B6372"/>
                </a:solidFill>
                <a:latin typeface="Arial"/>
              </a:rPr>
              <a:t>Who audits which process, which clause, which shift, which site.</a:t>
            </a:r>
          </a:p>
        </p:txBody>
      </p:sp>
      <p:sp>
        <p:nvSpPr>
          <p:cNvPr id="22" name="Rectangle 21"/>
          <p:cNvSpPr/>
          <p:nvPr/>
        </p:nvSpPr>
        <p:spPr>
          <a:xfrm>
            <a:off x="658368" y="4211724"/>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211724"/>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4322366"/>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322366"/>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4211724"/>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Prepare work documents</a:t>
            </a:r>
          </a:p>
          <a:p>
            <a:pPr algn="l">
              <a:spcAft>
                <a:spcPts val="200"/>
              </a:spcAft>
            </a:pPr>
            <a:r>
              <a:rPr sz="1100" b="0">
                <a:solidFill>
                  <a:srgbClr val="5B6372"/>
                </a:solidFill>
                <a:latin typeface="Arial"/>
              </a:rPr>
              <a:t>The checklist, sampling plans and forms for recording evidence. These are working papers — they are retained.</a:t>
            </a:r>
          </a:p>
        </p:txBody>
      </p:sp>
      <p:sp>
        <p:nvSpPr>
          <p:cNvPr id="27" name="Rectangle 26"/>
          <p:cNvSpPr/>
          <p:nvPr/>
        </p:nvSpPr>
        <p:spPr>
          <a:xfrm>
            <a:off x="658368" y="5036512"/>
            <a:ext cx="10835640"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5036512"/>
            <a:ext cx="82296" cy="67848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147154"/>
            <a:ext cx="457200" cy="45720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147154"/>
            <a:ext cx="457200" cy="457200"/>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5036512"/>
            <a:ext cx="9784080" cy="678484"/>
          </a:xfrm>
          <a:prstGeom prst="rect">
            <a:avLst/>
          </a:prstGeom>
          <a:noFill/>
        </p:spPr>
        <p:txBody>
          <a:bodyPr wrap="square" anchor="ctr" lIns="0" rIns="0">
            <a:spAutoFit/>
          </a:bodyPr>
          <a:lstStyle/>
          <a:p>
            <a:pPr algn="l">
              <a:spcAft>
                <a:spcPts val="200"/>
              </a:spcAft>
            </a:pPr>
            <a:r>
              <a:rPr sz="1300" b="1">
                <a:solidFill>
                  <a:srgbClr val="161B26"/>
                </a:solidFill>
                <a:latin typeface="Arial"/>
              </a:rPr>
              <a:t>Decide the sampling approach</a:t>
            </a:r>
          </a:p>
          <a:p>
            <a:pPr algn="l">
              <a:spcAft>
                <a:spcPts val="200"/>
              </a:spcAft>
            </a:pPr>
            <a:r>
              <a:rPr sz="1100" b="0">
                <a:solidFill>
                  <a:srgbClr val="5B6372"/>
                </a:solidFill>
                <a:latin typeface="Arial"/>
              </a:rPr>
              <a:t>How many, which ones, over what period — and be ready to justify it. Sampling is why every audit report carries the uncertainty caveat.</a:t>
            </a:r>
          </a:p>
        </p:txBody>
      </p:sp>
      <p:sp>
        <p:nvSpPr>
          <p:cNvPr id="32" name="Rectangle 31"/>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An audit that is under-prepared cannot be rescued on site. Most weak audits fail here.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WORK DOCUMENTS · §6.3.4</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Audit Checklist — What Makes One Good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Organisation-specific</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Built from THIS auditee's processes, aspects and obligations. A generic clause-by-clause tick-list is the single most common weakness.</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Risk-weighted</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More lines against the significant aspects, the recent changes and the previous findings; fewer against low-risk administrative processes.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Three columns minimum</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CLAUSE or requirement · the QUESTION you will ask · the EVIDENCE you expect to see. The third column is what most checklists omit.</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guide, not a script</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Follow the audit trail where it leads. A checklist that stops you investigating something you have just discovered is being used wrongly.</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Bureau Veritas and TÜV SÜD both single out checklist customisation as a core skill. Build it from the aspects register, not from the standard's contents page.</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COPY THIS STRUCTURE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 Risk-Based Checklist Line — the Shape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383840"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182672"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Clause / requirement</a:t>
            </a:r>
          </a:p>
        </p:txBody>
      </p:sp>
      <p:sp>
        <p:nvSpPr>
          <p:cNvPr id="9" name="Rectangle 8"/>
          <p:cNvSpPr/>
          <p:nvPr/>
        </p:nvSpPr>
        <p:spPr>
          <a:xfrm>
            <a:off x="3042208" y="1737360"/>
            <a:ext cx="4334256"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1936" y="1737360"/>
            <a:ext cx="4133088"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The question I will ask</a:t>
            </a:r>
          </a:p>
        </p:txBody>
      </p:sp>
      <p:sp>
        <p:nvSpPr>
          <p:cNvPr id="11" name="Rectangle 10"/>
          <p:cNvSpPr/>
          <p:nvPr/>
        </p:nvSpPr>
        <p:spPr>
          <a:xfrm>
            <a:off x="7376464" y="1737360"/>
            <a:ext cx="4117543" cy="7437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6192" y="1737360"/>
            <a:ext cx="3916375" cy="743712"/>
          </a:xfrm>
          <a:prstGeom prst="rect">
            <a:avLst/>
          </a:prstGeom>
          <a:noFill/>
        </p:spPr>
        <p:txBody>
          <a:bodyPr wrap="square" anchor="ctr" lIns="0" rIns="0">
            <a:spAutoFit/>
          </a:bodyPr>
          <a:lstStyle/>
          <a:p>
            <a:pPr algn="l">
              <a:spcAft>
                <a:spcPts val="400"/>
              </a:spcAft>
            </a:pPr>
            <a:r>
              <a:rPr sz="1000" b="1">
                <a:solidFill>
                  <a:srgbClr val="FFFFFF"/>
                </a:solidFill>
                <a:latin typeface="Arial"/>
              </a:rPr>
              <a:t>Evidence I expect to see</a:t>
            </a:r>
          </a:p>
        </p:txBody>
      </p:sp>
      <p:sp>
        <p:nvSpPr>
          <p:cNvPr id="13" name="Rectangle 12"/>
          <p:cNvSpPr/>
          <p:nvPr/>
        </p:nvSpPr>
        <p:spPr>
          <a:xfrm>
            <a:off x="658368" y="2481072"/>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481072"/>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6.1.2 aspects · change</a:t>
            </a:r>
          </a:p>
        </p:txBody>
      </p:sp>
      <p:sp>
        <p:nvSpPr>
          <p:cNvPr id="15" name="Rectangle 14"/>
          <p:cNvSpPr/>
          <p:nvPr/>
        </p:nvSpPr>
        <p:spPr>
          <a:xfrm>
            <a:off x="3042208" y="2481072"/>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1936" y="2481072"/>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were aspects re-assessed after the new line was commissioned?</a:t>
            </a:r>
          </a:p>
        </p:txBody>
      </p:sp>
      <p:sp>
        <p:nvSpPr>
          <p:cNvPr id="17" name="Rectangle 16"/>
          <p:cNvSpPr/>
          <p:nvPr/>
        </p:nvSpPr>
        <p:spPr>
          <a:xfrm>
            <a:off x="7376464" y="2481072"/>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6192" y="2481072"/>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Dated register entry for the new process; the change record</a:t>
            </a:r>
          </a:p>
        </p:txBody>
      </p:sp>
      <p:sp>
        <p:nvSpPr>
          <p:cNvPr id="19" name="Rectangle 18"/>
          <p:cNvSpPr/>
          <p:nvPr/>
        </p:nvSpPr>
        <p:spPr>
          <a:xfrm>
            <a:off x="658368" y="3224784"/>
            <a:ext cx="2383840"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224784"/>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6.1.3 obligations</a:t>
            </a:r>
          </a:p>
        </p:txBody>
      </p:sp>
      <p:sp>
        <p:nvSpPr>
          <p:cNvPr id="21" name="Rectangle 20"/>
          <p:cNvSpPr/>
          <p:nvPr/>
        </p:nvSpPr>
        <p:spPr>
          <a:xfrm>
            <a:off x="3042208" y="3224784"/>
            <a:ext cx="4334256"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51936" y="3224784"/>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Which discharge limits apply to you, and how did you determine that?</a:t>
            </a:r>
          </a:p>
        </p:txBody>
      </p:sp>
      <p:sp>
        <p:nvSpPr>
          <p:cNvPr id="23" name="Rectangle 22"/>
          <p:cNvSpPr/>
          <p:nvPr/>
        </p:nvSpPr>
        <p:spPr>
          <a:xfrm>
            <a:off x="7376464" y="3224784"/>
            <a:ext cx="4117543"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6192" y="3224784"/>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Licence/Written Approval; legal register with applicability noted</a:t>
            </a:r>
          </a:p>
        </p:txBody>
      </p:sp>
      <p:sp>
        <p:nvSpPr>
          <p:cNvPr id="25" name="Rectangle 24"/>
          <p:cNvSpPr/>
          <p:nvPr/>
        </p:nvSpPr>
        <p:spPr>
          <a:xfrm>
            <a:off x="658368" y="3968496"/>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968496"/>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9.1.1 monitoring</a:t>
            </a:r>
          </a:p>
        </p:txBody>
      </p:sp>
      <p:sp>
        <p:nvSpPr>
          <p:cNvPr id="27" name="Rectangle 26"/>
          <p:cNvSpPr/>
          <p:nvPr/>
        </p:nvSpPr>
        <p:spPr>
          <a:xfrm>
            <a:off x="3042208" y="3968496"/>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1936" y="3968496"/>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do you know the monitoring result is valid?</a:t>
            </a:r>
          </a:p>
        </p:txBody>
      </p:sp>
      <p:sp>
        <p:nvSpPr>
          <p:cNvPr id="29" name="Rectangle 28"/>
          <p:cNvSpPr/>
          <p:nvPr/>
        </p:nvSpPr>
        <p:spPr>
          <a:xfrm>
            <a:off x="7376464" y="3968496"/>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6192" y="3968496"/>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Calibration certificate in date; accredited lab report</a:t>
            </a:r>
          </a:p>
        </p:txBody>
      </p:sp>
      <p:sp>
        <p:nvSpPr>
          <p:cNvPr id="31" name="Rectangle 30"/>
          <p:cNvSpPr/>
          <p:nvPr/>
        </p:nvSpPr>
        <p:spPr>
          <a:xfrm>
            <a:off x="658368" y="4712208"/>
            <a:ext cx="2383840"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712208"/>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9.1.2 compliance</a:t>
            </a:r>
          </a:p>
        </p:txBody>
      </p:sp>
      <p:sp>
        <p:nvSpPr>
          <p:cNvPr id="33" name="Rectangle 32"/>
          <p:cNvSpPr/>
          <p:nvPr/>
        </p:nvSpPr>
        <p:spPr>
          <a:xfrm>
            <a:off x="3042208" y="4712208"/>
            <a:ext cx="4334256"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51936" y="4712208"/>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often do you evaluate compliance, and what did the last one find?</a:t>
            </a:r>
          </a:p>
        </p:txBody>
      </p:sp>
      <p:sp>
        <p:nvSpPr>
          <p:cNvPr id="35" name="Rectangle 34"/>
          <p:cNvSpPr/>
          <p:nvPr/>
        </p:nvSpPr>
        <p:spPr>
          <a:xfrm>
            <a:off x="7376464" y="4712208"/>
            <a:ext cx="4117543" cy="74371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6192" y="4712208"/>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Compliance evaluation record and the actions arising</a:t>
            </a:r>
          </a:p>
        </p:txBody>
      </p:sp>
      <p:sp>
        <p:nvSpPr>
          <p:cNvPr id="37" name="Rectangle 36"/>
          <p:cNvSpPr/>
          <p:nvPr/>
        </p:nvSpPr>
        <p:spPr>
          <a:xfrm>
            <a:off x="658368" y="5455920"/>
            <a:ext cx="2383840"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455920"/>
            <a:ext cx="2182672" cy="743712"/>
          </a:xfrm>
          <a:prstGeom prst="rect">
            <a:avLst/>
          </a:prstGeom>
          <a:noFill/>
        </p:spPr>
        <p:txBody>
          <a:bodyPr wrap="square" anchor="ctr" lIns="0" rIns="0">
            <a:spAutoFit/>
          </a:bodyPr>
          <a:lstStyle/>
          <a:p>
            <a:pPr algn="l">
              <a:spcAft>
                <a:spcPts val="400"/>
              </a:spcAft>
            </a:pPr>
            <a:r>
              <a:rPr sz="900" b="1">
                <a:solidFill>
                  <a:srgbClr val="161B26"/>
                </a:solidFill>
                <a:latin typeface="Arial"/>
              </a:rPr>
              <a:t>10.2 corrective action</a:t>
            </a:r>
          </a:p>
        </p:txBody>
      </p:sp>
      <p:sp>
        <p:nvSpPr>
          <p:cNvPr id="39" name="Rectangle 38"/>
          <p:cNvSpPr/>
          <p:nvPr/>
        </p:nvSpPr>
        <p:spPr>
          <a:xfrm>
            <a:off x="3042208" y="5455920"/>
            <a:ext cx="4334256"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51936" y="5455920"/>
            <a:ext cx="4133088"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How did you verify last year's corrective action worked?</a:t>
            </a:r>
          </a:p>
        </p:txBody>
      </p:sp>
      <p:sp>
        <p:nvSpPr>
          <p:cNvPr id="41" name="Rectangle 40"/>
          <p:cNvSpPr/>
          <p:nvPr/>
        </p:nvSpPr>
        <p:spPr>
          <a:xfrm>
            <a:off x="7376464" y="5455920"/>
            <a:ext cx="4117543" cy="74371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6192" y="5455920"/>
            <a:ext cx="3916375" cy="743712"/>
          </a:xfrm>
          <a:prstGeom prst="rect">
            <a:avLst/>
          </a:prstGeom>
          <a:noFill/>
        </p:spPr>
        <p:txBody>
          <a:bodyPr wrap="square" anchor="ctr" lIns="0" rIns="0">
            <a:spAutoFit/>
          </a:bodyPr>
          <a:lstStyle/>
          <a:p>
            <a:pPr algn="l">
              <a:spcAft>
                <a:spcPts val="400"/>
              </a:spcAft>
            </a:pPr>
            <a:r>
              <a:rPr sz="900" b="0">
                <a:solidFill>
                  <a:srgbClr val="161B26"/>
                </a:solidFill>
                <a:latin typeface="Arial"/>
              </a:rPr>
              <a:t>Effectiveness review record — NOT just a 'closed' status</a:t>
            </a:r>
          </a:p>
        </p:txBody>
      </p:sp>
      <p:sp>
        <p:nvSpPr>
          <p:cNvPr id="43" name="TextBox 4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4" name="TextBox 4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5" name="TextBox 4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OBJECTIVE EVIDENCE · ISO 19011</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Audit Evidence — the Four Sources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vidence_sources.png"/>
          <p:cNvPicPr>
            <a:picLocks noChangeAspect="1"/>
          </p:cNvPicPr>
          <p:nvPr/>
        </p:nvPicPr>
        <p:blipFill>
          <a:blip r:embed="rId2"/>
          <a:stretch>
            <a:fillRect/>
          </a:stretch>
        </p:blipFill>
        <p:spPr>
          <a:xfrm>
            <a:off x="658368" y="2278134"/>
            <a:ext cx="5852160" cy="2896090"/>
          </a:xfrm>
          <a:prstGeom prst="rect">
            <a:avLst/>
          </a:prstGeom>
        </p:spPr>
      </p:pic>
      <p:sp>
        <p:nvSpPr>
          <p:cNvPr id="8" name="Rectangle 7"/>
          <p:cNvSpPr/>
          <p:nvPr/>
        </p:nvSpPr>
        <p:spPr>
          <a:xfrm>
            <a:off x="6803136" y="1737360"/>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03136" y="1737360"/>
            <a:ext cx="82296" cy="66385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1737360"/>
            <a:ext cx="4270248" cy="663854"/>
          </a:xfrm>
          <a:prstGeom prst="rect">
            <a:avLst/>
          </a:prstGeom>
          <a:noFill/>
        </p:spPr>
        <p:txBody>
          <a:bodyPr wrap="square" anchor="ctr" lIns="0" rIns="0">
            <a:spAutoFit/>
          </a:bodyPr>
          <a:lstStyle/>
          <a:p>
            <a:pPr algn="l">
              <a:spcAft>
                <a:spcPts val="200"/>
              </a:spcAft>
            </a:pPr>
            <a:r>
              <a:rPr sz="1300" b="1">
                <a:solidFill>
                  <a:srgbClr val="1F6FEB"/>
                </a:solidFill>
                <a:latin typeface="Arial"/>
              </a:rPr>
              <a:t>Interview</a:t>
            </a:r>
          </a:p>
          <a:p>
            <a:pPr algn="l">
              <a:spcAft>
                <a:spcPts val="200"/>
              </a:spcAft>
            </a:pPr>
            <a:r>
              <a:rPr sz="1100" b="0">
                <a:solidFill>
                  <a:srgbClr val="161B26"/>
                </a:solidFill>
                <a:latin typeface="Arial"/>
              </a:rPr>
              <a:t>What people say. The weakest form on its own — always verify it.</a:t>
            </a:r>
          </a:p>
        </p:txBody>
      </p:sp>
      <p:sp>
        <p:nvSpPr>
          <p:cNvPr id="11" name="Rectangle 10"/>
          <p:cNvSpPr/>
          <p:nvPr/>
        </p:nvSpPr>
        <p:spPr>
          <a:xfrm>
            <a:off x="6803136" y="2565806"/>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03136" y="2565806"/>
            <a:ext cx="82296" cy="66385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2565806"/>
            <a:ext cx="4270248" cy="663854"/>
          </a:xfrm>
          <a:prstGeom prst="rect">
            <a:avLst/>
          </a:prstGeom>
          <a:noFill/>
        </p:spPr>
        <p:txBody>
          <a:bodyPr wrap="square" anchor="ctr" lIns="0" rIns="0">
            <a:spAutoFit/>
          </a:bodyPr>
          <a:lstStyle/>
          <a:p>
            <a:pPr algn="l">
              <a:spcAft>
                <a:spcPts val="200"/>
              </a:spcAft>
            </a:pPr>
            <a:r>
              <a:rPr sz="1300" b="1">
                <a:solidFill>
                  <a:srgbClr val="10B981"/>
                </a:solidFill>
                <a:latin typeface="Arial"/>
              </a:rPr>
              <a:t>Observation</a:t>
            </a:r>
          </a:p>
          <a:p>
            <a:pPr algn="l">
              <a:spcAft>
                <a:spcPts val="200"/>
              </a:spcAft>
            </a:pPr>
            <a:r>
              <a:rPr sz="1100" b="0">
                <a:solidFill>
                  <a:srgbClr val="161B26"/>
                </a:solidFill>
                <a:latin typeface="Arial"/>
              </a:rPr>
              <a:t>What you see happening. Strong, but a snapshot in time.</a:t>
            </a:r>
          </a:p>
        </p:txBody>
      </p:sp>
      <p:sp>
        <p:nvSpPr>
          <p:cNvPr id="14" name="Rectangle 13"/>
          <p:cNvSpPr/>
          <p:nvPr/>
        </p:nvSpPr>
        <p:spPr>
          <a:xfrm>
            <a:off x="6803136" y="3394252"/>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03136" y="3394252"/>
            <a:ext cx="82296" cy="66385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394252"/>
            <a:ext cx="4270248" cy="663854"/>
          </a:xfrm>
          <a:prstGeom prst="rect">
            <a:avLst/>
          </a:prstGeom>
          <a:noFill/>
        </p:spPr>
        <p:txBody>
          <a:bodyPr wrap="square" anchor="ctr" lIns="0" rIns="0">
            <a:spAutoFit/>
          </a:bodyPr>
          <a:lstStyle/>
          <a:p>
            <a:pPr algn="l">
              <a:spcAft>
                <a:spcPts val="200"/>
              </a:spcAft>
            </a:pPr>
            <a:r>
              <a:rPr sz="1300" b="1">
                <a:solidFill>
                  <a:srgbClr val="7C3AED"/>
                </a:solidFill>
                <a:latin typeface="Arial"/>
              </a:rPr>
              <a:t>Documents</a:t>
            </a:r>
          </a:p>
          <a:p>
            <a:pPr algn="l">
              <a:spcAft>
                <a:spcPts val="200"/>
              </a:spcAft>
            </a:pPr>
            <a:r>
              <a:rPr sz="1100" b="0">
                <a:solidFill>
                  <a:srgbClr val="161B26"/>
                </a:solidFill>
                <a:latin typeface="Arial"/>
              </a:rPr>
              <a:t>Procedures, permits, licences, drawings — what is SUPPOSED to happen.</a:t>
            </a:r>
          </a:p>
        </p:txBody>
      </p:sp>
      <p:sp>
        <p:nvSpPr>
          <p:cNvPr id="17" name="Rectangle 16"/>
          <p:cNvSpPr/>
          <p:nvPr/>
        </p:nvSpPr>
        <p:spPr>
          <a:xfrm>
            <a:off x="6803136" y="4222698"/>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03136" y="4222698"/>
            <a:ext cx="82296" cy="66385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4222698"/>
            <a:ext cx="4270248" cy="663854"/>
          </a:xfrm>
          <a:prstGeom prst="rect">
            <a:avLst/>
          </a:prstGeom>
          <a:noFill/>
        </p:spPr>
        <p:txBody>
          <a:bodyPr wrap="square" anchor="ctr" lIns="0" rIns="0">
            <a:spAutoFit/>
          </a:bodyPr>
          <a:lstStyle/>
          <a:p>
            <a:pPr algn="l">
              <a:spcAft>
                <a:spcPts val="200"/>
              </a:spcAft>
            </a:pPr>
            <a:r>
              <a:rPr sz="1300" b="1">
                <a:solidFill>
                  <a:srgbClr val="F59E0B"/>
                </a:solidFill>
                <a:latin typeface="Arial"/>
              </a:rPr>
              <a:t>Records</a:t>
            </a:r>
          </a:p>
          <a:p>
            <a:pPr algn="l">
              <a:spcAft>
                <a:spcPts val="200"/>
              </a:spcAft>
            </a:pPr>
            <a:r>
              <a:rPr sz="1100" b="0">
                <a:solidFill>
                  <a:srgbClr val="161B26"/>
                </a:solidFill>
                <a:latin typeface="Arial"/>
              </a:rPr>
              <a:t>Monitoring results, certificates, logs — evidence it DID happen.</a:t>
            </a:r>
          </a:p>
        </p:txBody>
      </p:sp>
      <p:sp>
        <p:nvSpPr>
          <p:cNvPr id="20" name="Rectangle 19"/>
          <p:cNvSpPr/>
          <p:nvPr/>
        </p:nvSpPr>
        <p:spPr>
          <a:xfrm>
            <a:off x="6803136" y="5051144"/>
            <a:ext cx="4690872" cy="6638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03136" y="5051144"/>
            <a:ext cx="82296" cy="66385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5051144"/>
            <a:ext cx="4270248" cy="663854"/>
          </a:xfrm>
          <a:prstGeom prst="rect">
            <a:avLst/>
          </a:prstGeom>
          <a:noFill/>
        </p:spPr>
        <p:txBody>
          <a:bodyPr wrap="square" anchor="ctr" lIns="0" rIns="0">
            <a:spAutoFit/>
          </a:bodyPr>
          <a:lstStyle/>
          <a:p>
            <a:pPr algn="l">
              <a:spcAft>
                <a:spcPts val="200"/>
              </a:spcAft>
            </a:pPr>
            <a:r>
              <a:rPr sz="1300" b="1">
                <a:solidFill>
                  <a:srgbClr val="16845B"/>
                </a:solidFill>
                <a:latin typeface="Arial"/>
              </a:rPr>
              <a:t>The test</a:t>
            </a:r>
          </a:p>
          <a:p>
            <a:pPr algn="l">
              <a:spcAft>
                <a:spcPts val="200"/>
              </a:spcAft>
            </a:pPr>
            <a:r>
              <a:rPr sz="1100" b="0">
                <a:solidFill>
                  <a:srgbClr val="161B26"/>
                </a:solidFill>
                <a:latin typeface="Arial"/>
              </a:rPr>
              <a:t>Sufficient, appropriate, verifiable and TRACEABLE to its source.</a:t>
            </a:r>
          </a:p>
        </p:txBody>
      </p:sp>
      <p:sp>
        <p:nvSpPr>
          <p:cNvPr id="23" name="Rectangle 22"/>
          <p:cNvSpPr/>
          <p:nvPr/>
        </p:nvSpPr>
        <p:spPr>
          <a:xfrm>
            <a:off x="658368" y="5833872"/>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833872"/>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An interview answer alone rarely closes a line of enquiry. Either you saw it, or there is a record of it, or you have not verified it.</a:t>
            </a:r>
          </a:p>
        </p:txBody>
      </p:sp>
      <p:sp>
        <p:nvSpPr>
          <p:cNvPr id="25" name="TextBox 2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6" name="TextBox 2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7" name="TextBox 2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WHERE MOST NEW AUDITORS FAIL</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Questioning Technique — the Funnel</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estion_funnel.png"/>
          <p:cNvPicPr>
            <a:picLocks noChangeAspect="1"/>
          </p:cNvPicPr>
          <p:nvPr/>
        </p:nvPicPr>
        <p:blipFill>
          <a:blip r:embed="rId2"/>
          <a:stretch>
            <a:fillRect/>
          </a:stretch>
        </p:blipFill>
        <p:spPr>
          <a:xfrm>
            <a:off x="2279100" y="1719072"/>
            <a:ext cx="7633495"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Roughly 70% open and probing, 30% closed. A funnel that STARTS closed ('do you have a procedure?') gets a yes and teaches you nothing.</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THE SYSTEMATIC QUESTION SET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5W1H — Guaranteeing You Miss No Dimension</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882396"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
            </a:r>
          </a:p>
        </p:txBody>
      </p:sp>
      <p:sp>
        <p:nvSpPr>
          <p:cNvPr id="9" name="Rectangle 8"/>
          <p:cNvSpPr/>
          <p:nvPr/>
        </p:nvSpPr>
        <p:spPr>
          <a:xfrm>
            <a:off x="1741932" y="1737360"/>
            <a:ext cx="4550968"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51660" y="1737360"/>
            <a:ext cx="4349800"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The question</a:t>
            </a:r>
          </a:p>
        </p:txBody>
      </p:sp>
      <p:sp>
        <p:nvSpPr>
          <p:cNvPr id="11" name="Rectangle 10"/>
          <p:cNvSpPr/>
          <p:nvPr/>
        </p:nvSpPr>
        <p:spPr>
          <a:xfrm>
            <a:off x="6292900" y="1737360"/>
            <a:ext cx="5201107" cy="5643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2628" y="1737360"/>
            <a:ext cx="4999939" cy="564315"/>
          </a:xfrm>
          <a:prstGeom prst="rect">
            <a:avLst/>
          </a:prstGeom>
          <a:noFill/>
        </p:spPr>
        <p:txBody>
          <a:bodyPr wrap="square" anchor="ctr" lIns="0" rIns="0">
            <a:spAutoFit/>
          </a:bodyPr>
          <a:lstStyle/>
          <a:p>
            <a:pPr algn="l">
              <a:spcAft>
                <a:spcPts val="400"/>
              </a:spcAft>
            </a:pPr>
            <a:r>
              <a:rPr sz="1050" b="1">
                <a:solidFill>
                  <a:srgbClr val="FFFFFF"/>
                </a:solidFill>
                <a:latin typeface="Arial"/>
              </a:rPr>
              <a:t>Applied to an EMS process</a:t>
            </a:r>
          </a:p>
        </p:txBody>
      </p:sp>
      <p:sp>
        <p:nvSpPr>
          <p:cNvPr id="13" name="Rectangle 12"/>
          <p:cNvSpPr/>
          <p:nvPr/>
        </p:nvSpPr>
        <p:spPr>
          <a:xfrm>
            <a:off x="658368" y="230167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0167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What</a:t>
            </a:r>
          </a:p>
        </p:txBody>
      </p:sp>
      <p:sp>
        <p:nvSpPr>
          <p:cNvPr id="15" name="Rectangle 14"/>
          <p:cNvSpPr/>
          <p:nvPr/>
        </p:nvSpPr>
        <p:spPr>
          <a:xfrm>
            <a:off x="1741932" y="230167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51660" y="230167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What is done? What is the requirement?</a:t>
            </a:r>
          </a:p>
        </p:txBody>
      </p:sp>
      <p:sp>
        <p:nvSpPr>
          <p:cNvPr id="17" name="Rectangle 16"/>
          <p:cNvSpPr/>
          <p:nvPr/>
        </p:nvSpPr>
        <p:spPr>
          <a:xfrm>
            <a:off x="6292900" y="230167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2628" y="230167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What environmental aspects arise from this activity?</a:t>
            </a:r>
          </a:p>
        </p:txBody>
      </p:sp>
      <p:sp>
        <p:nvSpPr>
          <p:cNvPr id="19" name="Rectangle 18"/>
          <p:cNvSpPr/>
          <p:nvPr/>
        </p:nvSpPr>
        <p:spPr>
          <a:xfrm>
            <a:off x="658368" y="286599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286599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Why</a:t>
            </a:r>
          </a:p>
        </p:txBody>
      </p:sp>
      <p:sp>
        <p:nvSpPr>
          <p:cNvPr id="21" name="Rectangle 20"/>
          <p:cNvSpPr/>
          <p:nvPr/>
        </p:nvSpPr>
        <p:spPr>
          <a:xfrm>
            <a:off x="1741932" y="286599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51660" y="286599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Why is it done this way? Why this control?</a:t>
            </a:r>
          </a:p>
        </p:txBody>
      </p:sp>
      <p:sp>
        <p:nvSpPr>
          <p:cNvPr id="23" name="Rectangle 22"/>
          <p:cNvSpPr/>
          <p:nvPr/>
        </p:nvSpPr>
        <p:spPr>
          <a:xfrm>
            <a:off x="6292900" y="286599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2628" y="286599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Why was this aspect rated not significant?</a:t>
            </a:r>
          </a:p>
        </p:txBody>
      </p:sp>
      <p:sp>
        <p:nvSpPr>
          <p:cNvPr id="25" name="Rectangle 24"/>
          <p:cNvSpPr/>
          <p:nvPr/>
        </p:nvSpPr>
        <p:spPr>
          <a:xfrm>
            <a:off x="658368" y="343030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43030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Who</a:t>
            </a:r>
          </a:p>
        </p:txBody>
      </p:sp>
      <p:sp>
        <p:nvSpPr>
          <p:cNvPr id="27" name="Rectangle 26"/>
          <p:cNvSpPr/>
          <p:nvPr/>
        </p:nvSpPr>
        <p:spPr>
          <a:xfrm>
            <a:off x="1741932" y="343030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51660" y="343030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Who does it? Who is competent or authorised?</a:t>
            </a:r>
          </a:p>
        </p:txBody>
      </p:sp>
      <p:sp>
        <p:nvSpPr>
          <p:cNvPr id="29" name="Rectangle 28"/>
          <p:cNvSpPr/>
          <p:nvPr/>
        </p:nvSpPr>
        <p:spPr>
          <a:xfrm>
            <a:off x="6292900" y="343030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2628" y="343030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Who is authorised to sign the waste consignment note?</a:t>
            </a:r>
          </a:p>
        </p:txBody>
      </p:sp>
      <p:sp>
        <p:nvSpPr>
          <p:cNvPr id="31" name="Rectangle 30"/>
          <p:cNvSpPr/>
          <p:nvPr/>
        </p:nvSpPr>
        <p:spPr>
          <a:xfrm>
            <a:off x="658368" y="399462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99462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Where</a:t>
            </a:r>
          </a:p>
        </p:txBody>
      </p:sp>
      <p:sp>
        <p:nvSpPr>
          <p:cNvPr id="33" name="Rectangle 32"/>
          <p:cNvSpPr/>
          <p:nvPr/>
        </p:nvSpPr>
        <p:spPr>
          <a:xfrm>
            <a:off x="1741932" y="399462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51660" y="399462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Where is it done? Where is it recorded?</a:t>
            </a:r>
          </a:p>
        </p:txBody>
      </p:sp>
      <p:sp>
        <p:nvSpPr>
          <p:cNvPr id="35" name="Rectangle 34"/>
          <p:cNvSpPr/>
          <p:nvPr/>
        </p:nvSpPr>
        <p:spPr>
          <a:xfrm>
            <a:off x="6292900" y="399462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2628" y="399462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Where is the spill kit, and where is the nearest drain?</a:t>
            </a:r>
          </a:p>
        </p:txBody>
      </p:sp>
      <p:sp>
        <p:nvSpPr>
          <p:cNvPr id="37" name="Rectangle 36"/>
          <p:cNvSpPr/>
          <p:nvPr/>
        </p:nvSpPr>
        <p:spPr>
          <a:xfrm>
            <a:off x="658368" y="4558935"/>
            <a:ext cx="1083564"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558935"/>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When</a:t>
            </a:r>
          </a:p>
        </p:txBody>
      </p:sp>
      <p:sp>
        <p:nvSpPr>
          <p:cNvPr id="39" name="Rectangle 38"/>
          <p:cNvSpPr/>
          <p:nvPr/>
        </p:nvSpPr>
        <p:spPr>
          <a:xfrm>
            <a:off x="1741932" y="4558935"/>
            <a:ext cx="4550968"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51660" y="4558935"/>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When is it done? How often? When last?</a:t>
            </a:r>
          </a:p>
        </p:txBody>
      </p:sp>
      <p:sp>
        <p:nvSpPr>
          <p:cNvPr id="41" name="Rectangle 40"/>
          <p:cNvSpPr/>
          <p:nvPr/>
        </p:nvSpPr>
        <p:spPr>
          <a:xfrm>
            <a:off x="6292900" y="4558935"/>
            <a:ext cx="5201107" cy="564315"/>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2628" y="4558935"/>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When was the emergency response last tested?</a:t>
            </a:r>
          </a:p>
        </p:txBody>
      </p:sp>
      <p:sp>
        <p:nvSpPr>
          <p:cNvPr id="43" name="Rectangle 42"/>
          <p:cNvSpPr/>
          <p:nvPr/>
        </p:nvSpPr>
        <p:spPr>
          <a:xfrm>
            <a:off x="658368" y="5123250"/>
            <a:ext cx="1083564"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123250"/>
            <a:ext cx="882396" cy="564315"/>
          </a:xfrm>
          <a:prstGeom prst="rect">
            <a:avLst/>
          </a:prstGeom>
          <a:noFill/>
        </p:spPr>
        <p:txBody>
          <a:bodyPr wrap="square" anchor="ctr" lIns="0" rIns="0">
            <a:spAutoFit/>
          </a:bodyPr>
          <a:lstStyle/>
          <a:p>
            <a:pPr algn="l">
              <a:spcAft>
                <a:spcPts val="400"/>
              </a:spcAft>
            </a:pPr>
            <a:r>
              <a:rPr sz="950" b="1">
                <a:solidFill>
                  <a:srgbClr val="161B26"/>
                </a:solidFill>
                <a:latin typeface="Arial"/>
              </a:rPr>
              <a:t>How</a:t>
            </a:r>
          </a:p>
        </p:txBody>
      </p:sp>
      <p:sp>
        <p:nvSpPr>
          <p:cNvPr id="45" name="Rectangle 44"/>
          <p:cNvSpPr/>
          <p:nvPr/>
        </p:nvSpPr>
        <p:spPr>
          <a:xfrm>
            <a:off x="1741932" y="5123250"/>
            <a:ext cx="4550968"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51660" y="5123250"/>
            <a:ext cx="4349800"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How is it controlled, measured, verified?</a:t>
            </a:r>
          </a:p>
        </p:txBody>
      </p:sp>
      <p:sp>
        <p:nvSpPr>
          <p:cNvPr id="47" name="Rectangle 46"/>
          <p:cNvSpPr/>
          <p:nvPr/>
        </p:nvSpPr>
        <p:spPr>
          <a:xfrm>
            <a:off x="6292900" y="5123250"/>
            <a:ext cx="5201107" cy="564315"/>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2628" y="5123250"/>
            <a:ext cx="4999939" cy="564315"/>
          </a:xfrm>
          <a:prstGeom prst="rect">
            <a:avLst/>
          </a:prstGeom>
          <a:noFill/>
        </p:spPr>
        <p:txBody>
          <a:bodyPr wrap="square" anchor="ctr" lIns="0" rIns="0">
            <a:spAutoFit/>
          </a:bodyPr>
          <a:lstStyle/>
          <a:p>
            <a:pPr algn="l">
              <a:spcAft>
                <a:spcPts val="400"/>
              </a:spcAft>
            </a:pPr>
            <a:r>
              <a:rPr sz="950" b="0">
                <a:solidFill>
                  <a:srgbClr val="161B26"/>
                </a:solidFill>
                <a:latin typeface="Arial"/>
              </a:rPr>
              <a:t>How do you verify the disposal contractor is licensed?</a:t>
            </a:r>
          </a:p>
        </p:txBody>
      </p:sp>
      <p:sp>
        <p:nvSpPr>
          <p:cNvPr id="49" name="Rectangle 48"/>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Two extensions worth teaching: 'how much / how many' quantifies, and 'what if' tests the abnormal and emergency conditions clause 6.1.2 and 8.2 require.</a:t>
            </a:r>
          </a:p>
        </p:txBody>
      </p:sp>
      <p:sp>
        <p:nvSpPr>
          <p:cNvPr id="51" name="TextBox 50"/>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2" name="TextBox 51"/>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3" name="TextBox 52"/>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19011 A.17 · CONDUCTING INTERVIEWS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Interviewing — What Works and What Destroys Evidence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NEVER DO THIS</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Leading: 'you do calibrate that, don't you?'</a:t>
            </a:r>
          </a:p>
          <a:p>
            <a:pPr>
              <a:spcAft>
                <a:spcPts val="700"/>
              </a:spcAft>
            </a:pPr>
            <a:r>
              <a:rPr sz="1100" b="0">
                <a:solidFill>
                  <a:srgbClr val="5B6372"/>
                </a:solidFill>
                <a:latin typeface="Arial"/>
              </a:rPr>
              <a:t>–  Compound: three questions in one breath</a:t>
            </a:r>
          </a:p>
          <a:p>
            <a:pPr>
              <a:spcAft>
                <a:spcPts val="700"/>
              </a:spcAft>
            </a:pPr>
            <a:r>
              <a:rPr sz="1100" b="0">
                <a:solidFill>
                  <a:srgbClr val="5B6372"/>
                </a:solidFill>
                <a:latin typeface="Arial"/>
              </a:rPr>
              <a:t>–  Interrogating: rapid-fire closed questions</a:t>
            </a:r>
          </a:p>
          <a:p>
            <a:pPr>
              <a:spcAft>
                <a:spcPts val="700"/>
              </a:spcAft>
            </a:pPr>
            <a:r>
              <a:rPr sz="1100" b="0">
                <a:solidFill>
                  <a:srgbClr val="5B6372"/>
                </a:solidFill>
                <a:latin typeface="Arial"/>
              </a:rPr>
              <a:t>–  Talking more than the auditee</a:t>
            </a:r>
          </a:p>
          <a:p>
            <a:pPr>
              <a:spcAft>
                <a:spcPts val="700"/>
              </a:spcAft>
            </a:pPr>
            <a:r>
              <a:rPr sz="1100" b="0">
                <a:solidFill>
                  <a:srgbClr val="5B6372"/>
                </a:solidFill>
                <a:latin typeface="Arial"/>
              </a:rPr>
              <a:t>–  Consulting: 'what you should do is…'</a:t>
            </a:r>
          </a:p>
          <a:p>
            <a:pPr>
              <a:spcAft>
                <a:spcPts val="700"/>
              </a:spcAft>
            </a:pPr>
            <a:r>
              <a:rPr sz="1100" b="0">
                <a:solidFill>
                  <a:srgbClr val="5B6372"/>
                </a:solidFill>
                <a:latin typeface="Arial"/>
              </a:rPr>
              <a:t>–  Naming individuals in a finding</a:t>
            </a:r>
          </a:p>
          <a:p>
            <a:pPr>
              <a:spcAft>
                <a:spcPts val="700"/>
              </a:spcAft>
            </a:pPr>
            <a:r>
              <a:rPr sz="1100" b="0">
                <a:solidFill>
                  <a:srgbClr val="5B6372"/>
                </a:solidFill>
                <a:latin typeface="Arial"/>
              </a:rPr>
              <a:t>–  Interviewing only managers</a:t>
            </a:r>
          </a:p>
          <a:p>
            <a:pPr>
              <a:spcAft>
                <a:spcPts val="700"/>
              </a:spcAft>
            </a:pPr>
            <a:r>
              <a:rPr sz="1100" b="0">
                <a:solidFill>
                  <a:srgbClr val="5B6372"/>
                </a:solidFill>
                <a:latin typeface="Arial"/>
              </a:rPr>
              <a:t>–  Accepting 'we always do it that way'</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DO THIS INSTEAD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Open first: 'walk me through what happens…'</a:t>
            </a:r>
          </a:p>
          <a:p>
            <a:pPr>
              <a:spcAft>
                <a:spcPts val="700"/>
              </a:spcAft>
            </a:pPr>
            <a:r>
              <a:rPr sz="1100" b="0">
                <a:solidFill>
                  <a:srgbClr val="5B6372"/>
                </a:solidFill>
                <a:latin typeface="Arial"/>
              </a:rPr>
              <a:t>–  One question, then WAIT — the pause does the work</a:t>
            </a:r>
          </a:p>
          <a:p>
            <a:pPr>
              <a:spcAft>
                <a:spcPts val="700"/>
              </a:spcAft>
            </a:pPr>
            <a:r>
              <a:rPr sz="1100" b="0">
                <a:solidFill>
                  <a:srgbClr val="5B6372"/>
                </a:solidFill>
                <a:latin typeface="Arial"/>
              </a:rPr>
              <a:t>–  Explain why you are there and why you take notes</a:t>
            </a:r>
          </a:p>
          <a:p>
            <a:pPr>
              <a:spcAft>
                <a:spcPts val="700"/>
              </a:spcAft>
            </a:pPr>
            <a:r>
              <a:rPr sz="1100" b="0">
                <a:solidFill>
                  <a:srgbClr val="5B6372"/>
                </a:solidFill>
                <a:latin typeface="Arial"/>
              </a:rPr>
              <a:t>–  Target: the auditor talks less than 30% of the time</a:t>
            </a:r>
          </a:p>
          <a:p>
            <a:pPr>
              <a:spcAft>
                <a:spcPts val="700"/>
              </a:spcAft>
            </a:pPr>
            <a:r>
              <a:rPr sz="1100" b="0">
                <a:solidFill>
                  <a:srgbClr val="5B6372"/>
                </a:solidFill>
                <a:latin typeface="Arial"/>
              </a:rPr>
              <a:t>–  Note the gap; let the auditee design the fix</a:t>
            </a:r>
          </a:p>
          <a:p>
            <a:pPr>
              <a:spcAft>
                <a:spcPts val="700"/>
              </a:spcAft>
            </a:pPr>
            <a:r>
              <a:rPr sz="1100" b="0">
                <a:solidFill>
                  <a:srgbClr val="5B6372"/>
                </a:solidFill>
                <a:latin typeface="Arial"/>
              </a:rPr>
              <a:t>–  Address the system, never the person</a:t>
            </a:r>
          </a:p>
          <a:p>
            <a:pPr>
              <a:spcAft>
                <a:spcPts val="700"/>
              </a:spcAft>
            </a:pPr>
            <a:r>
              <a:rPr sz="1100" b="0">
                <a:solidFill>
                  <a:srgbClr val="5B6372"/>
                </a:solidFill>
                <a:latin typeface="Arial"/>
              </a:rPr>
              <a:t>–  Managers describe the procedure; operators reveal the practice</a:t>
            </a:r>
          </a:p>
          <a:p>
            <a:pPr>
              <a:spcAft>
                <a:spcPts val="700"/>
              </a:spcAft>
            </a:pPr>
            <a:r>
              <a:rPr sz="1100" b="0">
                <a:solidFill>
                  <a:srgbClr val="5B6372"/>
                </a:solidFill>
                <a:latin typeface="Arial"/>
              </a:rPr>
              <a:t>–  'Show me' — convert every claim into evidence</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Interviewing is the largest published gap in the commercial market — only two of seven major providers teach questioning technique at all. It is also where new internal auditors most often fail.</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A NOTE-TAKING DISCIPLINE — NOT AN ISO TERM</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PLOD — Capturing Traceable Evidence as You Find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21168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539746"/>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P — Person</a:t>
            </a:r>
          </a:p>
          <a:p>
            <a:pPr algn="l">
              <a:spcAft>
                <a:spcPts val="300"/>
              </a:spcAft>
            </a:pPr>
            <a:r>
              <a:rPr sz="1200" b="0">
                <a:solidFill>
                  <a:srgbClr val="5B6372"/>
                </a:solidFill>
                <a:latin typeface="Arial"/>
              </a:rPr>
              <a:t>The ROLE interviewed, never the individual's name: 'the Warehouse Supervisor'.</a:t>
            </a:r>
          </a:p>
        </p:txBody>
      </p:sp>
      <p:sp>
        <p:nvSpPr>
          <p:cNvPr id="12" name="Rectangle 11"/>
          <p:cNvSpPr/>
          <p:nvPr/>
        </p:nvSpPr>
        <p:spPr>
          <a:xfrm>
            <a:off x="6204204" y="1719072"/>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21168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539746"/>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539746"/>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L — Location</a:t>
            </a:r>
          </a:p>
          <a:p>
            <a:pPr algn="l">
              <a:spcAft>
                <a:spcPts val="300"/>
              </a:spcAft>
            </a:pPr>
            <a:r>
              <a:rPr sz="1200" b="0">
                <a:solidFill>
                  <a:srgbClr val="5B6372"/>
                </a:solidFill>
                <a:latin typeface="Arial"/>
              </a:rPr>
              <a:t>Building, area, line, tank: 'Chemical Store B, external yard'.</a:t>
            </a:r>
          </a:p>
        </p:txBody>
      </p:sp>
      <p:sp>
        <p:nvSpPr>
          <p:cNvPr id="17" name="Rectangle 16"/>
          <p:cNvSpPr/>
          <p:nvPr/>
        </p:nvSpPr>
        <p:spPr>
          <a:xfrm>
            <a:off x="658368"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21168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857750"/>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O — Object</a:t>
            </a:r>
          </a:p>
          <a:p>
            <a:pPr algn="l">
              <a:spcAft>
                <a:spcPts val="300"/>
              </a:spcAft>
            </a:pPr>
            <a:r>
              <a:rPr sz="1200" b="0">
                <a:solidFill>
                  <a:srgbClr val="5B6372"/>
                </a:solidFill>
                <a:latin typeface="Arial"/>
              </a:rPr>
              <a:t>The physical thing with its identifier: 'drums WD-104/105/106'.</a:t>
            </a:r>
          </a:p>
        </p:txBody>
      </p:sp>
      <p:sp>
        <p:nvSpPr>
          <p:cNvPr id="22" name="Rectangle 21"/>
          <p:cNvSpPr/>
          <p:nvPr/>
        </p:nvSpPr>
        <p:spPr>
          <a:xfrm>
            <a:off x="6204204" y="4037076"/>
            <a:ext cx="5289804" cy="21168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4037076"/>
            <a:ext cx="82296" cy="21168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4857750"/>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4857750"/>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4146804"/>
            <a:ext cx="4192524" cy="1952244"/>
          </a:xfrm>
          <a:prstGeom prst="rect">
            <a:avLst/>
          </a:prstGeom>
          <a:noFill/>
        </p:spPr>
        <p:txBody>
          <a:bodyPr wrap="square" anchor="ctr" lIns="0" rIns="0">
            <a:spAutoFit/>
          </a:bodyPr>
          <a:lstStyle/>
          <a:p>
            <a:pPr algn="l">
              <a:spcAft>
                <a:spcPts val="300"/>
              </a:spcAft>
            </a:pPr>
            <a:r>
              <a:rPr sz="1500" b="1">
                <a:solidFill>
                  <a:srgbClr val="161B26"/>
                </a:solidFill>
                <a:latin typeface="Arial"/>
              </a:rPr>
              <a:t>D — Document</a:t>
            </a:r>
          </a:p>
          <a:p>
            <a:pPr algn="l">
              <a:spcAft>
                <a:spcPts val="300"/>
              </a:spcAft>
            </a:pPr>
            <a:r>
              <a:rPr sz="1200" b="0">
                <a:solidFill>
                  <a:srgbClr val="5B6372"/>
                </a:solidFill>
                <a:latin typeface="Arial"/>
              </a:rPr>
              <a:t>Document identity AND revision or date: 'EMS-P-08 Rev 4, cl. 5.3'.</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7C3AED"/>
                </a:solidFill>
                <a:latin typeface="Arial"/>
              </a:rPr>
              <a:t>THE TEST OF A GOOD NOTE</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If your note has none of P, L, O or D, you have an impression — not evidence.</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A finding must be re-findable. Another auditor, six months later, should be able to go to the same place, ask for the same document and reach the same conclusion.</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ISO 19011 §6.4.2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Opening Meeting — the Standard Agenda</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Introductions and roles</a:t>
            </a:r>
          </a:p>
          <a:p>
            <a:pPr algn="l">
              <a:spcAft>
                <a:spcPts val="200"/>
              </a:spcAft>
            </a:pPr>
            <a:r>
              <a:rPr sz="1100" b="0">
                <a:solidFill>
                  <a:srgbClr val="5B6372"/>
                </a:solidFill>
                <a:latin typeface="Arial"/>
              </a:rPr>
              <a:t>Audit team, auditee representatives, guides and observers.</a:t>
            </a:r>
          </a:p>
        </p:txBody>
      </p:sp>
      <p:sp>
        <p:nvSpPr>
          <p:cNvPr id="12" name="Rectangle 11"/>
          <p:cNvSpPr/>
          <p:nvPr/>
        </p:nvSpPr>
        <p:spPr>
          <a:xfrm>
            <a:off x="658368" y="239572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95728"/>
            <a:ext cx="82296"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414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4144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9572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the audit plan</a:t>
            </a:r>
          </a:p>
          <a:p>
            <a:pPr algn="l">
              <a:spcAft>
                <a:spcPts val="200"/>
              </a:spcAft>
            </a:pPr>
            <a:r>
              <a:rPr sz="1100" b="0">
                <a:solidFill>
                  <a:srgbClr val="5B6372"/>
                </a:solidFill>
                <a:latin typeface="Arial"/>
              </a:rPr>
              <a:t>Objectives, scope, criteria, timetable and the closing meeting time.</a:t>
            </a:r>
          </a:p>
        </p:txBody>
      </p:sp>
      <p:sp>
        <p:nvSpPr>
          <p:cNvPr id="17" name="Rectangle 16"/>
          <p:cNvSpPr/>
          <p:nvPr/>
        </p:nvSpPr>
        <p:spPr>
          <a:xfrm>
            <a:off x="658368" y="3054096"/>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054096"/>
            <a:ext cx="82296"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09981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099816"/>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054096"/>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communication channels</a:t>
            </a:r>
          </a:p>
          <a:p>
            <a:pPr algn="l">
              <a:spcAft>
                <a:spcPts val="200"/>
              </a:spcAft>
            </a:pPr>
            <a:r>
              <a:rPr sz="1100" b="0">
                <a:solidFill>
                  <a:srgbClr val="5B6372"/>
                </a:solidFill>
                <a:latin typeface="Arial"/>
              </a:rPr>
              <a:t>Who the audit team reports to during the audit; how issues are escalated.</a:t>
            </a:r>
          </a:p>
        </p:txBody>
      </p:sp>
      <p:sp>
        <p:nvSpPr>
          <p:cNvPr id="22" name="Rectangle 21"/>
          <p:cNvSpPr/>
          <p:nvPr/>
        </p:nvSpPr>
        <p:spPr>
          <a:xfrm>
            <a:off x="658368" y="3712464"/>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12464"/>
            <a:ext cx="82296"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75818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758184"/>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12464"/>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Explain the method and the SAMPLING basis</a:t>
            </a:r>
          </a:p>
          <a:p>
            <a:pPr algn="l">
              <a:spcAft>
                <a:spcPts val="200"/>
              </a:spcAft>
            </a:pPr>
            <a:r>
              <a:rPr sz="1100" b="0">
                <a:solidFill>
                  <a:srgbClr val="5B6372"/>
                </a:solidFill>
                <a:latin typeface="Arial"/>
              </a:rPr>
              <a:t>And that sampling means the audit carries an element of uncertainty.</a:t>
            </a:r>
          </a:p>
        </p:txBody>
      </p:sp>
      <p:sp>
        <p:nvSpPr>
          <p:cNvPr id="27" name="Rectangle 26"/>
          <p:cNvSpPr/>
          <p:nvPr/>
        </p:nvSpPr>
        <p:spPr>
          <a:xfrm>
            <a:off x="658368" y="4370832"/>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370832"/>
            <a:ext cx="82296" cy="51206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416552"/>
            <a:ext cx="420624" cy="420624"/>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416552"/>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370832"/>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Explain how findings will be graded and reported</a:t>
            </a:r>
          </a:p>
          <a:p>
            <a:pPr algn="l">
              <a:spcAft>
                <a:spcPts val="200"/>
              </a:spcAft>
            </a:pPr>
            <a:r>
              <a:rPr sz="1100" b="0">
                <a:solidFill>
                  <a:srgbClr val="5B6372"/>
                </a:solidFill>
                <a:latin typeface="Arial"/>
              </a:rPr>
              <a:t>Major, minor, OFI — and what each means here.</a:t>
            </a:r>
          </a:p>
        </p:txBody>
      </p:sp>
      <p:sp>
        <p:nvSpPr>
          <p:cNvPr id="32" name="Rectangle 31"/>
          <p:cNvSpPr/>
          <p:nvPr/>
        </p:nvSpPr>
        <p:spPr>
          <a:xfrm>
            <a:off x="658368" y="502920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029200"/>
            <a:ext cx="82296"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074920"/>
            <a:ext cx="420624" cy="42062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07492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02920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safety, escort and facility arrangements</a:t>
            </a:r>
          </a:p>
          <a:p>
            <a:pPr algn="l">
              <a:spcAft>
                <a:spcPts val="200"/>
              </a:spcAft>
            </a:pPr>
            <a:r>
              <a:rPr sz="1100" b="0">
                <a:solidFill>
                  <a:srgbClr val="5B6372"/>
                </a:solidFill>
                <a:latin typeface="Arial"/>
              </a:rPr>
              <a:t>PPE, restricted areas, emergency procedures.</a:t>
            </a:r>
          </a:p>
        </p:txBody>
      </p:sp>
      <p:sp>
        <p:nvSpPr>
          <p:cNvPr id="37" name="Rectangle 36"/>
          <p:cNvSpPr/>
          <p:nvPr/>
        </p:nvSpPr>
        <p:spPr>
          <a:xfrm>
            <a:off x="658368" y="568756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687568"/>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73328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73328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68756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Invite questions</a:t>
            </a:r>
          </a:p>
          <a:p>
            <a:pPr algn="l">
              <a:spcAft>
                <a:spcPts val="200"/>
              </a:spcAft>
            </a:pPr>
            <a:r>
              <a:rPr sz="1100" b="0">
                <a:solidFill>
                  <a:srgbClr val="5B6372"/>
                </a:solidFill>
                <a:latin typeface="Arial"/>
              </a:rPr>
              <a:t>Confirm the auditee understands and agrees before fieldwork begins.</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ISO 19011 §6.4.10</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Closing Meeting — the Standard Agenda</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Thank the auditee</a:t>
            </a:r>
          </a:p>
          <a:p>
            <a:pPr algn="l">
              <a:spcAft>
                <a:spcPts val="200"/>
              </a:spcAft>
            </a:pPr>
            <a:r>
              <a:rPr sz="1100" b="0">
                <a:solidFill>
                  <a:srgbClr val="5B6372"/>
                </a:solidFill>
                <a:latin typeface="Arial"/>
              </a:rPr>
              <a:t>And restate the audit objective and scope.</a:t>
            </a:r>
          </a:p>
        </p:txBody>
      </p:sp>
      <p:sp>
        <p:nvSpPr>
          <p:cNvPr id="12" name="Rectangle 11"/>
          <p:cNvSpPr/>
          <p:nvPr/>
        </p:nvSpPr>
        <p:spPr>
          <a:xfrm>
            <a:off x="658368" y="239572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95728"/>
            <a:ext cx="82296"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44144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44144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9572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Restate the sampling caveat</a:t>
            </a:r>
          </a:p>
          <a:p>
            <a:pPr algn="l">
              <a:spcAft>
                <a:spcPts val="200"/>
              </a:spcAft>
            </a:pPr>
            <a:r>
              <a:rPr sz="1100" b="0">
                <a:solidFill>
                  <a:srgbClr val="5B6372"/>
                </a:solidFill>
                <a:latin typeface="Arial"/>
              </a:rPr>
              <a:t>Findings are based on sampled evidence — absence of a finding is not proof of conformity.</a:t>
            </a:r>
          </a:p>
        </p:txBody>
      </p:sp>
      <p:sp>
        <p:nvSpPr>
          <p:cNvPr id="17" name="Rectangle 16"/>
          <p:cNvSpPr/>
          <p:nvPr/>
        </p:nvSpPr>
        <p:spPr>
          <a:xfrm>
            <a:off x="658368" y="3054096"/>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054096"/>
            <a:ext cx="82296"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09981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099816"/>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3054096"/>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Present the findings</a:t>
            </a:r>
          </a:p>
          <a:p>
            <a:pPr algn="l">
              <a:spcAft>
                <a:spcPts val="200"/>
              </a:spcAft>
            </a:pPr>
            <a:r>
              <a:rPr sz="1100" b="0">
                <a:solidFill>
                  <a:srgbClr val="5B6372"/>
                </a:solidFill>
                <a:latin typeface="Arial"/>
              </a:rPr>
              <a:t>Each with its evidence and its grade, so they are understood and acknowledged.</a:t>
            </a:r>
          </a:p>
        </p:txBody>
      </p:sp>
      <p:sp>
        <p:nvSpPr>
          <p:cNvPr id="22" name="Rectangle 21"/>
          <p:cNvSpPr/>
          <p:nvPr/>
        </p:nvSpPr>
        <p:spPr>
          <a:xfrm>
            <a:off x="658368" y="3712464"/>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712464"/>
            <a:ext cx="82296"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758184"/>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758184"/>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712464"/>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Present the audit conclusion</a:t>
            </a:r>
          </a:p>
          <a:p>
            <a:pPr algn="l">
              <a:spcAft>
                <a:spcPts val="200"/>
              </a:spcAft>
            </a:pPr>
            <a:r>
              <a:rPr sz="1100" b="0">
                <a:solidFill>
                  <a:srgbClr val="5B6372"/>
                </a:solidFill>
                <a:latin typeface="Arial"/>
              </a:rPr>
              <a:t>On conformity and on effective implementation and maintenance.</a:t>
            </a:r>
          </a:p>
        </p:txBody>
      </p:sp>
      <p:sp>
        <p:nvSpPr>
          <p:cNvPr id="27" name="Rectangle 26"/>
          <p:cNvSpPr/>
          <p:nvPr/>
        </p:nvSpPr>
        <p:spPr>
          <a:xfrm>
            <a:off x="658368" y="4370832"/>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370832"/>
            <a:ext cx="82296" cy="51206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416552"/>
            <a:ext cx="420624" cy="420624"/>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416552"/>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370832"/>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Agree the corrective action process</a:t>
            </a:r>
          </a:p>
          <a:p>
            <a:pPr algn="l">
              <a:spcAft>
                <a:spcPts val="200"/>
              </a:spcAft>
            </a:pPr>
            <a:r>
              <a:rPr sz="1100" b="0">
                <a:solidFill>
                  <a:srgbClr val="5B6372"/>
                </a:solidFill>
                <a:latin typeface="Arial"/>
              </a:rPr>
              <a:t>Owners, timeframes and how effectiveness will be verified.</a:t>
            </a:r>
          </a:p>
        </p:txBody>
      </p:sp>
      <p:sp>
        <p:nvSpPr>
          <p:cNvPr id="32" name="Rectangle 31"/>
          <p:cNvSpPr/>
          <p:nvPr/>
        </p:nvSpPr>
        <p:spPr>
          <a:xfrm>
            <a:off x="658368" y="5029200"/>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5029200"/>
            <a:ext cx="82296"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5074920"/>
            <a:ext cx="420624" cy="42062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5074920"/>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5029200"/>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Record any diverging opinions</a:t>
            </a:r>
          </a:p>
          <a:p>
            <a:pPr algn="l">
              <a:spcAft>
                <a:spcPts val="200"/>
              </a:spcAft>
            </a:pPr>
            <a:r>
              <a:rPr sz="1100" b="0">
                <a:solidFill>
                  <a:srgbClr val="5B6372"/>
                </a:solidFill>
                <a:latin typeface="Arial"/>
              </a:rPr>
              <a:t>Unresolved disagreements are REPORTED, not suppressed — that is fair presentation.</a:t>
            </a:r>
          </a:p>
        </p:txBody>
      </p:sp>
      <p:sp>
        <p:nvSpPr>
          <p:cNvPr id="37" name="Rectangle 36"/>
          <p:cNvSpPr/>
          <p:nvPr/>
        </p:nvSpPr>
        <p:spPr>
          <a:xfrm>
            <a:off x="658368" y="5687568"/>
            <a:ext cx="10835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687568"/>
            <a:ext cx="82296"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73328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733288"/>
            <a:ext cx="420624" cy="420624"/>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687568"/>
            <a:ext cx="9784080" cy="512064"/>
          </a:xfrm>
          <a:prstGeom prst="rect">
            <a:avLst/>
          </a:prstGeom>
          <a:noFill/>
        </p:spPr>
        <p:txBody>
          <a:bodyPr wrap="square" anchor="ctr" lIns="0" rIns="0">
            <a:spAutoFit/>
          </a:bodyPr>
          <a:lstStyle/>
          <a:p>
            <a:pPr algn="l">
              <a:spcAft>
                <a:spcPts val="200"/>
              </a:spcAft>
            </a:pPr>
            <a:r>
              <a:rPr sz="1300" b="1">
                <a:solidFill>
                  <a:srgbClr val="161B26"/>
                </a:solidFill>
                <a:latin typeface="Arial"/>
              </a:rPr>
              <a:t>Confirm the report and follow-up</a:t>
            </a:r>
          </a:p>
          <a:p>
            <a:pPr algn="l">
              <a:spcAft>
                <a:spcPts val="200"/>
              </a:spcAft>
            </a:pPr>
            <a:r>
              <a:rPr sz="1100" b="0">
                <a:solidFill>
                  <a:srgbClr val="5B6372"/>
                </a:solidFill>
                <a:latin typeface="Arial"/>
              </a:rPr>
              <a:t>Distribution, timing and the follow-up arrangement.</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K3 · A2 · WHO YOU DEAL WITH</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Engaging the Stakeholders — They Are Not All the Same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Operations staff</a:t>
            </a:r>
          </a:p>
          <a:p>
            <a:pPr algn="l">
              <a:spcAft>
                <a:spcPts val="300"/>
              </a:spcAft>
            </a:pPr>
            <a:r>
              <a:rPr sz="1100" b="0">
                <a:solidFill>
                  <a:srgbClr val="5B6372"/>
                </a:solidFill>
                <a:latin typeface="Arial"/>
              </a:rPr>
              <a:t>Your primary evidence source. Interview at their normal workplace, put them at ease, never blame.</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Process owners / managers</a:t>
            </a:r>
          </a:p>
          <a:p>
            <a:pPr algn="l">
              <a:spcAft>
                <a:spcPts val="300"/>
              </a:spcAft>
            </a:pPr>
            <a:r>
              <a:rPr sz="1100" b="0">
                <a:solidFill>
                  <a:srgbClr val="5B6372"/>
                </a:solidFill>
                <a:latin typeface="Arial"/>
              </a:rPr>
              <a:t>Describe the intended procedure and own the corrective actions. Contrast what they say with what operators do.</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Top management</a:t>
            </a:r>
          </a:p>
          <a:p>
            <a:pPr algn="l">
              <a:spcAft>
                <a:spcPts val="300"/>
              </a:spcAft>
            </a:pPr>
            <a:r>
              <a:rPr sz="1100" b="0">
                <a:solidFill>
                  <a:srgbClr val="5B6372"/>
                </a:solidFill>
                <a:latin typeface="Arial"/>
              </a:rPr>
              <a:t>Opening and closing meetings; leadership (5.1), resources (7.1) and the programme-level findings.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Client representatives</a:t>
            </a:r>
          </a:p>
          <a:p>
            <a:pPr algn="l">
              <a:spcAft>
                <a:spcPts val="300"/>
              </a:spcAft>
            </a:pPr>
            <a:r>
              <a:rPr sz="1100" b="0">
                <a:solidFill>
                  <a:srgbClr val="5B6372"/>
                </a:solidFill>
                <a:latin typeface="Arial"/>
              </a:rPr>
              <a:t>NOT the auditee. Gatekeepers for site access — get permission in advance and protect confidentiality.</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Regulators (NEA, PUB)</a:t>
            </a:r>
          </a:p>
          <a:p>
            <a:pPr algn="l">
              <a:spcAft>
                <a:spcPts val="300"/>
              </a:spcAft>
            </a:pPr>
            <a:r>
              <a:rPr sz="1100" b="0">
                <a:solidFill>
                  <a:srgbClr val="5B6372"/>
                </a:solidFill>
                <a:latin typeface="Arial"/>
              </a:rPr>
              <a:t>Engaged INDIRECTLY — through licences, submitted returns and correspondence. An internal auditor does not interview them.</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Contractors on site</a:t>
            </a:r>
          </a:p>
          <a:p>
            <a:pPr algn="l">
              <a:spcAft>
                <a:spcPts val="300"/>
              </a:spcAft>
            </a:pPr>
            <a:r>
              <a:rPr sz="1100" b="0">
                <a:solidFill>
                  <a:srgbClr val="5B6372"/>
                </a:solidFill>
                <a:latin typeface="Arial"/>
              </a:rPr>
              <a:t>Work 'under the control of' the organisation — clause 7.2 competence and 8.1 outsourced control apply to them.</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02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2 — AquaPure — Planning the Engagement and the…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2  ·  60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AquaPure's workload has tripled on a new government contract, its audit procedure is five years old, and two 'closed' nonconformities have no verification evidence. Plan the engagement stage by stage, build the checklist, and decide how you will handle each stakeholder group.</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Walk the ISO 19011 §6.2–6.7 lifecycle and list actions for AquaPure at each stage</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Draft the audit plan: objective, criteria, scope, sampling and timetable</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8 checklist lines with the clause, the question and the evidence sought</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the stakeholder engagement matrix for the four groups</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Rehearse the opening meeting and one interview using the questioning funnel</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An Audit Plan + an 8-line risk-based Audit Checklist + a Stakeholder Engagement Matrix for the AquaPure wastewater audit, plus a rehearsed opening-meeting script.</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2 brief · ISO 19011:2018 lifecycle map · Checklist and plan templates</a:t>
            </a:r>
            <a:r>
              <a:rPr sz="1100" b="0">
                <a:solidFill>
                  <a:srgbClr val="5B6372"/>
                </a:solidFill>
                <a:latin typeface="Arial"/>
              </a:rPr>
              <a:t>     ·     Full step-by-step guide: Learner Guide, Activity 2</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02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2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checklist has at least 8 lines, every line names a clause AND the specific evidence you will ask to see, at least 4 lines target mobile operations / calibration / training / the previous NCs, and your matrix treats client representatives differently from the auditee.</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Your checklist is a generic clause-by-clause tick-list. Rebuild it from AquaPure's own risks: mobile units, calibration, training, discharge monitoring.</a:t>
            </a:r>
          </a:p>
          <a:p>
            <a:pPr>
              <a:spcAft>
                <a:spcPts val="800"/>
              </a:spcAft>
            </a:pPr>
            <a:r>
              <a:rPr sz="1200" b="0">
                <a:solidFill>
                  <a:srgbClr val="161B26"/>
                </a:solidFill>
                <a:latin typeface="Arial"/>
              </a:rPr>
              <a:t>•  You missed the third checklist column. Every line needs the EVIDENCE you expect to see, not just the question.</a:t>
            </a:r>
          </a:p>
          <a:p>
            <a:pPr>
              <a:spcAft>
                <a:spcPts val="800"/>
              </a:spcAft>
            </a:pPr>
            <a:r>
              <a:rPr sz="1200" b="0">
                <a:solidFill>
                  <a:srgbClr val="161B26"/>
                </a:solidFill>
                <a:latin typeface="Arial"/>
              </a:rPr>
              <a:t>•  You classified the 5-year-old procedure as an audit finding. It is a PROGRAMME finding against ISO 14001 cl. 9.2.2.</a:t>
            </a:r>
          </a:p>
          <a:p>
            <a:pPr>
              <a:spcAft>
                <a:spcPts val="800"/>
              </a:spcAft>
            </a:pPr>
            <a:r>
              <a:rPr sz="1200" b="0">
                <a:solidFill>
                  <a:srgbClr val="161B26"/>
                </a:solidFill>
                <a:latin typeface="Arial"/>
              </a:rPr>
              <a:t>•  You accepted 'closed' on the two previous NCs. Clause 10.2(d) requires a review of EFFECTIVENESS — no evidence means no closure.</a:t>
            </a:r>
          </a:p>
          <a:p>
            <a:pPr>
              <a:spcAft>
                <a:spcPts val="800"/>
              </a:spcAft>
            </a:pPr>
            <a:r>
              <a:rPr sz="1200" b="0">
                <a:solidFill>
                  <a:srgbClr val="161B26"/>
                </a:solidFill>
                <a:latin typeface="Arial"/>
              </a:rPr>
              <a:t>•  You planned to interview the regulator. Internal auditors engage NEA indirectly, through licences, returns and correspondence.</a:t>
            </a:r>
          </a:p>
          <a:p>
            <a:pPr>
              <a:spcAft>
                <a:spcPts val="800"/>
              </a:spcAft>
            </a:pPr>
            <a:r>
              <a:rPr sz="1200" b="0">
                <a:solidFill>
                  <a:srgbClr val="161B26"/>
                </a:solidFill>
                <a:latin typeface="Arial"/>
              </a:rPr>
              <a:t>•  You forgot client-site access. If you cannot reach the mobile units, the audit is not feasible as scoped — raise it at initiation, not in the report.</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a:spAutoFit/>
          </a:bodyPr>
          <a:lstStyle/>
          <a:p>
            <a:pPr algn="ctr">
              <a:spcAft>
                <a:spcPts val="400"/>
              </a:spcAft>
            </a:pPr>
            <a:r>
              <a:rPr sz="44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a:spAutoFit/>
          </a:bodyPr>
          <a:lstStyle/>
          <a:p>
            <a:pPr algn="ctr">
              <a:spcAft>
                <a:spcPts val="400"/>
              </a:spcAft>
            </a:pPr>
            <a:r>
              <a:rPr sz="2000" b="1">
                <a:solidFill>
                  <a:srgbClr val="F59E0B"/>
                </a:solidFill>
                <a:latin typeface="Arial"/>
              </a:rPr>
              <a:t>45 minutes</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TOPIC 03</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Risk Assessment</a:t>
            </a:r>
          </a:p>
        </p:txBody>
      </p:sp>
      <p:sp>
        <p:nvSpPr>
          <p:cNvPr id="8" name="TextBox 7"/>
          <p:cNvSpPr txBox="1"/>
          <p:nvPr/>
        </p:nvSpPr>
        <p:spPr>
          <a:xfrm>
            <a:off x="1280160" y="3639312"/>
            <a:ext cx="9784080" cy="1188720"/>
          </a:xfrm>
          <a:prstGeom prst="rect">
            <a:avLst/>
          </a:prstGeom>
          <a:noFill/>
        </p:spPr>
        <p:txBody>
          <a:bodyPr wrap="square" anchor="t" lIns="0" rIns="0">
            <a:spAutoFit/>
          </a:bodyPr>
          <a:lstStyle/>
          <a:p>
            <a:pPr algn="l">
              <a:spcAft>
                <a:spcPts val="400"/>
              </a:spcAft>
            </a:pPr>
            <a:r>
              <a:rPr sz="1450" b="0">
                <a:solidFill>
                  <a:srgbClr val="5B6372"/>
                </a:solidFill>
                <a:latin typeface="Arial"/>
              </a:rPr>
              <a:t>Aspect/impact significance · risk matrices and FMEA · nonconformity grading · root cause analysis · CARs · the audit report</a:t>
            </a:r>
          </a:p>
        </p:txBody>
      </p:sp>
      <p:sp>
        <p:nvSpPr>
          <p:cNvPr id="9" name="TextBox 8"/>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03</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79</a:t>
            </a:r>
          </a:p>
        </p:txBody>
      </p:sp>
    </p:spTree>
  </p:cSld>
  <p:clrMapOvr>
    <a:masterClrMapping/>
  </p:clrMapOvr>
  <p:transition spd="med" advClick="1">
    <p:push dir="l"/>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K4 · RISK ASSESSMENT TECHNIQUES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Evaluating Significance — the 5×5 Matrix</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sk_matrix.png"/>
          <p:cNvPicPr>
            <a:picLocks noChangeAspect="1"/>
          </p:cNvPicPr>
          <p:nvPr/>
        </p:nvPicPr>
        <p:blipFill>
          <a:blip r:embed="rId2"/>
          <a:stretch>
            <a:fillRect/>
          </a:stretch>
        </p:blipFill>
        <p:spPr>
          <a:xfrm>
            <a:off x="658368" y="1998274"/>
            <a:ext cx="5669280" cy="3913012"/>
          </a:xfrm>
          <a:prstGeom prst="rect">
            <a:avLst/>
          </a:prstGeom>
        </p:spPr>
      </p:pic>
      <p:sp>
        <p:nvSpPr>
          <p:cNvPr id="8" name="Rectangle 7"/>
          <p:cNvSpPr/>
          <p:nvPr/>
        </p:nvSpPr>
        <p:spPr>
          <a:xfrm>
            <a:off x="6620256" y="1737360"/>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1737360"/>
            <a:ext cx="82296" cy="985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737360"/>
            <a:ext cx="4453128" cy="985266"/>
          </a:xfrm>
          <a:prstGeom prst="rect">
            <a:avLst/>
          </a:prstGeom>
          <a:noFill/>
        </p:spPr>
        <p:txBody>
          <a:bodyPr wrap="square" anchor="ctr" lIns="0" rIns="0">
            <a:spAutoFit/>
          </a:bodyPr>
          <a:lstStyle/>
          <a:p>
            <a:pPr algn="l">
              <a:spcAft>
                <a:spcPts val="200"/>
              </a:spcAft>
            </a:pPr>
            <a:r>
              <a:rPr sz="1300" b="1">
                <a:solidFill>
                  <a:srgbClr val="1F6FEB"/>
                </a:solidFill>
                <a:latin typeface="Arial"/>
              </a:rPr>
              <a:t>Score = Severity × Likelihood</a:t>
            </a:r>
          </a:p>
          <a:p>
            <a:pPr algn="l">
              <a:spcAft>
                <a:spcPts val="200"/>
              </a:spcAft>
            </a:pPr>
            <a:r>
              <a:rPr sz="1100" b="0">
                <a:solidFill>
                  <a:srgbClr val="161B26"/>
                </a:solidFill>
                <a:latin typeface="Arial"/>
              </a:rPr>
              <a:t>The most common method, and defensible if the criteria are documented.</a:t>
            </a:r>
          </a:p>
        </p:txBody>
      </p:sp>
      <p:sp>
        <p:nvSpPr>
          <p:cNvPr id="11" name="Rectangle 10"/>
          <p:cNvSpPr/>
          <p:nvPr/>
        </p:nvSpPr>
        <p:spPr>
          <a:xfrm>
            <a:off x="6620256" y="2887218"/>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0256" y="2887218"/>
            <a:ext cx="82296" cy="9852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7218"/>
            <a:ext cx="4453128" cy="985266"/>
          </a:xfrm>
          <a:prstGeom prst="rect">
            <a:avLst/>
          </a:prstGeom>
          <a:noFill/>
        </p:spPr>
        <p:txBody>
          <a:bodyPr wrap="square" anchor="ctr" lIns="0" rIns="0">
            <a:spAutoFit/>
          </a:bodyPr>
          <a:lstStyle/>
          <a:p>
            <a:pPr algn="l">
              <a:spcAft>
                <a:spcPts val="200"/>
              </a:spcAft>
            </a:pPr>
            <a:r>
              <a:rPr sz="1300" b="1">
                <a:solidFill>
                  <a:srgbClr val="10B981"/>
                </a:solidFill>
                <a:latin typeface="Arial"/>
              </a:rPr>
              <a:t>Threshold ≥ 10 = significant</a:t>
            </a:r>
          </a:p>
          <a:p>
            <a:pPr algn="l">
              <a:spcAft>
                <a:spcPts val="200"/>
              </a:spcAft>
            </a:pPr>
            <a:r>
              <a:rPr sz="1100" b="0">
                <a:solidFill>
                  <a:srgbClr val="161B26"/>
                </a:solidFill>
                <a:latin typeface="Arial"/>
              </a:rPr>
              <a:t>High and Extreme bands. The threshold itself is what an auditor challenges.</a:t>
            </a:r>
          </a:p>
        </p:txBody>
      </p:sp>
      <p:sp>
        <p:nvSpPr>
          <p:cNvPr id="14" name="Rectangle 13"/>
          <p:cNvSpPr/>
          <p:nvPr/>
        </p:nvSpPr>
        <p:spPr>
          <a:xfrm>
            <a:off x="6620256" y="4037076"/>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0256" y="4037076"/>
            <a:ext cx="82296" cy="985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4037076"/>
            <a:ext cx="4453128" cy="985266"/>
          </a:xfrm>
          <a:prstGeom prst="rect">
            <a:avLst/>
          </a:prstGeom>
          <a:noFill/>
        </p:spPr>
        <p:txBody>
          <a:bodyPr wrap="square" anchor="ctr" lIns="0" rIns="0">
            <a:spAutoFit/>
          </a:bodyPr>
          <a:lstStyle/>
          <a:p>
            <a:pPr algn="l">
              <a:spcAft>
                <a:spcPts val="200"/>
              </a:spcAft>
            </a:pPr>
            <a:r>
              <a:rPr sz="1300" b="1">
                <a:solidFill>
                  <a:srgbClr val="7C3AED"/>
                </a:solidFill>
                <a:latin typeface="Arial"/>
              </a:rPr>
              <a:t>ISO prescribes NO method</a:t>
            </a:r>
          </a:p>
          <a:p>
            <a:pPr algn="l">
              <a:spcAft>
                <a:spcPts val="200"/>
              </a:spcAft>
            </a:pPr>
            <a:r>
              <a:rPr sz="1100" b="0">
                <a:solidFill>
                  <a:srgbClr val="161B26"/>
                </a:solidFill>
                <a:latin typeface="Arial"/>
              </a:rPr>
              <a:t>6.1.2 requires only that significance is determined BY ESTABLISHED CRITERIA.</a:t>
            </a:r>
          </a:p>
        </p:txBody>
      </p:sp>
      <p:sp>
        <p:nvSpPr>
          <p:cNvPr id="17" name="Rectangle 16"/>
          <p:cNvSpPr/>
          <p:nvPr/>
        </p:nvSpPr>
        <p:spPr>
          <a:xfrm>
            <a:off x="6620256" y="5186934"/>
            <a:ext cx="4873752" cy="985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0256" y="5186934"/>
            <a:ext cx="82296" cy="9852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5186934"/>
            <a:ext cx="4453128" cy="985266"/>
          </a:xfrm>
          <a:prstGeom prst="rect">
            <a:avLst/>
          </a:prstGeom>
          <a:noFill/>
        </p:spPr>
        <p:txBody>
          <a:bodyPr wrap="square" anchor="ctr" lIns="0" rIns="0">
            <a:spAutoFit/>
          </a:bodyPr>
          <a:lstStyle/>
          <a:p>
            <a:pPr algn="l">
              <a:spcAft>
                <a:spcPts val="200"/>
              </a:spcAft>
            </a:pPr>
            <a:r>
              <a:rPr sz="1300" b="1">
                <a:solidFill>
                  <a:srgbClr val="F59E0B"/>
                </a:solidFill>
                <a:latin typeface="Arial"/>
              </a:rPr>
              <a:t>The real audit question</a:t>
            </a:r>
          </a:p>
          <a:p>
            <a:pPr algn="l">
              <a:spcAft>
                <a:spcPts val="200"/>
              </a:spcAft>
            </a:pPr>
            <a:r>
              <a:rPr sz="1100" b="0">
                <a:solidFill>
                  <a:srgbClr val="161B26"/>
                </a:solidFill>
                <a:latin typeface="Arial"/>
              </a:rPr>
              <a:t>Not 'is your method right?' but 'is it documented, criteria-based and consistently applied?'</a:t>
            </a:r>
          </a:p>
        </p:txBody>
      </p:sp>
      <p:sp>
        <p:nvSpPr>
          <p:cNvPr id="20" name="TextBox 1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1" name="TextBox 2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2" name="TextBox 2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WHY SCORING ALONE IS NOT ENOUGH</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200" b="1">
                <a:solidFill>
                  <a:srgbClr val="161B26"/>
                </a:solidFill>
                <a:latin typeface="Arial"/>
              </a:rPr>
              <a:t>The Override Rules — What Makes an Aspect Automatically Significant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legal limit applies</a:t>
            </a:r>
          </a:p>
        </p:txBody>
      </p:sp>
      <p:sp>
        <p:nvSpPr>
          <p:cNvPr id="12" name="TextBox 11"/>
          <p:cNvSpPr txBox="1"/>
          <p:nvPr/>
        </p:nvSpPr>
        <p:spPr>
          <a:xfrm>
            <a:off x="9144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aspect is subject to a regulatory limit, licence or permit condition — regardless of its arithmetic score.</a:t>
            </a:r>
          </a:p>
        </p:txBody>
      </p:sp>
      <p:sp>
        <p:nvSpPr>
          <p:cNvPr id="13" name="Rectangle 12"/>
          <p:cNvSpPr/>
          <p:nvPr/>
        </p:nvSpPr>
        <p:spPr>
          <a:xfrm>
            <a:off x="34015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513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regulator has acted</a:t>
            </a:r>
          </a:p>
        </p:txBody>
      </p:sp>
      <p:sp>
        <p:nvSpPr>
          <p:cNvPr id="18" name="TextBox 17"/>
          <p:cNvSpPr txBox="1"/>
          <p:nvPr/>
        </p:nvSpPr>
        <p:spPr>
          <a:xfrm>
            <a:off x="36576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 notice, warning, fine or prosecution in the last three years.</a:t>
            </a:r>
          </a:p>
        </p:txBody>
      </p:sp>
      <p:sp>
        <p:nvSpPr>
          <p:cNvPr id="19" name="Rectangle 18"/>
          <p:cNvSpPr/>
          <p:nvPr/>
        </p:nvSpPr>
        <p:spPr>
          <a:xfrm>
            <a:off x="61447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64224"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68945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A substantiated complaint</a:t>
            </a:r>
          </a:p>
        </p:txBody>
      </p:sp>
      <p:sp>
        <p:nvSpPr>
          <p:cNvPr id="24" name="TextBox 23"/>
          <p:cNvSpPr txBox="1"/>
          <p:nvPr/>
        </p:nvSpPr>
        <p:spPr>
          <a:xfrm>
            <a:off x="64008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An interested party has complained and the complaint was upheld.</a:t>
            </a:r>
          </a:p>
        </p:txBody>
      </p:sp>
      <p:sp>
        <p:nvSpPr>
          <p:cNvPr id="25" name="Rectangle 24"/>
          <p:cNvSpPr/>
          <p:nvPr/>
        </p:nvSpPr>
        <p:spPr>
          <a:xfrm>
            <a:off x="8887968" y="1783080"/>
            <a:ext cx="2487168"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87968" y="1783080"/>
            <a:ext cx="82296" cy="2331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07424"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074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4</a:t>
            </a:r>
          </a:p>
        </p:txBody>
      </p:sp>
      <p:sp>
        <p:nvSpPr>
          <p:cNvPr id="29" name="TextBox 28"/>
          <p:cNvSpPr txBox="1"/>
          <p:nvPr/>
        </p:nvSpPr>
        <p:spPr>
          <a:xfrm>
            <a:off x="9637776" y="1911096"/>
            <a:ext cx="1572768"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Controlled substances or waste</a:t>
            </a:r>
          </a:p>
        </p:txBody>
      </p:sp>
      <p:sp>
        <p:nvSpPr>
          <p:cNvPr id="30" name="TextBox 29"/>
          <p:cNvSpPr txBox="1"/>
          <p:nvPr/>
        </p:nvSpPr>
        <p:spPr>
          <a:xfrm>
            <a:off x="9144000" y="2496312"/>
            <a:ext cx="1993392"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The aspect involves a listed hazardous substance or toxic industrial waste.</a:t>
            </a:r>
          </a:p>
        </p:txBody>
      </p:sp>
      <p:sp>
        <p:nvSpPr>
          <p:cNvPr id="31" name="Rectangle 30"/>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DC2626"/>
                </a:solidFill>
                <a:latin typeface="Arial"/>
              </a:rPr>
              <a:t>THE POINT</a:t>
            </a:r>
          </a:p>
        </p:txBody>
      </p:sp>
      <p:sp>
        <p:nvSpPr>
          <p:cNvPr id="33" name="TextBox 32"/>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Without override rules, a licensed discharge can score 'medium' and drop off the significant list — the classic finding where the aspects register has become disconnected from the legal register.</a:t>
            </a:r>
          </a:p>
        </p:txBody>
      </p:sp>
      <p:sp>
        <p:nvSpPr>
          <p:cNvPr id="34" name="TextBox 3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5" name="TextBox 3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6" name="TextBox 3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K4 · THE TOOLKIT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Three Significance Methods — Pick One and Document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600553"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2399385"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Method</a:t>
            </a:r>
          </a:p>
        </p:txBody>
      </p:sp>
      <p:sp>
        <p:nvSpPr>
          <p:cNvPr id="9" name="Rectangle 8"/>
          <p:cNvSpPr/>
          <p:nvPr/>
        </p:nvSpPr>
        <p:spPr>
          <a:xfrm>
            <a:off x="3258921" y="1737360"/>
            <a:ext cx="4984394"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68649" y="1737360"/>
            <a:ext cx="4783226"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How it scores</a:t>
            </a:r>
          </a:p>
        </p:txBody>
      </p:sp>
      <p:sp>
        <p:nvSpPr>
          <p:cNvPr id="11" name="Rectangle 10"/>
          <p:cNvSpPr/>
          <p:nvPr/>
        </p:nvSpPr>
        <p:spPr>
          <a:xfrm>
            <a:off x="8243315" y="1737360"/>
            <a:ext cx="3250692" cy="987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3043" y="1737360"/>
            <a:ext cx="3049524" cy="987552"/>
          </a:xfrm>
          <a:prstGeom prst="rect">
            <a:avLst/>
          </a:prstGeom>
          <a:noFill/>
        </p:spPr>
        <p:txBody>
          <a:bodyPr wrap="square" anchor="ctr" lIns="0" rIns="0">
            <a:spAutoFit/>
          </a:bodyPr>
          <a:lstStyle/>
          <a:p>
            <a:pPr algn="l">
              <a:spcAft>
                <a:spcPts val="400"/>
              </a:spcAft>
            </a:pPr>
            <a:r>
              <a:rPr sz="1100" b="1">
                <a:solidFill>
                  <a:srgbClr val="FFFFFF"/>
                </a:solidFill>
                <a:latin typeface="Arial"/>
              </a:rPr>
              <a:t>Best for</a:t>
            </a:r>
          </a:p>
        </p:txBody>
      </p:sp>
      <p:sp>
        <p:nvSpPr>
          <p:cNvPr id="13" name="Rectangle 12"/>
          <p:cNvSpPr/>
          <p:nvPr/>
        </p:nvSpPr>
        <p:spPr>
          <a:xfrm>
            <a:off x="658368" y="2724912"/>
            <a:ext cx="2600553"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724912"/>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Severity × Likelihood</a:t>
            </a:r>
          </a:p>
        </p:txBody>
      </p:sp>
      <p:sp>
        <p:nvSpPr>
          <p:cNvPr id="15" name="Rectangle 14"/>
          <p:cNvSpPr/>
          <p:nvPr/>
        </p:nvSpPr>
        <p:spPr>
          <a:xfrm>
            <a:off x="3258921" y="2724912"/>
            <a:ext cx="4984394"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8649" y="2724912"/>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5×5, score 1–25; significant at ≥ 10</a:t>
            </a:r>
          </a:p>
        </p:txBody>
      </p:sp>
      <p:sp>
        <p:nvSpPr>
          <p:cNvPr id="17" name="Rectangle 16"/>
          <p:cNvSpPr/>
          <p:nvPr/>
        </p:nvSpPr>
        <p:spPr>
          <a:xfrm>
            <a:off x="8243315" y="2724912"/>
            <a:ext cx="3250692"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3043" y="2724912"/>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SMEs and first registers — simple and defensible</a:t>
            </a:r>
          </a:p>
        </p:txBody>
      </p:sp>
      <p:sp>
        <p:nvSpPr>
          <p:cNvPr id="19" name="Rectangle 18"/>
          <p:cNvSpPr/>
          <p:nvPr/>
        </p:nvSpPr>
        <p:spPr>
          <a:xfrm>
            <a:off x="658368" y="3712464"/>
            <a:ext cx="2600553"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712464"/>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Multi-criteria weighted</a:t>
            </a:r>
          </a:p>
        </p:txBody>
      </p:sp>
      <p:sp>
        <p:nvSpPr>
          <p:cNvPr id="21" name="Rectangle 20"/>
          <p:cNvSpPr/>
          <p:nvPr/>
        </p:nvSpPr>
        <p:spPr>
          <a:xfrm>
            <a:off x="3258921" y="3712464"/>
            <a:ext cx="4984394"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68649" y="3712464"/>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Severity × Frequency × Legal × Stakeholder, or a weighted sum</a:t>
            </a:r>
          </a:p>
        </p:txBody>
      </p:sp>
      <p:sp>
        <p:nvSpPr>
          <p:cNvPr id="23" name="Rectangle 22"/>
          <p:cNvSpPr/>
          <p:nvPr/>
        </p:nvSpPr>
        <p:spPr>
          <a:xfrm>
            <a:off x="8243315" y="3712464"/>
            <a:ext cx="3250692" cy="987552"/>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3043" y="3712464"/>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Larger organisations — builds in obligations and interested parties</a:t>
            </a:r>
          </a:p>
        </p:txBody>
      </p:sp>
      <p:sp>
        <p:nvSpPr>
          <p:cNvPr id="25" name="Rectangle 24"/>
          <p:cNvSpPr/>
          <p:nvPr/>
        </p:nvSpPr>
        <p:spPr>
          <a:xfrm>
            <a:off x="658368" y="4700016"/>
            <a:ext cx="2600553"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700016"/>
            <a:ext cx="2399385" cy="987552"/>
          </a:xfrm>
          <a:prstGeom prst="rect">
            <a:avLst/>
          </a:prstGeom>
          <a:noFill/>
        </p:spPr>
        <p:txBody>
          <a:bodyPr wrap="square" anchor="ctr" lIns="0" rIns="0">
            <a:spAutoFit/>
          </a:bodyPr>
          <a:lstStyle/>
          <a:p>
            <a:pPr algn="l">
              <a:spcAft>
                <a:spcPts val="400"/>
              </a:spcAft>
            </a:pPr>
            <a:r>
              <a:rPr sz="1000" b="1">
                <a:solidFill>
                  <a:srgbClr val="161B26"/>
                </a:solidFill>
                <a:latin typeface="Arial"/>
              </a:rPr>
              <a:t>FMEA (S × O × D)</a:t>
            </a:r>
          </a:p>
        </p:txBody>
      </p:sp>
      <p:sp>
        <p:nvSpPr>
          <p:cNvPr id="27" name="Rectangle 26"/>
          <p:cNvSpPr/>
          <p:nvPr/>
        </p:nvSpPr>
        <p:spPr>
          <a:xfrm>
            <a:off x="3258921" y="4700016"/>
            <a:ext cx="4984394"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68649" y="4700016"/>
            <a:ext cx="4783226"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RPN 1–1000; act at ≥ 100; any S ≥ 9 acts regardless</a:t>
            </a:r>
          </a:p>
        </p:txBody>
      </p:sp>
      <p:sp>
        <p:nvSpPr>
          <p:cNvPr id="29" name="Rectangle 28"/>
          <p:cNvSpPr/>
          <p:nvPr/>
        </p:nvSpPr>
        <p:spPr>
          <a:xfrm>
            <a:off x="8243315" y="4700016"/>
            <a:ext cx="3250692" cy="987552"/>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3043" y="4700016"/>
            <a:ext cx="3049524" cy="987552"/>
          </a:xfrm>
          <a:prstGeom prst="rect">
            <a:avLst/>
          </a:prstGeom>
          <a:noFill/>
        </p:spPr>
        <p:txBody>
          <a:bodyPr wrap="square" anchor="ctr" lIns="0" rIns="0">
            <a:spAutoFit/>
          </a:bodyPr>
          <a:lstStyle/>
          <a:p>
            <a:pPr algn="l">
              <a:spcAft>
                <a:spcPts val="400"/>
              </a:spcAft>
            </a:pPr>
            <a:r>
              <a:rPr sz="1000" b="0">
                <a:solidFill>
                  <a:srgbClr val="161B26"/>
                </a:solidFill>
                <a:latin typeface="Arial"/>
              </a:rPr>
              <a:t>Abnormal and emergency aspects where DETECTION matters</a:t>
            </a:r>
          </a:p>
        </p:txBody>
      </p:sp>
      <p:sp>
        <p:nvSpPr>
          <p:cNvPr id="31" name="Rectangle 30"/>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FMEA adds the dimension the others miss: can we DETECT the failure before it becomes an impact? The cheapest risk reduction is almost always better detection — which is exactly what clause 9.1 monitoring is for.</a:t>
            </a:r>
          </a:p>
        </p:txBody>
      </p:sp>
      <p:sp>
        <p:nvSpPr>
          <p:cNvPr id="33" name="TextBox 3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4" name="TextBox 3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5" name="TextBox 3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TAKE THESE ON SITE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400" b="1">
                <a:solidFill>
                  <a:srgbClr val="161B26"/>
                </a:solidFill>
                <a:latin typeface="Arial"/>
              </a:rPr>
              <a:t>Auditing the Significance Method — Questions That Find Weakness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Show me the documented criteria.</a:t>
            </a:r>
          </a:p>
          <a:p>
            <a:pPr algn="l">
              <a:spcAft>
                <a:spcPts val="300"/>
              </a:spcAft>
            </a:pPr>
            <a:r>
              <a:rPr sz="1100" b="0">
                <a:solidFill>
                  <a:srgbClr val="5B6372"/>
                </a:solidFill>
                <a:latin typeface="Arial"/>
              </a:rPr>
              <a:t>If the criteria live only in a spreadsheet formula or someone's head, that is a 6.1.2 finding.</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Who approved them, and when?</a:t>
            </a:r>
          </a:p>
          <a:p>
            <a:pPr algn="l">
              <a:spcAft>
                <a:spcPts val="300"/>
              </a:spcAft>
            </a:pPr>
            <a:r>
              <a:rPr sz="1100" b="0">
                <a:solidFill>
                  <a:srgbClr val="5B6372"/>
                </a:solidFill>
                <a:latin typeface="Arial"/>
              </a:rPr>
              <a:t>No approval, no date, no version control.</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Would two assessors score this the same?</a:t>
            </a:r>
          </a:p>
          <a:p>
            <a:pPr algn="l">
              <a:spcAft>
                <a:spcPts val="300"/>
              </a:spcAft>
            </a:pPr>
            <a:r>
              <a:rPr sz="1100" b="0">
                <a:solidFill>
                  <a:srgbClr val="5B6372"/>
                </a:solidFill>
                <a:latin typeface="Arial"/>
              </a:rPr>
              <a:t>Test it live — re-score one aspect with the process owner.</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This has a legal limit but scored 6. Explain.</a:t>
            </a:r>
          </a:p>
          <a:p>
            <a:pPr algn="l">
              <a:spcAft>
                <a:spcPts val="300"/>
              </a:spcAft>
            </a:pPr>
            <a:r>
              <a:rPr sz="1100" b="0">
                <a:solidFill>
                  <a:srgbClr val="5B6372"/>
                </a:solidFill>
                <a:latin typeface="Arial"/>
              </a:rPr>
              <a:t>Tests whether override rules exist.</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Show me how each significant aspect reaches a control.</a:t>
            </a:r>
          </a:p>
          <a:p>
            <a:pPr algn="l">
              <a:spcAft>
                <a:spcPts val="300"/>
              </a:spcAft>
            </a:pPr>
            <a:r>
              <a:rPr sz="1100" b="0">
                <a:solidFill>
                  <a:srgbClr val="5B6372"/>
                </a:solidFill>
                <a:latin typeface="Arial"/>
              </a:rPr>
              <a:t>6.1.2 → 8.1 → 9.1. A register nothing references is shelf-ware.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Why did significant aspects drop from 30 to 6?</a:t>
            </a:r>
          </a:p>
          <a:p>
            <a:pPr algn="l">
              <a:spcAft>
                <a:spcPts val="300"/>
              </a:spcAft>
            </a:pPr>
            <a:r>
              <a:rPr sz="1100" b="0">
                <a:solidFill>
                  <a:srgbClr val="5B6372"/>
                </a:solidFill>
                <a:latin typeface="Arial"/>
              </a:rPr>
              <a:t>Tests whether the threshold was quietly moved to reduce work.</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WHEN SEVERITY × LIKELIHOOD IS TOO COARSE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FMEA for Environmental Risk — S × O × 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Dimension</a:t>
            </a:r>
          </a:p>
        </p:txBody>
      </p:sp>
      <p:sp>
        <p:nvSpPr>
          <p:cNvPr id="9" name="Rectangle 8"/>
          <p:cNvSpPr/>
          <p:nvPr/>
        </p:nvSpPr>
        <p:spPr>
          <a:xfrm>
            <a:off x="2825496" y="1737360"/>
            <a:ext cx="4767681"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566513"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What it rates</a:t>
            </a:r>
          </a:p>
        </p:txBody>
      </p:sp>
      <p:sp>
        <p:nvSpPr>
          <p:cNvPr id="11" name="Rectangle 10"/>
          <p:cNvSpPr/>
          <p:nvPr/>
        </p:nvSpPr>
        <p:spPr>
          <a:xfrm>
            <a:off x="7593177" y="1737360"/>
            <a:ext cx="3900830" cy="790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2905" y="1737360"/>
            <a:ext cx="3699662" cy="790041"/>
          </a:xfrm>
          <a:prstGeom prst="rect">
            <a:avLst/>
          </a:prstGeom>
          <a:noFill/>
        </p:spPr>
        <p:txBody>
          <a:bodyPr wrap="square" anchor="ctr" lIns="0" rIns="0">
            <a:spAutoFit/>
          </a:bodyPr>
          <a:lstStyle/>
          <a:p>
            <a:pPr algn="l">
              <a:spcAft>
                <a:spcPts val="400"/>
              </a:spcAft>
            </a:pPr>
            <a:r>
              <a:rPr sz="1050" b="1">
                <a:solidFill>
                  <a:srgbClr val="FFFFFF"/>
                </a:solidFill>
                <a:latin typeface="Arial"/>
              </a:rPr>
              <a:t>The audit insight</a:t>
            </a:r>
          </a:p>
        </p:txBody>
      </p:sp>
      <p:sp>
        <p:nvSpPr>
          <p:cNvPr id="13" name="Rectangle 12"/>
          <p:cNvSpPr/>
          <p:nvPr/>
        </p:nvSpPr>
        <p:spPr>
          <a:xfrm>
            <a:off x="658368" y="2527401"/>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27401"/>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Severity (S)</a:t>
            </a:r>
          </a:p>
        </p:txBody>
      </p:sp>
      <p:sp>
        <p:nvSpPr>
          <p:cNvPr id="15" name="Rectangle 14"/>
          <p:cNvSpPr/>
          <p:nvPr/>
        </p:nvSpPr>
        <p:spPr>
          <a:xfrm>
            <a:off x="2825496" y="2527401"/>
            <a:ext cx="4767681"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527401"/>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How bad the environmental consequence is, 1–10</a:t>
            </a:r>
          </a:p>
        </p:txBody>
      </p:sp>
      <p:sp>
        <p:nvSpPr>
          <p:cNvPr id="17" name="Rectangle 16"/>
          <p:cNvSpPr/>
          <p:nvPr/>
        </p:nvSpPr>
        <p:spPr>
          <a:xfrm>
            <a:off x="7593177" y="2527401"/>
            <a:ext cx="3900830"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02905" y="2527401"/>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You cannot usually reduce it — a solvent stays toxic</a:t>
            </a:r>
          </a:p>
        </p:txBody>
      </p:sp>
      <p:sp>
        <p:nvSpPr>
          <p:cNvPr id="19" name="Rectangle 18"/>
          <p:cNvSpPr/>
          <p:nvPr/>
        </p:nvSpPr>
        <p:spPr>
          <a:xfrm>
            <a:off x="658368" y="3317442"/>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317442"/>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Occurrence (O)</a:t>
            </a:r>
          </a:p>
        </p:txBody>
      </p:sp>
      <p:sp>
        <p:nvSpPr>
          <p:cNvPr id="21" name="Rectangle 20"/>
          <p:cNvSpPr/>
          <p:nvPr/>
        </p:nvSpPr>
        <p:spPr>
          <a:xfrm>
            <a:off x="2825496" y="3317442"/>
            <a:ext cx="4767681"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317442"/>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How likely the failure mode is, 1–10</a:t>
            </a:r>
          </a:p>
        </p:txBody>
      </p:sp>
      <p:sp>
        <p:nvSpPr>
          <p:cNvPr id="23" name="Rectangle 22"/>
          <p:cNvSpPr/>
          <p:nvPr/>
        </p:nvSpPr>
        <p:spPr>
          <a:xfrm>
            <a:off x="7593177" y="3317442"/>
            <a:ext cx="3900830"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02905" y="3317442"/>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Reduced by maintenance, design and competence</a:t>
            </a:r>
          </a:p>
        </p:txBody>
      </p:sp>
      <p:sp>
        <p:nvSpPr>
          <p:cNvPr id="25" name="Rectangle 24"/>
          <p:cNvSpPr/>
          <p:nvPr/>
        </p:nvSpPr>
        <p:spPr>
          <a:xfrm>
            <a:off x="658368" y="4107483"/>
            <a:ext cx="2167128"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07483"/>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Detection (D)</a:t>
            </a:r>
          </a:p>
        </p:txBody>
      </p:sp>
      <p:sp>
        <p:nvSpPr>
          <p:cNvPr id="27" name="Rectangle 26"/>
          <p:cNvSpPr/>
          <p:nvPr/>
        </p:nvSpPr>
        <p:spPr>
          <a:xfrm>
            <a:off x="2825496" y="4107483"/>
            <a:ext cx="4767681"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4107483"/>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Ability to detect BEFORE impact — INVERTED scale, 1 = certain</a:t>
            </a:r>
          </a:p>
        </p:txBody>
      </p:sp>
      <p:sp>
        <p:nvSpPr>
          <p:cNvPr id="29" name="Rectangle 28"/>
          <p:cNvSpPr/>
          <p:nvPr/>
        </p:nvSpPr>
        <p:spPr>
          <a:xfrm>
            <a:off x="7593177" y="4107483"/>
            <a:ext cx="3900830" cy="790041"/>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02905" y="4107483"/>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The cheapest and fastest RPN reduction available</a:t>
            </a:r>
          </a:p>
        </p:txBody>
      </p:sp>
      <p:sp>
        <p:nvSpPr>
          <p:cNvPr id="31" name="Rectangle 30"/>
          <p:cNvSpPr/>
          <p:nvPr/>
        </p:nvSpPr>
        <p:spPr>
          <a:xfrm>
            <a:off x="658368" y="4897524"/>
            <a:ext cx="2167128"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897524"/>
            <a:ext cx="1965960" cy="790041"/>
          </a:xfrm>
          <a:prstGeom prst="rect">
            <a:avLst/>
          </a:prstGeom>
          <a:noFill/>
        </p:spPr>
        <p:txBody>
          <a:bodyPr wrap="square" anchor="ctr" lIns="0" rIns="0">
            <a:spAutoFit/>
          </a:bodyPr>
          <a:lstStyle/>
          <a:p>
            <a:pPr algn="l">
              <a:spcAft>
                <a:spcPts val="400"/>
              </a:spcAft>
            </a:pPr>
            <a:r>
              <a:rPr sz="950" b="1">
                <a:solidFill>
                  <a:srgbClr val="161B26"/>
                </a:solidFill>
                <a:latin typeface="Arial"/>
              </a:rPr>
              <a:t>RPN = S × O × D</a:t>
            </a:r>
          </a:p>
        </p:txBody>
      </p:sp>
      <p:sp>
        <p:nvSpPr>
          <p:cNvPr id="33" name="Rectangle 32"/>
          <p:cNvSpPr/>
          <p:nvPr/>
        </p:nvSpPr>
        <p:spPr>
          <a:xfrm>
            <a:off x="2825496" y="4897524"/>
            <a:ext cx="4767681"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897524"/>
            <a:ext cx="4566513"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1–1000; act at ≥ 100; any S ≥ 9 acts regardless of RPN</a:t>
            </a:r>
          </a:p>
        </p:txBody>
      </p:sp>
      <p:sp>
        <p:nvSpPr>
          <p:cNvPr id="35" name="Rectangle 34"/>
          <p:cNvSpPr/>
          <p:nvPr/>
        </p:nvSpPr>
        <p:spPr>
          <a:xfrm>
            <a:off x="7593177" y="4897524"/>
            <a:ext cx="3900830" cy="790041"/>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02905" y="4897524"/>
            <a:ext cx="3699662" cy="790041"/>
          </a:xfrm>
          <a:prstGeom prst="rect">
            <a:avLst/>
          </a:prstGeom>
          <a:noFill/>
        </p:spPr>
        <p:txBody>
          <a:bodyPr wrap="square" anchor="ctr" lIns="0" rIns="0">
            <a:spAutoFit/>
          </a:bodyPr>
          <a:lstStyle/>
          <a:p>
            <a:pPr algn="l">
              <a:spcAft>
                <a:spcPts val="400"/>
              </a:spcAft>
            </a:pPr>
            <a:r>
              <a:rPr sz="950" b="0">
                <a:solidFill>
                  <a:srgbClr val="161B26"/>
                </a:solidFill>
                <a:latin typeface="Arial"/>
              </a:rPr>
              <a:t>Links directly to clause 9.1 monitoring and measurement</a:t>
            </a:r>
          </a:p>
        </p:txBody>
      </p:sp>
      <p:sp>
        <p:nvSpPr>
          <p:cNvPr id="37" name="Rectangle 36"/>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Worked example: cracked bund, S=9 O=4 D=7 → RPN 252. Add a leak-detection sensor and D falls to 2 → RPN 72. Same hazard, same likelihood, but now you find out before it reaches the soil.</a:t>
            </a:r>
          </a:p>
        </p:txBody>
      </p:sp>
      <p:sp>
        <p:nvSpPr>
          <p:cNvPr id="39" name="TextBox 3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0" name="TextBox 3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1" name="TextBox 4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CLAUSE 6.2.2 · A RELIABLE CHECKLIST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Environmental Objectives — the 6.2.2 Five-Part Test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2167128"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37360"/>
            <a:ext cx="1965960"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Requirement</a:t>
            </a:r>
          </a:p>
        </p:txBody>
      </p:sp>
      <p:sp>
        <p:nvSpPr>
          <p:cNvPr id="9" name="Rectangle 8"/>
          <p:cNvSpPr/>
          <p:nvPr/>
        </p:nvSpPr>
        <p:spPr>
          <a:xfrm>
            <a:off x="2825496" y="1737360"/>
            <a:ext cx="4550968"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737360"/>
            <a:ext cx="4349800"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The audit question</a:t>
            </a:r>
          </a:p>
        </p:txBody>
      </p:sp>
      <p:sp>
        <p:nvSpPr>
          <p:cNvPr id="11" name="Rectangle 10"/>
          <p:cNvSpPr/>
          <p:nvPr/>
        </p:nvSpPr>
        <p:spPr>
          <a:xfrm>
            <a:off x="7376464" y="1737360"/>
            <a:ext cx="4117543" cy="6583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6192" y="1737360"/>
            <a:ext cx="3916375" cy="658368"/>
          </a:xfrm>
          <a:prstGeom prst="rect">
            <a:avLst/>
          </a:prstGeom>
          <a:noFill/>
        </p:spPr>
        <p:txBody>
          <a:bodyPr wrap="square" anchor="ctr" lIns="0" rIns="0">
            <a:spAutoFit/>
          </a:bodyPr>
          <a:lstStyle/>
          <a:p>
            <a:pPr algn="l">
              <a:spcAft>
                <a:spcPts val="400"/>
              </a:spcAft>
            </a:pPr>
            <a:r>
              <a:rPr sz="1050" b="1">
                <a:solidFill>
                  <a:srgbClr val="FFFFFF"/>
                </a:solidFill>
                <a:latin typeface="Arial"/>
              </a:rPr>
              <a:t>Weak answer</a:t>
            </a:r>
          </a:p>
        </p:txBody>
      </p:sp>
      <p:sp>
        <p:nvSpPr>
          <p:cNvPr id="13" name="Rectangle 12"/>
          <p:cNvSpPr/>
          <p:nvPr/>
        </p:nvSpPr>
        <p:spPr>
          <a:xfrm>
            <a:off x="658368" y="2395728"/>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95728"/>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What will be done</a:t>
            </a:r>
          </a:p>
        </p:txBody>
      </p:sp>
      <p:sp>
        <p:nvSpPr>
          <p:cNvPr id="15" name="Rectangle 14"/>
          <p:cNvSpPr/>
          <p:nvPr/>
        </p:nvSpPr>
        <p:spPr>
          <a:xfrm>
            <a:off x="2825496" y="2395728"/>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35224" y="2395728"/>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What are the actual actions and programme?</a:t>
            </a:r>
          </a:p>
        </p:txBody>
      </p:sp>
      <p:sp>
        <p:nvSpPr>
          <p:cNvPr id="17" name="Rectangle 16"/>
          <p:cNvSpPr/>
          <p:nvPr/>
        </p:nvSpPr>
        <p:spPr>
          <a:xfrm>
            <a:off x="7376464" y="2395728"/>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6192" y="2395728"/>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'Improve energy efficiency' — that is the objective, not the plan</a:t>
            </a:r>
          </a:p>
        </p:txBody>
      </p:sp>
      <p:sp>
        <p:nvSpPr>
          <p:cNvPr id="19" name="Rectangle 18"/>
          <p:cNvSpPr/>
          <p:nvPr/>
        </p:nvSpPr>
        <p:spPr>
          <a:xfrm>
            <a:off x="658368" y="3054096"/>
            <a:ext cx="216712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054096"/>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What resources</a:t>
            </a:r>
          </a:p>
        </p:txBody>
      </p:sp>
      <p:sp>
        <p:nvSpPr>
          <p:cNvPr id="21" name="Rectangle 20"/>
          <p:cNvSpPr/>
          <p:nvPr/>
        </p:nvSpPr>
        <p:spPr>
          <a:xfrm>
            <a:off x="2825496" y="3054096"/>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35224" y="3054096"/>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Is the budget approved and released?</a:t>
            </a:r>
          </a:p>
        </p:txBody>
      </p:sp>
      <p:sp>
        <p:nvSpPr>
          <p:cNvPr id="23" name="Rectangle 22"/>
          <p:cNvSpPr/>
          <p:nvPr/>
        </p:nvSpPr>
        <p:spPr>
          <a:xfrm>
            <a:off x="7376464" y="3054096"/>
            <a:ext cx="411754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6192" y="3054096"/>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No capex, no headcount — a paper objective</a:t>
            </a:r>
          </a:p>
        </p:txBody>
      </p:sp>
      <p:sp>
        <p:nvSpPr>
          <p:cNvPr id="25" name="Rectangle 24"/>
          <p:cNvSpPr/>
          <p:nvPr/>
        </p:nvSpPr>
        <p:spPr>
          <a:xfrm>
            <a:off x="658368" y="3712464"/>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712464"/>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Who is responsible</a:t>
            </a:r>
          </a:p>
        </p:txBody>
      </p:sp>
      <p:sp>
        <p:nvSpPr>
          <p:cNvPr id="27" name="Rectangle 26"/>
          <p:cNvSpPr/>
          <p:nvPr/>
        </p:nvSpPr>
        <p:spPr>
          <a:xfrm>
            <a:off x="2825496" y="3712464"/>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35224" y="3712464"/>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Which NAMED role owns it?</a:t>
            </a:r>
          </a:p>
        </p:txBody>
      </p:sp>
      <p:sp>
        <p:nvSpPr>
          <p:cNvPr id="29" name="Rectangle 28"/>
          <p:cNvSpPr/>
          <p:nvPr/>
        </p:nvSpPr>
        <p:spPr>
          <a:xfrm>
            <a:off x="7376464" y="3712464"/>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6192" y="3712464"/>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'The EHS department'</a:t>
            </a:r>
          </a:p>
        </p:txBody>
      </p:sp>
      <p:sp>
        <p:nvSpPr>
          <p:cNvPr id="31" name="Rectangle 30"/>
          <p:cNvSpPr/>
          <p:nvPr/>
        </p:nvSpPr>
        <p:spPr>
          <a:xfrm>
            <a:off x="658368" y="4370832"/>
            <a:ext cx="216712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0832"/>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When completed</a:t>
            </a:r>
          </a:p>
        </p:txBody>
      </p:sp>
      <p:sp>
        <p:nvSpPr>
          <p:cNvPr id="33" name="Rectangle 32"/>
          <p:cNvSpPr/>
          <p:nvPr/>
        </p:nvSpPr>
        <p:spPr>
          <a:xfrm>
            <a:off x="2825496" y="4370832"/>
            <a:ext cx="4550968"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35224" y="4370832"/>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Target date and milestones?</a:t>
            </a:r>
          </a:p>
        </p:txBody>
      </p:sp>
      <p:sp>
        <p:nvSpPr>
          <p:cNvPr id="35" name="Rectangle 34"/>
          <p:cNvSpPr/>
          <p:nvPr/>
        </p:nvSpPr>
        <p:spPr>
          <a:xfrm>
            <a:off x="7376464" y="4370832"/>
            <a:ext cx="4117543" cy="658368"/>
          </a:xfrm>
          <a:prstGeom prst="rect">
            <a:avLst/>
          </a:prstGeom>
          <a:solidFill>
            <a:srgbClr val="FFFFFF"/>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6192" y="4370832"/>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'Ongoing'</a:t>
            </a:r>
          </a:p>
        </p:txBody>
      </p:sp>
      <p:sp>
        <p:nvSpPr>
          <p:cNvPr id="37" name="Rectangle 36"/>
          <p:cNvSpPr/>
          <p:nvPr/>
        </p:nvSpPr>
        <p:spPr>
          <a:xfrm>
            <a:off x="658368" y="5029200"/>
            <a:ext cx="216712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29200"/>
            <a:ext cx="1965960" cy="658368"/>
          </a:xfrm>
          <a:prstGeom prst="rect">
            <a:avLst/>
          </a:prstGeom>
          <a:noFill/>
        </p:spPr>
        <p:txBody>
          <a:bodyPr wrap="square" anchor="ctr" lIns="0" rIns="0">
            <a:spAutoFit/>
          </a:bodyPr>
          <a:lstStyle/>
          <a:p>
            <a:pPr algn="l">
              <a:spcAft>
                <a:spcPts val="400"/>
              </a:spcAft>
            </a:pPr>
            <a:r>
              <a:rPr sz="950" b="1">
                <a:solidFill>
                  <a:srgbClr val="161B26"/>
                </a:solidFill>
                <a:latin typeface="Arial"/>
              </a:rPr>
              <a:t>How evaluated</a:t>
            </a:r>
          </a:p>
        </p:txBody>
      </p:sp>
      <p:sp>
        <p:nvSpPr>
          <p:cNvPr id="39" name="Rectangle 38"/>
          <p:cNvSpPr/>
          <p:nvPr/>
        </p:nvSpPr>
        <p:spPr>
          <a:xfrm>
            <a:off x="2825496" y="5029200"/>
            <a:ext cx="4550968"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35224" y="5029200"/>
            <a:ext cx="4349800"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Which indicator, measured how, how often, by whom?</a:t>
            </a:r>
          </a:p>
        </p:txBody>
      </p:sp>
      <p:sp>
        <p:nvSpPr>
          <p:cNvPr id="41" name="Rectangle 40"/>
          <p:cNvSpPr/>
          <p:nvPr/>
        </p:nvSpPr>
        <p:spPr>
          <a:xfrm>
            <a:off x="7376464" y="5029200"/>
            <a:ext cx="4117543" cy="658368"/>
          </a:xfrm>
          <a:prstGeom prst="rect">
            <a:avLst/>
          </a:prstGeom>
          <a:solidFill>
            <a:srgbClr val="F5F8FC"/>
          </a:solidFill>
          <a:ln w="1270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6192" y="5029200"/>
            <a:ext cx="3916375" cy="658368"/>
          </a:xfrm>
          <a:prstGeom prst="rect">
            <a:avLst/>
          </a:prstGeom>
          <a:noFill/>
        </p:spPr>
        <p:txBody>
          <a:bodyPr wrap="square" anchor="ctr" lIns="0" rIns="0">
            <a:spAutoFit/>
          </a:bodyPr>
          <a:lstStyle/>
          <a:p>
            <a:pPr algn="l">
              <a:spcAft>
                <a:spcPts val="400"/>
              </a:spcAft>
            </a:pPr>
            <a:r>
              <a:rPr sz="950" b="0">
                <a:solidFill>
                  <a:srgbClr val="161B26"/>
                </a:solidFill>
                <a:latin typeface="Arial"/>
              </a:rPr>
              <a:t>No indicator, or an indicator with no calibrated measurement</a:t>
            </a:r>
          </a:p>
        </p:txBody>
      </p:sp>
      <p:sp>
        <p:nvSpPr>
          <p:cNvPr id="43" name="Rectangle 42"/>
          <p:cNvSpPr/>
          <p:nvPr/>
        </p:nvSpPr>
        <p:spPr>
          <a:xfrm>
            <a:off x="658368" y="576072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6072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Trace every objective BACKWARDS to a significant aspect, obligation or risk, and FORWARDS to 9.1 monitoring and 9.3 management review. An orphan objective means the 6.1 → 6.2 link is broken.</a:t>
            </a:r>
          </a:p>
        </p:txBody>
      </p:sp>
      <p:sp>
        <p:nvSpPr>
          <p:cNvPr id="45" name="TextBox 44"/>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6" name="TextBox 45"/>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7" name="TextBox 46"/>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MOST IMPORTANT SKILL IN THIS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Writing a Nonconformity — the Three-Part Structure</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c_anatomy.png"/>
          <p:cNvPicPr>
            <a:picLocks noChangeAspect="1"/>
          </p:cNvPicPr>
          <p:nvPr/>
        </p:nvPicPr>
        <p:blipFill>
          <a:blip r:embed="rId2"/>
          <a:stretch>
            <a:fillRect/>
          </a:stretch>
        </p:blipFill>
        <p:spPr>
          <a:xfrm>
            <a:off x="2155632" y="1719072"/>
            <a:ext cx="7880430"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Requirement + Evidence + the statement of the gap. Miss any one and you have written an opinion, which the auditee is entitled to reject.</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AND WHERE THE CRITERIA COME FROM</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Grading the Finding — Major, Minor or OFI</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c_grading.png"/>
          <p:cNvPicPr>
            <a:picLocks noChangeAspect="1"/>
          </p:cNvPicPr>
          <p:nvPr/>
        </p:nvPicPr>
        <p:blipFill>
          <a:blip r:embed="rId2"/>
          <a:stretch>
            <a:fillRect/>
          </a:stretch>
        </p:blipFill>
        <p:spPr>
          <a:xfrm>
            <a:off x="1649033" y="1719072"/>
            <a:ext cx="8893628"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ISO 19011 says only that findings 'can be graded'. The major/minor criteria come from ISO/IEC 17021-1 and from your own organisation's audit procedure — so define them in the procedure and apply them consistently.</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REWRITE EVERY WEAK ONE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Nonconformity Statements — Bad and Good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WEAK — will be rejected</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'Housekeeping in the chemical store is poor.'</a:t>
            </a:r>
          </a:p>
          <a:p>
            <a:pPr>
              <a:spcAft>
                <a:spcPts val="700"/>
              </a:spcAft>
            </a:pPr>
            <a:r>
              <a:rPr sz="1100" b="0">
                <a:solidFill>
                  <a:srgbClr val="5B6372"/>
                </a:solidFill>
                <a:latin typeface="Arial"/>
              </a:rPr>
              <a:t>–  → opinion, no requirement, no evidence</a:t>
            </a:r>
          </a:p>
          <a:p>
            <a:pPr>
              <a:spcAft>
                <a:spcPts val="700"/>
              </a:spcAft>
            </a:pPr>
            <a:r>
              <a:rPr sz="1100" b="0">
                <a:solidFill>
                  <a:srgbClr val="5B6372"/>
                </a:solidFill>
                <a:latin typeface="Arial"/>
              </a:rPr>
              <a:t>–  'The operator did not follow the procedure.'</a:t>
            </a:r>
          </a:p>
          <a:p>
            <a:pPr>
              <a:spcAft>
                <a:spcPts val="700"/>
              </a:spcAft>
            </a:pPr>
            <a:r>
              <a:rPr sz="1100" b="0">
                <a:solidFill>
                  <a:srgbClr val="5B6372"/>
                </a:solidFill>
                <a:latin typeface="Arial"/>
              </a:rPr>
              <a:t>–  → blames a person, names no requirement</a:t>
            </a:r>
          </a:p>
          <a:p>
            <a:pPr>
              <a:spcAft>
                <a:spcPts val="700"/>
              </a:spcAft>
            </a:pPr>
            <a:r>
              <a:rPr sz="1100" b="0">
                <a:solidFill>
                  <a:srgbClr val="5B6372"/>
                </a:solidFill>
                <a:latin typeface="Arial"/>
              </a:rPr>
              <a:t>–  'You should install a new bund.'</a:t>
            </a:r>
          </a:p>
          <a:p>
            <a:pPr>
              <a:spcAft>
                <a:spcPts val="700"/>
              </a:spcAft>
            </a:pPr>
            <a:r>
              <a:rPr sz="1100" b="0">
                <a:solidFill>
                  <a:srgbClr val="5B6372"/>
                </a:solidFill>
                <a:latin typeface="Arial"/>
              </a:rPr>
              <a:t>–  → that is consulting, not a finding</a:t>
            </a:r>
          </a:p>
          <a:p>
            <a:pPr>
              <a:spcAft>
                <a:spcPts val="700"/>
              </a:spcAft>
            </a:pPr>
            <a:r>
              <a:rPr sz="1100" b="0">
                <a:solidFill>
                  <a:srgbClr val="5B6372"/>
                </a:solidFill>
                <a:latin typeface="Arial"/>
              </a:rPr>
              <a:t>–  'Training records were not very good.'</a:t>
            </a:r>
          </a:p>
          <a:p>
            <a:pPr>
              <a:spcAft>
                <a:spcPts val="700"/>
              </a:spcAft>
            </a:pPr>
            <a:r>
              <a:rPr sz="1100" b="0">
                <a:solidFill>
                  <a:srgbClr val="5B6372"/>
                </a:solidFill>
                <a:latin typeface="Arial"/>
              </a:rPr>
              <a:t>–  → vague, not traceable, not re-findable</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STRONG — evidence-based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'ISO 14001:2015 cl. 8.1 requires operational controls...</a:t>
            </a:r>
          </a:p>
          <a:p>
            <a:pPr>
              <a:spcAft>
                <a:spcPts val="700"/>
              </a:spcAft>
            </a:pPr>
            <a:r>
              <a:rPr sz="1100" b="0">
                <a:solidFill>
                  <a:srgbClr val="5B6372"/>
                </a:solidFill>
                <a:latin typeface="Arial"/>
              </a:rPr>
              <a:t>–  ...On 14 Aug 2026, three 200 L drums (WD-104/105/106) in Chemical Store B bore no contents or hazard labels...</a:t>
            </a:r>
          </a:p>
          <a:p>
            <a:pPr>
              <a:spcAft>
                <a:spcPts val="700"/>
              </a:spcAft>
            </a:pPr>
            <a:r>
              <a:rPr sz="1100" b="0">
                <a:solidFill>
                  <a:srgbClr val="5B6372"/>
                </a:solidFill>
                <a:latin typeface="Arial"/>
              </a:rPr>
              <a:t>–  ...therefore operational control for hazardous waste storage is not implemented as required.'</a:t>
            </a:r>
          </a:p>
          <a:p>
            <a:pPr>
              <a:spcAft>
                <a:spcPts val="700"/>
              </a:spcAft>
            </a:pPr>
            <a:r>
              <a:rPr sz="1100" b="0">
                <a:solidFill>
                  <a:srgbClr val="5B6372"/>
                </a:solidFill>
                <a:latin typeface="Arial"/>
              </a:rPr>
              <a:t>–  Requirement + Evidence + Gap</a:t>
            </a:r>
          </a:p>
          <a:p>
            <a:pPr>
              <a:spcAft>
                <a:spcPts val="700"/>
              </a:spcAft>
            </a:pPr>
            <a:r>
              <a:rPr sz="1100" b="0">
                <a:solidFill>
                  <a:srgbClr val="5B6372"/>
                </a:solidFill>
                <a:latin typeface="Arial"/>
              </a:rPr>
              <a:t>–  Traceable: another auditor can re-find it</a:t>
            </a:r>
          </a:p>
          <a:p>
            <a:pPr>
              <a:spcAft>
                <a:spcPts val="700"/>
              </a:spcAft>
            </a:pPr>
            <a:r>
              <a:rPr sz="1100" b="0">
                <a:solidFill>
                  <a:srgbClr val="5B6372"/>
                </a:solidFill>
                <a:latin typeface="Arial"/>
              </a:rPr>
              <a:t>–  Addresses the SYSTEM, not the person</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Write findings so that a reader who was not there understands exactly what was seen, where, and which requirement it breaches.</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STOP AT A PROCESS, NOT AT A PERSON</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Root Cause Analysis — 5 Whys Worked Through</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ve_whys.png"/>
          <p:cNvPicPr>
            <a:picLocks noChangeAspect="1"/>
          </p:cNvPicPr>
          <p:nvPr/>
        </p:nvPicPr>
        <p:blipFill>
          <a:blip r:embed="rId2"/>
          <a:stretch>
            <a:fillRect/>
          </a:stretch>
        </p:blipFill>
        <p:spPr>
          <a:xfrm>
            <a:off x="2495980" y="1719072"/>
            <a:ext cx="7199735"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If your 5 Whys ends at 'the operator forgot', you have found a symptom. Push until you reach a step that is missing from a process — that is what corrective action can actually fix.</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CLAUSE 10.2 VS 10.3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Correction vs Corrective Action vs Improvement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rrection_vs_ca.png"/>
          <p:cNvPicPr>
            <a:picLocks noChangeAspect="1"/>
          </p:cNvPicPr>
          <p:nvPr/>
        </p:nvPicPr>
        <p:blipFill>
          <a:blip r:embed="rId2"/>
          <a:stretch>
            <a:fillRect/>
          </a:stretch>
        </p:blipFill>
        <p:spPr>
          <a:xfrm>
            <a:off x="1387456" y="1719072"/>
            <a:ext cx="9416783" cy="3931920"/>
          </a:xfrm>
          <a:prstGeom prst="rect">
            <a:avLst/>
          </a:prstGeom>
        </p:spPr>
      </p:pic>
      <p:sp>
        <p:nvSpPr>
          <p:cNvPr id="8" name="Rectangle 7"/>
          <p:cNvSpPr/>
          <p:nvPr/>
        </p:nvSpPr>
        <p:spPr>
          <a:xfrm>
            <a:off x="658368" y="574243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Clause 10.2 requires BOTH: react and correct, AND evaluate the need to eliminate the cause so it does not recur. A CAR that only lists corrections is an incomplete CAR.</a:t>
            </a:r>
          </a:p>
        </p:txBody>
      </p:sp>
      <p:sp>
        <p:nvSpPr>
          <p:cNvPr id="10" name="TextBox 9"/>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1" name="TextBox 10"/>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2" name="TextBox 11"/>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CAR · A3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Writing an Effective Corrective Action Request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44283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351390" cy="35139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The nonconformity statement</a:t>
            </a:r>
          </a:p>
          <a:p>
            <a:pPr algn="l">
              <a:spcAft>
                <a:spcPts val="200"/>
              </a:spcAft>
            </a:pPr>
            <a:r>
              <a:rPr sz="1100" b="0">
                <a:solidFill>
                  <a:srgbClr val="5B6372"/>
                </a:solidFill>
                <a:latin typeface="Arial"/>
              </a:rPr>
              <a:t>Requirement + evidence + gap, with the clause cited.</a:t>
            </a:r>
          </a:p>
        </p:txBody>
      </p:sp>
      <p:sp>
        <p:nvSpPr>
          <p:cNvPr id="12" name="Rectangle 11"/>
          <p:cNvSpPr/>
          <p:nvPr/>
        </p:nvSpPr>
        <p:spPr>
          <a:xfrm>
            <a:off x="658368" y="2326494"/>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326494"/>
            <a:ext cx="82296" cy="44283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372214"/>
            <a:ext cx="351390" cy="35139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372214"/>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326494"/>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The grade and its justification</a:t>
            </a:r>
          </a:p>
          <a:p>
            <a:pPr algn="l">
              <a:spcAft>
                <a:spcPts val="200"/>
              </a:spcAft>
            </a:pPr>
            <a:r>
              <a:rPr sz="1100" b="0">
                <a:solidFill>
                  <a:srgbClr val="5B6372"/>
                </a:solidFill>
                <a:latin typeface="Arial"/>
              </a:rPr>
              <a:t>Major, minor or OFI — and WHY, against your defined criteria.</a:t>
            </a:r>
          </a:p>
        </p:txBody>
      </p:sp>
      <p:sp>
        <p:nvSpPr>
          <p:cNvPr id="17" name="Rectangle 16"/>
          <p:cNvSpPr/>
          <p:nvPr/>
        </p:nvSpPr>
        <p:spPr>
          <a:xfrm>
            <a:off x="658368" y="2915628"/>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915628"/>
            <a:ext cx="82296" cy="44283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2961348"/>
            <a:ext cx="351390" cy="35139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61348"/>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2915628"/>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Root cause</a:t>
            </a:r>
          </a:p>
          <a:p>
            <a:pPr algn="l">
              <a:spcAft>
                <a:spcPts val="200"/>
              </a:spcAft>
            </a:pPr>
            <a:r>
              <a:rPr sz="1100" b="0">
                <a:solidFill>
                  <a:srgbClr val="5B6372"/>
                </a:solidFill>
                <a:latin typeface="Arial"/>
              </a:rPr>
              <a:t>Reached by 5 Whys or fishbone; must be a process or system cause.</a:t>
            </a:r>
          </a:p>
        </p:txBody>
      </p:sp>
      <p:sp>
        <p:nvSpPr>
          <p:cNvPr id="22" name="Rectangle 21"/>
          <p:cNvSpPr/>
          <p:nvPr/>
        </p:nvSpPr>
        <p:spPr>
          <a:xfrm>
            <a:off x="658368" y="3504762"/>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504762"/>
            <a:ext cx="82296" cy="44283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550482"/>
            <a:ext cx="351390" cy="35139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550482"/>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504762"/>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Correction</a:t>
            </a:r>
          </a:p>
          <a:p>
            <a:pPr algn="l">
              <a:spcAft>
                <a:spcPts val="200"/>
              </a:spcAft>
            </a:pPr>
            <a:r>
              <a:rPr sz="1100" b="0">
                <a:solidFill>
                  <a:srgbClr val="5B6372"/>
                </a:solidFill>
                <a:latin typeface="Arial"/>
              </a:rPr>
              <a:t>What fixes the immediate problem and contains the consequences — including mitigating the environmental impact (10.2a).</a:t>
            </a:r>
          </a:p>
        </p:txBody>
      </p:sp>
      <p:sp>
        <p:nvSpPr>
          <p:cNvPr id="27" name="Rectangle 26"/>
          <p:cNvSpPr/>
          <p:nvPr/>
        </p:nvSpPr>
        <p:spPr>
          <a:xfrm>
            <a:off x="658368" y="4093896"/>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093896"/>
            <a:ext cx="82296" cy="44283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4139616"/>
            <a:ext cx="351390" cy="35139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139616"/>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4093896"/>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Corrective action</a:t>
            </a:r>
          </a:p>
          <a:p>
            <a:pPr algn="l">
              <a:spcAft>
                <a:spcPts val="200"/>
              </a:spcAft>
            </a:pPr>
            <a:r>
              <a:rPr sz="1100" b="0">
                <a:solidFill>
                  <a:srgbClr val="5B6372"/>
                </a:solidFill>
                <a:latin typeface="Arial"/>
              </a:rPr>
              <a:t>What eliminates the cause so it does not recur OR OCCUR ELSEWHERE — and whether similar NCs exist in other areas (10.2b).</a:t>
            </a:r>
          </a:p>
        </p:txBody>
      </p:sp>
      <p:sp>
        <p:nvSpPr>
          <p:cNvPr id="32" name="Rectangle 31"/>
          <p:cNvSpPr/>
          <p:nvPr/>
        </p:nvSpPr>
        <p:spPr>
          <a:xfrm>
            <a:off x="658368" y="4683030"/>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683030"/>
            <a:ext cx="82296" cy="44283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4728750"/>
            <a:ext cx="351390" cy="35139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4728750"/>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4683030"/>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Owner and due date</a:t>
            </a:r>
          </a:p>
          <a:p>
            <a:pPr algn="l">
              <a:spcAft>
                <a:spcPts val="200"/>
              </a:spcAft>
            </a:pPr>
            <a:r>
              <a:rPr sz="1100" b="0">
                <a:solidFill>
                  <a:srgbClr val="5B6372"/>
                </a:solidFill>
                <a:latin typeface="Arial"/>
              </a:rPr>
              <a:t>A named role and a real date.</a:t>
            </a:r>
          </a:p>
        </p:txBody>
      </p:sp>
      <p:sp>
        <p:nvSpPr>
          <p:cNvPr id="37" name="Rectangle 36"/>
          <p:cNvSpPr/>
          <p:nvPr/>
        </p:nvSpPr>
        <p:spPr>
          <a:xfrm>
            <a:off x="658368" y="5272164"/>
            <a:ext cx="10835640" cy="4428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5272164"/>
            <a:ext cx="82296" cy="44283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5317884"/>
            <a:ext cx="351390" cy="35139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317884"/>
            <a:ext cx="351390" cy="351390"/>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5272164"/>
            <a:ext cx="9784080" cy="442830"/>
          </a:xfrm>
          <a:prstGeom prst="rect">
            <a:avLst/>
          </a:prstGeom>
          <a:noFill/>
        </p:spPr>
        <p:txBody>
          <a:bodyPr wrap="square" anchor="ctr" lIns="0" rIns="0">
            <a:spAutoFit/>
          </a:bodyPr>
          <a:lstStyle/>
          <a:p>
            <a:pPr algn="l">
              <a:spcAft>
                <a:spcPts val="200"/>
              </a:spcAft>
            </a:pPr>
            <a:r>
              <a:rPr sz="1300" b="1">
                <a:solidFill>
                  <a:srgbClr val="161B26"/>
                </a:solidFill>
                <a:latin typeface="Arial"/>
              </a:rPr>
              <a:t>Effectiveness verification</a:t>
            </a:r>
          </a:p>
          <a:p>
            <a:pPr algn="l">
              <a:spcAft>
                <a:spcPts val="200"/>
              </a:spcAft>
            </a:pPr>
            <a:r>
              <a:rPr sz="1100" b="0">
                <a:solidFill>
                  <a:srgbClr val="5B6372"/>
                </a:solidFill>
                <a:latin typeface="Arial"/>
              </a:rPr>
              <a:t>How and when you will confirm it worked — required by 10.2(d) and retained under 10.2.</a:t>
            </a:r>
          </a:p>
        </p:txBody>
      </p:sp>
      <p:sp>
        <p:nvSpPr>
          <p:cNvPr id="42" name="Rectangle 41"/>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'Re-trained the operator' is the most over-used and least effective corrective action in industry. Ask: if that person leaves tomorrow, does the problem return?</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ISO 19011 §6.5 · A3</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The Audit Report — What Must Be In It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82296" cy="3691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783080"/>
            <a:ext cx="277748" cy="2777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783080"/>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36192" y="1737360"/>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Audit objectives, scope and criteria</a:t>
            </a:r>
          </a:p>
          <a:p>
            <a:pPr algn="l">
              <a:spcAft>
                <a:spcPts val="200"/>
              </a:spcAft>
            </a:pPr>
            <a:r>
              <a:rPr sz="1100" b="0">
                <a:solidFill>
                  <a:srgbClr val="5B6372"/>
                </a:solidFill>
                <a:latin typeface="Arial"/>
              </a:rPr>
              <a:t>Including what was EXCLUDED.</a:t>
            </a:r>
          </a:p>
        </p:txBody>
      </p:sp>
      <p:sp>
        <p:nvSpPr>
          <p:cNvPr id="12" name="Rectangle 11"/>
          <p:cNvSpPr/>
          <p:nvPr/>
        </p:nvSpPr>
        <p:spPr>
          <a:xfrm>
            <a:off x="658368" y="2252852"/>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252852"/>
            <a:ext cx="82296" cy="3691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2298572"/>
            <a:ext cx="277748" cy="2777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298572"/>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36192" y="2252852"/>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Audit team, auditees and dates</a:t>
            </a:r>
          </a:p>
          <a:p>
            <a:pPr algn="l">
              <a:spcAft>
                <a:spcPts val="200"/>
              </a:spcAft>
            </a:pPr>
            <a:r>
              <a:rPr sz="1100" b="0">
                <a:solidFill>
                  <a:srgbClr val="5B6372"/>
                </a:solidFill>
                <a:latin typeface="Arial"/>
              </a:rPr>
              <a:t>Who audited, who was audited, when.</a:t>
            </a:r>
          </a:p>
        </p:txBody>
      </p:sp>
      <p:sp>
        <p:nvSpPr>
          <p:cNvPr id="17" name="Rectangle 16"/>
          <p:cNvSpPr/>
          <p:nvPr/>
        </p:nvSpPr>
        <p:spPr>
          <a:xfrm>
            <a:off x="658368" y="2768344"/>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768344"/>
            <a:ext cx="82296" cy="3691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2814064"/>
            <a:ext cx="277748" cy="2777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814064"/>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36192" y="2768344"/>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audit findings</a:t>
            </a:r>
          </a:p>
          <a:p>
            <a:pPr algn="l">
              <a:spcAft>
                <a:spcPts val="200"/>
              </a:spcAft>
            </a:pPr>
            <a:r>
              <a:rPr sz="1100" b="0">
                <a:solidFill>
                  <a:srgbClr val="5B6372"/>
                </a:solidFill>
                <a:latin typeface="Arial"/>
              </a:rPr>
              <a:t>Each with its evidence, its clause and its grade.</a:t>
            </a:r>
          </a:p>
        </p:txBody>
      </p:sp>
      <p:sp>
        <p:nvSpPr>
          <p:cNvPr id="22" name="Rectangle 21"/>
          <p:cNvSpPr/>
          <p:nvPr/>
        </p:nvSpPr>
        <p:spPr>
          <a:xfrm>
            <a:off x="658368" y="3283836"/>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283836"/>
            <a:ext cx="82296" cy="3691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3329556"/>
            <a:ext cx="277748" cy="2777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3329556"/>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4</a:t>
            </a:r>
          </a:p>
        </p:txBody>
      </p:sp>
      <p:sp>
        <p:nvSpPr>
          <p:cNvPr id="26" name="TextBox 25"/>
          <p:cNvSpPr txBox="1"/>
          <p:nvPr/>
        </p:nvSpPr>
        <p:spPr>
          <a:xfrm>
            <a:off x="1536192" y="3283836"/>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audit conclusion</a:t>
            </a:r>
          </a:p>
          <a:p>
            <a:pPr algn="l">
              <a:spcAft>
                <a:spcPts val="200"/>
              </a:spcAft>
            </a:pPr>
            <a:r>
              <a:rPr sz="1100" b="0">
                <a:solidFill>
                  <a:srgbClr val="5B6372"/>
                </a:solidFill>
                <a:latin typeface="Arial"/>
              </a:rPr>
              <a:t>On conformity AND on effective implementation and maintenance — clause 9.2.1 requires both.</a:t>
            </a:r>
          </a:p>
        </p:txBody>
      </p:sp>
      <p:sp>
        <p:nvSpPr>
          <p:cNvPr id="27" name="Rectangle 26"/>
          <p:cNvSpPr/>
          <p:nvPr/>
        </p:nvSpPr>
        <p:spPr>
          <a:xfrm>
            <a:off x="658368" y="3799328"/>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3799328"/>
            <a:ext cx="82296" cy="36918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3845048"/>
            <a:ext cx="277748" cy="27774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3845048"/>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5</a:t>
            </a:r>
          </a:p>
        </p:txBody>
      </p:sp>
      <p:sp>
        <p:nvSpPr>
          <p:cNvPr id="31" name="TextBox 30"/>
          <p:cNvSpPr txBox="1"/>
          <p:nvPr/>
        </p:nvSpPr>
        <p:spPr>
          <a:xfrm>
            <a:off x="1536192" y="3799328"/>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The sampling statement</a:t>
            </a:r>
          </a:p>
          <a:p>
            <a:pPr algn="l">
              <a:spcAft>
                <a:spcPts val="200"/>
              </a:spcAft>
            </a:pPr>
            <a:r>
              <a:rPr sz="1100" b="0">
                <a:solidFill>
                  <a:srgbClr val="5B6372"/>
                </a:solidFill>
                <a:latin typeface="Arial"/>
              </a:rPr>
              <a:t>That the audit was a sampling exercise and therefore carries uncertainty — the single most commonly OMITTED element.</a:t>
            </a:r>
          </a:p>
        </p:txBody>
      </p:sp>
      <p:sp>
        <p:nvSpPr>
          <p:cNvPr id="32" name="Rectangle 31"/>
          <p:cNvSpPr/>
          <p:nvPr/>
        </p:nvSpPr>
        <p:spPr>
          <a:xfrm>
            <a:off x="658368" y="4314820"/>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314820"/>
            <a:ext cx="82296" cy="36918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96112" y="4360540"/>
            <a:ext cx="277748" cy="2777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4360540"/>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6</a:t>
            </a:r>
          </a:p>
        </p:txBody>
      </p:sp>
      <p:sp>
        <p:nvSpPr>
          <p:cNvPr id="36" name="TextBox 35"/>
          <p:cNvSpPr txBox="1"/>
          <p:nvPr/>
        </p:nvSpPr>
        <p:spPr>
          <a:xfrm>
            <a:off x="1536192" y="4314820"/>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Opportunities for improvement</a:t>
            </a:r>
          </a:p>
          <a:p>
            <a:pPr algn="l">
              <a:spcAft>
                <a:spcPts val="200"/>
              </a:spcAft>
            </a:pPr>
            <a:r>
              <a:rPr sz="1100" b="0">
                <a:solidFill>
                  <a:srgbClr val="5B6372"/>
                </a:solidFill>
                <a:latin typeface="Arial"/>
              </a:rPr>
              <a:t>Kept clearly SEPARATE from nonconformities.</a:t>
            </a:r>
          </a:p>
        </p:txBody>
      </p:sp>
      <p:sp>
        <p:nvSpPr>
          <p:cNvPr id="37" name="Rectangle 36"/>
          <p:cNvSpPr/>
          <p:nvPr/>
        </p:nvSpPr>
        <p:spPr>
          <a:xfrm>
            <a:off x="658368" y="4830312"/>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4830312"/>
            <a:ext cx="82296" cy="3691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96112" y="4876032"/>
            <a:ext cx="277748" cy="2777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876032"/>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7</a:t>
            </a:r>
          </a:p>
        </p:txBody>
      </p:sp>
      <p:sp>
        <p:nvSpPr>
          <p:cNvPr id="41" name="TextBox 40"/>
          <p:cNvSpPr txBox="1"/>
          <p:nvPr/>
        </p:nvSpPr>
        <p:spPr>
          <a:xfrm>
            <a:off x="1536192" y="4830312"/>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Agreed actions, owners and dates</a:t>
            </a:r>
          </a:p>
          <a:p>
            <a:pPr algn="l">
              <a:spcAft>
                <a:spcPts val="200"/>
              </a:spcAft>
            </a:pPr>
            <a:r>
              <a:rPr sz="1100" b="0">
                <a:solidFill>
                  <a:srgbClr val="5B6372"/>
                </a:solidFill>
                <a:latin typeface="Arial"/>
              </a:rPr>
              <a:t>And the follow-up arrangement.</a:t>
            </a:r>
          </a:p>
        </p:txBody>
      </p:sp>
      <p:sp>
        <p:nvSpPr>
          <p:cNvPr id="42" name="Rectangle 41"/>
          <p:cNvSpPr/>
          <p:nvPr/>
        </p:nvSpPr>
        <p:spPr>
          <a:xfrm>
            <a:off x="658368" y="5345804"/>
            <a:ext cx="10835640" cy="3691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345804"/>
            <a:ext cx="82296" cy="3691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96112" y="5391524"/>
            <a:ext cx="277748" cy="2777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391524"/>
            <a:ext cx="277748" cy="277748"/>
          </a:xfrm>
          <a:prstGeom prst="rect">
            <a:avLst/>
          </a:prstGeom>
          <a:noFill/>
        </p:spPr>
        <p:txBody>
          <a:bodyPr wrap="square" anchor="ctr" lIns="0" rIns="0">
            <a:spAutoFit/>
          </a:bodyPr>
          <a:lstStyle/>
          <a:p>
            <a:pPr algn="ctr">
              <a:spcAft>
                <a:spcPts val="400"/>
              </a:spcAft>
            </a:pPr>
            <a:r>
              <a:rPr sz="1400" b="1">
                <a:solidFill>
                  <a:srgbClr val="FFFFFF"/>
                </a:solidFill>
                <a:latin typeface="Arial"/>
              </a:rPr>
              <a:t>8</a:t>
            </a:r>
          </a:p>
        </p:txBody>
      </p:sp>
      <p:sp>
        <p:nvSpPr>
          <p:cNvPr id="46" name="TextBox 45"/>
          <p:cNvSpPr txBox="1"/>
          <p:nvPr/>
        </p:nvSpPr>
        <p:spPr>
          <a:xfrm>
            <a:off x="1536192" y="5345804"/>
            <a:ext cx="9784080" cy="369188"/>
          </a:xfrm>
          <a:prstGeom prst="rect">
            <a:avLst/>
          </a:prstGeom>
          <a:noFill/>
        </p:spPr>
        <p:txBody>
          <a:bodyPr wrap="square" anchor="ctr" lIns="0" rIns="0">
            <a:spAutoFit/>
          </a:bodyPr>
          <a:lstStyle/>
          <a:p>
            <a:pPr algn="l">
              <a:spcAft>
                <a:spcPts val="200"/>
              </a:spcAft>
            </a:pPr>
            <a:r>
              <a:rPr sz="1300" b="1">
                <a:solidFill>
                  <a:srgbClr val="161B26"/>
                </a:solidFill>
                <a:latin typeface="Arial"/>
              </a:rPr>
              <a:t>Distribution list</a:t>
            </a:r>
          </a:p>
          <a:p>
            <a:pPr algn="l">
              <a:spcAft>
                <a:spcPts val="200"/>
              </a:spcAft>
            </a:pPr>
            <a:r>
              <a:rPr sz="1100" b="0">
                <a:solidFill>
                  <a:srgbClr val="5B6372"/>
                </a:solidFill>
                <a:latin typeface="Arial"/>
              </a:rPr>
              <a:t>Reported to relevant management — ISO 14001 cl. 9.2.2.</a:t>
            </a:r>
          </a:p>
        </p:txBody>
      </p:sp>
      <p:sp>
        <p:nvSpPr>
          <p:cNvPr id="47" name="Rectangle 46"/>
          <p:cNvSpPr/>
          <p:nvPr/>
        </p:nvSpPr>
        <p:spPr>
          <a:xfrm>
            <a:off x="658368" y="5852160"/>
            <a:ext cx="10835640" cy="56692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852160"/>
            <a:ext cx="10332720" cy="566928"/>
          </a:xfrm>
          <a:prstGeom prst="rect">
            <a:avLst/>
          </a:prstGeom>
          <a:noFill/>
        </p:spPr>
        <p:txBody>
          <a:bodyPr wrap="square" anchor="ctr" lIns="0" rIns="0">
            <a:spAutoFit/>
          </a:bodyPr>
          <a:lstStyle/>
          <a:p>
            <a:pPr algn="l">
              <a:spcAft>
                <a:spcPts val="400"/>
              </a:spcAft>
            </a:pPr>
            <a:r>
              <a:rPr sz="1150" b="0">
                <a:solidFill>
                  <a:srgbClr val="161B26"/>
                </a:solidFill>
                <a:latin typeface="Arial"/>
              </a:rPr>
              <a:t>Report item (k) — the sampling caveat — protects both the auditor and the organisation. Absence of a finding is never proof of conformity.</a:t>
            </a:r>
          </a:p>
        </p:txBody>
      </p:sp>
      <p:sp>
        <p:nvSpPr>
          <p:cNvPr id="49" name="TextBox 4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50" name="TextBox 4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51" name="TextBox 5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ISO 19011 §6.7 · ISO 14001 CL. 10.2</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Stage 6 — Audit Follow-Up: the Stage Everyone Skips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60957"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0957"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1</a:t>
            </a:r>
          </a:p>
        </p:txBody>
      </p:sp>
      <p:sp>
        <p:nvSpPr>
          <p:cNvPr id="11" name="TextBox 10"/>
          <p:cNvSpPr txBox="1"/>
          <p:nvPr/>
        </p:nvSpPr>
        <p:spPr>
          <a:xfrm>
            <a:off x="768096"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Receive the action plan</a:t>
            </a:r>
          </a:p>
        </p:txBody>
      </p:sp>
      <p:sp>
        <p:nvSpPr>
          <p:cNvPr id="12" name="TextBox 11"/>
          <p:cNvSpPr txBox="1"/>
          <p:nvPr/>
        </p:nvSpPr>
        <p:spPr>
          <a:xfrm>
            <a:off x="768096"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Root cause, correction, corrective action, dates</a:t>
            </a:r>
          </a:p>
        </p:txBody>
      </p:sp>
      <p:cxnSp>
        <p:nvCxnSpPr>
          <p:cNvPr id="13" name="Connector 12"/>
          <p:cNvCxnSpPr/>
          <p:nvPr/>
        </p:nvCxnSpPr>
        <p:spPr>
          <a:xfrm>
            <a:off x="2622499"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87675"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7675"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90264"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90264"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2</a:t>
            </a:r>
          </a:p>
        </p:txBody>
      </p:sp>
      <p:sp>
        <p:nvSpPr>
          <p:cNvPr id="18" name="TextBox 17"/>
          <p:cNvSpPr txBox="1"/>
          <p:nvPr/>
        </p:nvSpPr>
        <p:spPr>
          <a:xfrm>
            <a:off x="2997403"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Review its adequacy</a:t>
            </a:r>
          </a:p>
        </p:txBody>
      </p:sp>
      <p:sp>
        <p:nvSpPr>
          <p:cNvPr id="19" name="TextBox 18"/>
          <p:cNvSpPr txBox="1"/>
          <p:nvPr/>
        </p:nvSpPr>
        <p:spPr>
          <a:xfrm>
            <a:off x="2997403"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Does the action actually address the ROOT cause?</a:t>
            </a:r>
          </a:p>
        </p:txBody>
      </p:sp>
      <p:cxnSp>
        <p:nvCxnSpPr>
          <p:cNvPr id="20" name="Connector 19"/>
          <p:cNvCxnSpPr/>
          <p:nvPr/>
        </p:nvCxnSpPr>
        <p:spPr>
          <a:xfrm>
            <a:off x="4851806"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16982"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16982"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1"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1"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3</a:t>
            </a:r>
          </a:p>
        </p:txBody>
      </p:sp>
      <p:sp>
        <p:nvSpPr>
          <p:cNvPr id="25" name="TextBox 24"/>
          <p:cNvSpPr txBox="1"/>
          <p:nvPr/>
        </p:nvSpPr>
        <p:spPr>
          <a:xfrm>
            <a:off x="5226710"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implementation</a:t>
            </a:r>
          </a:p>
        </p:txBody>
      </p:sp>
      <p:sp>
        <p:nvSpPr>
          <p:cNvPr id="26" name="TextBox 25"/>
          <p:cNvSpPr txBox="1"/>
          <p:nvPr/>
        </p:nvSpPr>
        <p:spPr>
          <a:xfrm>
            <a:off x="5226710"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Was it done? Evidence, not assertion</a:t>
            </a:r>
          </a:p>
        </p:txBody>
      </p:sp>
      <p:cxnSp>
        <p:nvCxnSpPr>
          <p:cNvPr id="27" name="Connector 26"/>
          <p:cNvCxnSpPr/>
          <p:nvPr/>
        </p:nvCxnSpPr>
        <p:spPr>
          <a:xfrm>
            <a:off x="7081113"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46289"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6289"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8878"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8878"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4</a:t>
            </a:r>
          </a:p>
        </p:txBody>
      </p:sp>
      <p:sp>
        <p:nvSpPr>
          <p:cNvPr id="32" name="TextBox 31"/>
          <p:cNvSpPr txBox="1"/>
          <p:nvPr/>
        </p:nvSpPr>
        <p:spPr>
          <a:xfrm>
            <a:off x="7456017"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Verify EFFECTIVENESS</a:t>
            </a:r>
          </a:p>
        </p:txBody>
      </p:sp>
      <p:sp>
        <p:nvSpPr>
          <p:cNvPr id="33" name="TextBox 32"/>
          <p:cNvSpPr txBox="1"/>
          <p:nvPr/>
        </p:nvSpPr>
        <p:spPr>
          <a:xfrm>
            <a:off x="7456017"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Has the problem stopped recurring? — cl. 10.2(d)</a:t>
            </a:r>
          </a:p>
        </p:txBody>
      </p:sp>
      <p:cxnSp>
        <p:nvCxnSpPr>
          <p:cNvPr id="34" name="Connector 33"/>
          <p:cNvCxnSpPr/>
          <p:nvPr/>
        </p:nvCxnSpPr>
        <p:spPr>
          <a:xfrm>
            <a:off x="9310420" y="3291840"/>
            <a:ext cx="219456" cy="0"/>
          </a:xfrm>
          <a:prstGeom prst="line">
            <a:avLst/>
          </a:prstGeom>
          <a:ln w="28575">
            <a:solidFill>
              <a:srgbClr val="1684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75596" y="2103120"/>
            <a:ext cx="1918411" cy="2377440"/>
          </a:xfrm>
          <a:prstGeom prst="round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75596" y="2103120"/>
            <a:ext cx="1918411" cy="9144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78185" y="2450592"/>
            <a:ext cx="713232" cy="71323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78185" y="2450592"/>
            <a:ext cx="713232" cy="713232"/>
          </a:xfrm>
          <a:prstGeom prst="rect">
            <a:avLst/>
          </a:prstGeom>
          <a:noFill/>
        </p:spPr>
        <p:txBody>
          <a:bodyPr wrap="square" anchor="ctr" lIns="0" rIns="0">
            <a:spAutoFit/>
          </a:bodyPr>
          <a:lstStyle/>
          <a:p>
            <a:pPr algn="ctr">
              <a:spcAft>
                <a:spcPts val="400"/>
              </a:spcAft>
            </a:pPr>
            <a:r>
              <a:rPr sz="2600" b="1">
                <a:solidFill>
                  <a:srgbClr val="FFFFFF"/>
                </a:solidFill>
                <a:latin typeface="Arial"/>
              </a:rPr>
              <a:t>5</a:t>
            </a:r>
          </a:p>
        </p:txBody>
      </p:sp>
      <p:sp>
        <p:nvSpPr>
          <p:cNvPr id="39" name="TextBox 38"/>
          <p:cNvSpPr txBox="1"/>
          <p:nvPr/>
        </p:nvSpPr>
        <p:spPr>
          <a:xfrm>
            <a:off x="9685324" y="3310128"/>
            <a:ext cx="1698955" cy="566928"/>
          </a:xfrm>
          <a:prstGeom prst="rect">
            <a:avLst/>
          </a:prstGeom>
          <a:noFill/>
        </p:spPr>
        <p:txBody>
          <a:bodyPr wrap="square" anchor="t" lIns="0" rIns="0">
            <a:spAutoFit/>
          </a:bodyPr>
          <a:lstStyle/>
          <a:p>
            <a:pPr algn="ctr">
              <a:spcAft>
                <a:spcPts val="400"/>
              </a:spcAft>
            </a:pPr>
            <a:r>
              <a:rPr sz="1250" b="1">
                <a:solidFill>
                  <a:srgbClr val="161B26"/>
                </a:solidFill>
                <a:latin typeface="Arial"/>
              </a:rPr>
              <a:t>Close and record</a:t>
            </a:r>
          </a:p>
        </p:txBody>
      </p:sp>
      <p:sp>
        <p:nvSpPr>
          <p:cNvPr id="40" name="TextBox 39"/>
          <p:cNvSpPr txBox="1"/>
          <p:nvPr/>
        </p:nvSpPr>
        <p:spPr>
          <a:xfrm>
            <a:off x="9685324" y="3858768"/>
            <a:ext cx="1698955" cy="530352"/>
          </a:xfrm>
          <a:prstGeom prst="rect">
            <a:avLst/>
          </a:prstGeom>
          <a:noFill/>
        </p:spPr>
        <p:txBody>
          <a:bodyPr wrap="square" anchor="t" lIns="0" rIns="0">
            <a:spAutoFit/>
          </a:bodyPr>
          <a:lstStyle/>
          <a:p>
            <a:pPr algn="ctr">
              <a:spcAft>
                <a:spcPts val="400"/>
              </a:spcAft>
            </a:pPr>
            <a:r>
              <a:rPr sz="1000" b="0">
                <a:solidFill>
                  <a:srgbClr val="5B6372"/>
                </a:solidFill>
                <a:latin typeface="Arial"/>
              </a:rPr>
              <a:t>Retain evidence of the NC, the action AND the result</a:t>
            </a:r>
          </a:p>
        </p:txBody>
      </p:sp>
      <p:sp>
        <p:nvSpPr>
          <p:cNvPr id="41" name="Rectangle 40"/>
          <p:cNvSpPr/>
          <p:nvPr/>
        </p:nvSpPr>
        <p:spPr>
          <a:xfrm>
            <a:off x="658368" y="4736592"/>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55464"/>
            <a:ext cx="10332720" cy="292608"/>
          </a:xfrm>
          <a:prstGeom prst="rect">
            <a:avLst/>
          </a:prstGeom>
          <a:noFill/>
        </p:spPr>
        <p:txBody>
          <a:bodyPr wrap="square" anchor="t" lIns="0" rIns="0">
            <a:spAutoFit/>
          </a:bodyPr>
          <a:lstStyle/>
          <a:p>
            <a:pPr algn="l">
              <a:spcAft>
                <a:spcPts val="400"/>
              </a:spcAft>
            </a:pPr>
            <a:r>
              <a:rPr sz="1200" b="1">
                <a:solidFill>
                  <a:srgbClr val="16845B"/>
                </a:solidFill>
                <a:latin typeface="Arial"/>
              </a:rPr>
              <a:t>THE POINT</a:t>
            </a:r>
          </a:p>
        </p:txBody>
      </p:sp>
      <p:sp>
        <p:nvSpPr>
          <p:cNvPr id="43" name="TextBox 42"/>
          <p:cNvSpPr txBox="1"/>
          <p:nvPr/>
        </p:nvSpPr>
        <p:spPr>
          <a:xfrm>
            <a:off x="914400" y="5175504"/>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'Closed' is a status, not a conclusion. Clause 10.2(d) requires a review of the EFFECTIVENESS of corrective action, and 10.2 requires the result to be retained. Closure without that evidence is itself a nonconformity.</a:t>
            </a:r>
          </a:p>
        </p:txBody>
      </p:sp>
      <p:sp>
        <p:nvSpPr>
          <p:cNvPr id="44" name="TextBox 43"/>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5" name="TextBox 44"/>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6" name="TextBox 45"/>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THE TEST: WOULD THIS SURVIVE THE PERSON LEAVING?</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Corrective Actions — Weak and Strong</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5303520" cy="379476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37360"/>
            <a:ext cx="5303520"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WEAK — the problem will return</a:t>
            </a:r>
          </a:p>
        </p:txBody>
      </p:sp>
      <p:sp>
        <p:nvSpPr>
          <p:cNvPr id="10" name="TextBox 9"/>
          <p:cNvSpPr txBox="1"/>
          <p:nvPr/>
        </p:nvSpPr>
        <p:spPr>
          <a:xfrm>
            <a:off x="89611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'Operator re-trained.'</a:t>
            </a:r>
          </a:p>
          <a:p>
            <a:pPr>
              <a:spcAft>
                <a:spcPts val="700"/>
              </a:spcAft>
            </a:pPr>
            <a:r>
              <a:rPr sz="1100" b="0">
                <a:solidFill>
                  <a:srgbClr val="5B6372"/>
                </a:solidFill>
                <a:latin typeface="Arial"/>
              </a:rPr>
              <a:t>–  → if that person leaves, the gap returns</a:t>
            </a:r>
          </a:p>
          <a:p>
            <a:pPr>
              <a:spcAft>
                <a:spcPts val="700"/>
              </a:spcAft>
            </a:pPr>
            <a:r>
              <a:rPr sz="1100" b="0">
                <a:solidFill>
                  <a:srgbClr val="5B6372"/>
                </a:solidFill>
                <a:latin typeface="Arial"/>
              </a:rPr>
              <a:t>–  'Reminded staff at the toolbox talk.'</a:t>
            </a:r>
          </a:p>
          <a:p>
            <a:pPr>
              <a:spcAft>
                <a:spcPts val="700"/>
              </a:spcAft>
            </a:pPr>
            <a:r>
              <a:rPr sz="1100" b="0">
                <a:solidFill>
                  <a:srgbClr val="5B6372"/>
                </a:solidFill>
                <a:latin typeface="Arial"/>
              </a:rPr>
              <a:t>–  → no change to any process</a:t>
            </a:r>
          </a:p>
          <a:p>
            <a:pPr>
              <a:spcAft>
                <a:spcPts val="700"/>
              </a:spcAft>
            </a:pPr>
            <a:r>
              <a:rPr sz="1100" b="0">
                <a:solidFill>
                  <a:srgbClr val="5B6372"/>
                </a:solidFill>
                <a:latin typeface="Arial"/>
              </a:rPr>
              <a:t>–  'Increased management awareness.'</a:t>
            </a:r>
          </a:p>
          <a:p>
            <a:pPr>
              <a:spcAft>
                <a:spcPts val="700"/>
              </a:spcAft>
            </a:pPr>
            <a:r>
              <a:rPr sz="1100" b="0">
                <a:solidFill>
                  <a:srgbClr val="5B6372"/>
                </a:solidFill>
                <a:latin typeface="Arial"/>
              </a:rPr>
              <a:t>–  → unmeasurable, unverifiable</a:t>
            </a:r>
          </a:p>
          <a:p>
            <a:pPr>
              <a:spcAft>
                <a:spcPts val="700"/>
              </a:spcAft>
            </a:pPr>
            <a:r>
              <a:rPr sz="1100" b="0">
                <a:solidFill>
                  <a:srgbClr val="5B6372"/>
                </a:solidFill>
                <a:latin typeface="Arial"/>
              </a:rPr>
              <a:t>–  'Will monitor more closely.'</a:t>
            </a:r>
          </a:p>
          <a:p>
            <a:pPr>
              <a:spcAft>
                <a:spcPts val="700"/>
              </a:spcAft>
            </a:pPr>
            <a:r>
              <a:rPr sz="1100" b="0">
                <a:solidFill>
                  <a:srgbClr val="5B6372"/>
                </a:solidFill>
                <a:latin typeface="Arial"/>
              </a:rPr>
              <a:t>–  → no owner, no frequency, no criterion</a:t>
            </a:r>
          </a:p>
        </p:txBody>
      </p:sp>
      <p:sp>
        <p:nvSpPr>
          <p:cNvPr id="11" name="Rectangle 10"/>
          <p:cNvSpPr/>
          <p:nvPr/>
        </p:nvSpPr>
        <p:spPr>
          <a:xfrm>
            <a:off x="6190488" y="1737360"/>
            <a:ext cx="5303520" cy="3794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737360"/>
            <a:ext cx="5303520"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737360"/>
            <a:ext cx="4937760" cy="384048"/>
          </a:xfrm>
          <a:prstGeom prst="rect">
            <a:avLst/>
          </a:prstGeom>
          <a:noFill/>
        </p:spPr>
        <p:txBody>
          <a:bodyPr wrap="square" anchor="ctr" lIns="0" rIns="0">
            <a:spAutoFit/>
          </a:bodyPr>
          <a:lstStyle/>
          <a:p>
            <a:pPr algn="l">
              <a:spcAft>
                <a:spcPts val="400"/>
              </a:spcAft>
            </a:pPr>
            <a:r>
              <a:rPr sz="1400" b="1">
                <a:solidFill>
                  <a:srgbClr val="FFFFFF"/>
                </a:solidFill>
                <a:latin typeface="Arial"/>
              </a:rPr>
              <a:t>✓  STRONG — the cause is removed</a:t>
            </a:r>
          </a:p>
        </p:txBody>
      </p:sp>
      <p:sp>
        <p:nvSpPr>
          <p:cNvPr id="14" name="TextBox 13"/>
          <p:cNvSpPr txBox="1"/>
          <p:nvPr/>
        </p:nvSpPr>
        <p:spPr>
          <a:xfrm>
            <a:off x="6428232" y="2286000"/>
            <a:ext cx="4828032" cy="3108960"/>
          </a:xfrm>
          <a:prstGeom prst="rect">
            <a:avLst/>
          </a:prstGeom>
          <a:noFill/>
        </p:spPr>
        <p:txBody>
          <a:bodyPr wrap="square" lIns="0" rIns="0">
            <a:spAutoFit/>
          </a:bodyPr>
          <a:lstStyle/>
          <a:p>
            <a:pPr>
              <a:spcAft>
                <a:spcPts val="700"/>
              </a:spcAft>
            </a:pPr>
            <a:r>
              <a:rPr sz="1100" b="0">
                <a:solidFill>
                  <a:srgbClr val="5B6372"/>
                </a:solidFill>
                <a:latin typeface="Arial"/>
              </a:rPr>
              <a:t>–  'Amended MOC procedure PR-12 to require an</a:t>
            </a:r>
          </a:p>
          <a:p>
            <a:pPr>
              <a:spcAft>
                <a:spcPts val="700"/>
              </a:spcAft>
            </a:pPr>
            <a:r>
              <a:rPr sz="1100" b="0">
                <a:solidFill>
                  <a:srgbClr val="5B6372"/>
                </a:solidFill>
                <a:latin typeface="Arial"/>
              </a:rPr>
              <a:t>–  environmental re-assessment before any volume</a:t>
            </a:r>
          </a:p>
          <a:p>
            <a:pPr>
              <a:spcAft>
                <a:spcPts val="700"/>
              </a:spcAft>
            </a:pPr>
            <a:r>
              <a:rPr sz="1100" b="0">
                <a:solidFill>
                  <a:srgbClr val="5B6372"/>
                </a:solidFill>
                <a:latin typeface="Arial"/>
              </a:rPr>
              <a:t>–  or process change — effective 1 Sep 2026.'</a:t>
            </a:r>
          </a:p>
          <a:p>
            <a:pPr>
              <a:spcAft>
                <a:spcPts val="700"/>
              </a:spcAft>
            </a:pPr>
            <a:r>
              <a:rPr sz="1100" b="0">
                <a:solidFill>
                  <a:srgbClr val="5B6372"/>
                </a:solidFill>
                <a:latin typeface="Arial"/>
              </a:rPr>
              <a:t>–  'Added bund integrity testing to the PM schedule</a:t>
            </a:r>
          </a:p>
          <a:p>
            <a:pPr>
              <a:spcAft>
                <a:spcPts val="700"/>
              </a:spcAft>
            </a:pPr>
            <a:r>
              <a:rPr sz="1100" b="0">
                <a:solidFill>
                  <a:srgbClr val="5B6372"/>
                </a:solidFill>
                <a:latin typeface="Arial"/>
              </a:rPr>
              <a:t>–  at 12-month frequency, owner: Facilities Manager.'</a:t>
            </a:r>
          </a:p>
          <a:p>
            <a:pPr>
              <a:spcAft>
                <a:spcPts val="700"/>
              </a:spcAft>
            </a:pPr>
            <a:r>
              <a:rPr sz="1100" b="0">
                <a:solidFill>
                  <a:srgbClr val="5B6372"/>
                </a:solidFill>
                <a:latin typeface="Arial"/>
              </a:rPr>
              <a:t>–  'Installed continuous pH monitoring with an</a:t>
            </a:r>
          </a:p>
          <a:p>
            <a:pPr>
              <a:spcAft>
                <a:spcPts val="700"/>
              </a:spcAft>
            </a:pPr>
            <a:r>
              <a:rPr sz="1100" b="0">
                <a:solidFill>
                  <a:srgbClr val="5B6372"/>
                </a:solidFill>
                <a:latin typeface="Arial"/>
              </a:rPr>
              <a:t>–  interlocked shut-off on the discharge line.'</a:t>
            </a:r>
          </a:p>
          <a:p>
            <a:pPr>
              <a:spcAft>
                <a:spcPts val="700"/>
              </a:spcAft>
            </a:pPr>
            <a:r>
              <a:rPr sz="1100" b="0">
                <a:solidFill>
                  <a:srgbClr val="5B6372"/>
                </a:solidFill>
                <a:latin typeface="Arial"/>
              </a:rPr>
              <a:t>–  Process changed · owner named · date set · verifiable</a:t>
            </a:r>
          </a:p>
        </p:txBody>
      </p:sp>
      <p:sp>
        <p:nvSpPr>
          <p:cNvPr id="15" name="Rectangle 14"/>
          <p:cNvSpPr/>
          <p:nvPr/>
        </p:nvSpPr>
        <p:spPr>
          <a:xfrm>
            <a:off x="658368" y="5650992"/>
            <a:ext cx="10835640"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50992"/>
            <a:ext cx="10332720" cy="658368"/>
          </a:xfrm>
          <a:prstGeom prst="rect">
            <a:avLst/>
          </a:prstGeom>
          <a:noFill/>
        </p:spPr>
        <p:txBody>
          <a:bodyPr wrap="square" anchor="ctr" lIns="0" rIns="0">
            <a:spAutoFit/>
          </a:bodyPr>
          <a:lstStyle/>
          <a:p>
            <a:pPr algn="l">
              <a:spcAft>
                <a:spcPts val="400"/>
              </a:spcAft>
            </a:pPr>
            <a:r>
              <a:rPr sz="1200" b="0">
                <a:solidFill>
                  <a:srgbClr val="161B26"/>
                </a:solidFill>
                <a:latin typeface="Arial"/>
              </a:rPr>
              <a:t>Re-training is the most over-used corrective action in industry. It is sometimes right — but only when the root cause genuinely IS a competence gap, and then clause 7.2 requires you to evaluate the effectiveness of the training.</a:t>
            </a:r>
          </a:p>
        </p:txBody>
      </p:sp>
      <p:sp>
        <p:nvSpPr>
          <p:cNvPr id="17" name="TextBox 1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8" name="TextBox 1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9" name="TextBox 1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DC2626"/>
                </a:solidFill>
                <a:latin typeface="Arial"/>
              </a:rPr>
              <a:t>THE PITFALLS</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Common Auditor Mistakes — Recognise Them In Yourself</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Auditing the person, not the process</a:t>
            </a:r>
          </a:p>
          <a:p>
            <a:pPr algn="l">
              <a:spcAft>
                <a:spcPts val="300"/>
              </a:spcAft>
            </a:pPr>
            <a:r>
              <a:rPr sz="1100" b="0">
                <a:solidFill>
                  <a:srgbClr val="5B6372"/>
                </a:solidFill>
                <a:latin typeface="Arial"/>
              </a:rPr>
              <a:t>'Why didn't YOU fill this in?' kills cooperation and finds nothing.</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Raising an NC against a 'should'</a:t>
            </a:r>
          </a:p>
          <a:p>
            <a:pPr algn="l">
              <a:spcAft>
                <a:spcPts val="300"/>
              </a:spcAft>
            </a:pPr>
            <a:r>
              <a:rPr sz="1100" b="0">
                <a:solidFill>
                  <a:srgbClr val="5B6372"/>
                </a:solidFill>
                <a:latin typeface="Arial"/>
              </a:rPr>
              <a:t>Only 'shall' statements are requirements.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Demanding documents that are not required</a:t>
            </a:r>
          </a:p>
          <a:p>
            <a:pPr algn="l">
              <a:spcAft>
                <a:spcPts val="300"/>
              </a:spcAft>
            </a:pPr>
            <a:r>
              <a:rPr sz="1100" b="0">
                <a:solidFill>
                  <a:srgbClr val="5B6372"/>
                </a:solidFill>
                <a:latin typeface="Arial"/>
              </a:rPr>
              <a:t>No procedure, no manual, no preventive action procedure is required.</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Consulting mid-audit</a:t>
            </a:r>
          </a:p>
          <a:p>
            <a:pPr algn="l">
              <a:spcAft>
                <a:spcPts val="300"/>
              </a:spcAft>
            </a:pPr>
            <a:r>
              <a:rPr sz="1100" b="0">
                <a:solidFill>
                  <a:srgbClr val="5B6372"/>
                </a:solidFill>
                <a:latin typeface="Arial"/>
              </a:rPr>
              <a:t>You become the author of what you must audit next year.</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Accepting an assertion as evidence</a:t>
            </a:r>
          </a:p>
          <a:p>
            <a:pPr algn="l">
              <a:spcAft>
                <a:spcPts val="300"/>
              </a:spcAft>
            </a:pPr>
            <a:r>
              <a:rPr sz="1100" b="0">
                <a:solidFill>
                  <a:srgbClr val="5B6372"/>
                </a:solidFill>
                <a:latin typeface="Arial"/>
              </a:rPr>
              <a:t>'We always do that.' Show me.</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Stopping the 5 Whys at human error</a:t>
            </a:r>
          </a:p>
          <a:p>
            <a:pPr algn="l">
              <a:spcAft>
                <a:spcPts val="300"/>
              </a:spcAft>
            </a:pPr>
            <a:r>
              <a:rPr sz="1100" b="0">
                <a:solidFill>
                  <a:srgbClr val="5B6372"/>
                </a:solidFill>
                <a:latin typeface="Arial"/>
              </a:rPr>
              <a:t>Human error is a symptom. Find the process gap.</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TOPIC 03 · HANDS-ON ACTIVITY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600" b="1">
                <a:solidFill>
                  <a:srgbClr val="161B26"/>
                </a:solidFill>
                <a:latin typeface="Arial"/>
              </a:rPr>
              <a:t>Activity 3 — EcoTech Electronics — Risk Assessment, CARs…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18320" y="292608"/>
            <a:ext cx="2075688"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0" y="292608"/>
            <a:ext cx="2075688" cy="384048"/>
          </a:xfrm>
          <a:prstGeom prst="rect">
            <a:avLst/>
          </a:prstGeom>
          <a:noFill/>
        </p:spPr>
        <p:txBody>
          <a:bodyPr wrap="square" anchor="ctr" lIns="0" rIns="0">
            <a:spAutoFit/>
          </a:bodyPr>
          <a:lstStyle/>
          <a:p>
            <a:pPr algn="ctr">
              <a:spcAft>
                <a:spcPts val="400"/>
              </a:spcAft>
            </a:pPr>
            <a:r>
              <a:rPr sz="1200" b="1">
                <a:solidFill>
                  <a:srgbClr val="FFFFFF"/>
                </a:solidFill>
                <a:latin typeface="Arial"/>
              </a:rPr>
              <a:t>ACTIVITY 3  ·  75 MIN</a:t>
            </a:r>
          </a:p>
        </p:txBody>
      </p:sp>
      <p:sp>
        <p:nvSpPr>
          <p:cNvPr id="9" name="TextBox 8"/>
          <p:cNvSpPr txBox="1"/>
          <p:nvPr/>
        </p:nvSpPr>
        <p:spPr>
          <a:xfrm>
            <a:off x="658368" y="1719072"/>
            <a:ext cx="10835640" cy="1051560"/>
          </a:xfrm>
          <a:prstGeom prst="rect">
            <a:avLst/>
          </a:prstGeom>
          <a:noFill/>
        </p:spPr>
        <p:txBody>
          <a:bodyPr wrap="square" anchor="t" lIns="0" rIns="0">
            <a:spAutoFit/>
          </a:bodyPr>
          <a:lstStyle/>
          <a:p>
            <a:pPr algn="l">
              <a:spcAft>
                <a:spcPts val="400"/>
              </a:spcAft>
            </a:pPr>
            <a:r>
              <a:rPr sz="1350" b="0">
                <a:solidFill>
                  <a:srgbClr val="161B26"/>
                </a:solidFill>
                <a:latin typeface="Arial"/>
              </a:rPr>
              <a:t>EcoTech failed an NEA inspection for exceeding its copper discharge limit, three hazardous waste containers are unlabelled, the spill bund is cracked, and the EHS Manager post has been vacant for three months. Assess the risks, write the CARs, and draft the report.</a:t>
            </a:r>
          </a:p>
        </p:txBody>
      </p:sp>
      <p:sp>
        <p:nvSpPr>
          <p:cNvPr id="10" name="Rectangle 9"/>
          <p:cNvSpPr/>
          <p:nvPr/>
        </p:nvSpPr>
        <p:spPr>
          <a:xfrm>
            <a:off x="658368"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99946"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9946"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1</a:t>
            </a:r>
          </a:p>
        </p:txBody>
      </p:sp>
      <p:sp>
        <p:nvSpPr>
          <p:cNvPr id="14" name="TextBox 13"/>
          <p:cNvSpPr txBox="1"/>
          <p:nvPr/>
        </p:nvSpPr>
        <p:spPr>
          <a:xfrm>
            <a:off x="749808"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Build the aspect/impact register for the five problem areas</a:t>
            </a:r>
          </a:p>
        </p:txBody>
      </p:sp>
      <p:sp>
        <p:nvSpPr>
          <p:cNvPr id="15" name="Chevron 14"/>
          <p:cNvSpPr/>
          <p:nvPr/>
        </p:nvSpPr>
        <p:spPr>
          <a:xfrm>
            <a:off x="2644444"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3044"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73044"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4622"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4622"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2</a:t>
            </a:r>
          </a:p>
        </p:txBody>
      </p:sp>
      <p:sp>
        <p:nvSpPr>
          <p:cNvPr id="20" name="TextBox 19"/>
          <p:cNvSpPr txBox="1"/>
          <p:nvPr/>
        </p:nvSpPr>
        <p:spPr>
          <a:xfrm>
            <a:off x="2964484"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Score each risk on the 5×5 matrix and set the significance threshold</a:t>
            </a:r>
          </a:p>
        </p:txBody>
      </p:sp>
      <p:sp>
        <p:nvSpPr>
          <p:cNvPr id="21" name="Chevron 20"/>
          <p:cNvSpPr/>
          <p:nvPr/>
        </p:nvSpPr>
        <p:spPr>
          <a:xfrm>
            <a:off x="4859120"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7720"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7720"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29298"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9298"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3</a:t>
            </a:r>
          </a:p>
        </p:txBody>
      </p:sp>
      <p:sp>
        <p:nvSpPr>
          <p:cNvPr id="26" name="TextBox 25"/>
          <p:cNvSpPr txBox="1"/>
          <p:nvPr/>
        </p:nvSpPr>
        <p:spPr>
          <a:xfrm>
            <a:off x="5179160"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Run 5 Whys on the copper exceedance to reach the true root cause</a:t>
            </a:r>
          </a:p>
        </p:txBody>
      </p:sp>
      <p:sp>
        <p:nvSpPr>
          <p:cNvPr id="27" name="Chevron 26"/>
          <p:cNvSpPr/>
          <p:nvPr/>
        </p:nvSpPr>
        <p:spPr>
          <a:xfrm>
            <a:off x="7073796"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02396"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2396"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3974"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3974"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3836"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Write 3 CARs — requirement + evidence + nonconformity, graded</a:t>
            </a:r>
          </a:p>
        </p:txBody>
      </p:sp>
      <p:sp>
        <p:nvSpPr>
          <p:cNvPr id="33" name="Chevron 32"/>
          <p:cNvSpPr/>
          <p:nvPr/>
        </p:nvSpPr>
        <p:spPr>
          <a:xfrm>
            <a:off x="9288472" y="3666744"/>
            <a:ext cx="219456" cy="292608"/>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17072" y="2889504"/>
            <a:ext cx="1976932" cy="18470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17072" y="2889504"/>
            <a:ext cx="1976932"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58650" y="309067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58650" y="3090672"/>
            <a:ext cx="493776" cy="493776"/>
          </a:xfrm>
          <a:prstGeom prst="rect">
            <a:avLst/>
          </a:prstGeom>
          <a:noFill/>
        </p:spPr>
        <p:txBody>
          <a:bodyPr wrap="square" anchor="ctr" lIns="0" rIns="0">
            <a:spAutoFit/>
          </a:bodyPr>
          <a:lstStyle/>
          <a:p>
            <a:pPr algn="ctr">
              <a:spcAft>
                <a:spcPts val="400"/>
              </a:spcAft>
            </a:pPr>
            <a:r>
              <a:rPr sz="1900" b="1">
                <a:solidFill>
                  <a:srgbClr val="FFFFFF"/>
                </a:solidFill>
                <a:latin typeface="Arial"/>
              </a:rPr>
              <a:t>5</a:t>
            </a:r>
          </a:p>
        </p:txBody>
      </p:sp>
      <p:sp>
        <p:nvSpPr>
          <p:cNvPr id="38" name="TextBox 37"/>
          <p:cNvSpPr txBox="1"/>
          <p:nvPr/>
        </p:nvSpPr>
        <p:spPr>
          <a:xfrm>
            <a:off x="9608512" y="3712464"/>
            <a:ext cx="1794052" cy="950976"/>
          </a:xfrm>
          <a:prstGeom prst="rect">
            <a:avLst/>
          </a:prstGeom>
          <a:noFill/>
        </p:spPr>
        <p:txBody>
          <a:bodyPr wrap="square" anchor="t" lIns="0" rIns="0">
            <a:spAutoFit/>
          </a:bodyPr>
          <a:lstStyle/>
          <a:p>
            <a:pPr algn="ctr">
              <a:spcAft>
                <a:spcPts val="400"/>
              </a:spcAft>
            </a:pPr>
            <a:r>
              <a:rPr sz="1050" b="0">
                <a:solidFill>
                  <a:srgbClr val="161B26"/>
                </a:solidFill>
                <a:latin typeface="Arial"/>
              </a:rPr>
              <a:t>Draft the audit report sections and the conclusion on effectiveness</a:t>
            </a:r>
          </a:p>
        </p:txBody>
      </p:sp>
      <p:sp>
        <p:nvSpPr>
          <p:cNvPr id="39" name="Rectangle 38"/>
          <p:cNvSpPr/>
          <p:nvPr/>
        </p:nvSpPr>
        <p:spPr>
          <a:xfrm>
            <a:off x="658368" y="4937760"/>
            <a:ext cx="10835640" cy="78638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37760"/>
            <a:ext cx="10332720" cy="786384"/>
          </a:xfrm>
          <a:prstGeom prst="rect">
            <a:avLst/>
          </a:prstGeom>
          <a:noFill/>
        </p:spPr>
        <p:txBody>
          <a:bodyPr wrap="square" anchor="ctr" lIns="0" rIns="0">
            <a:spAutoFit/>
          </a:bodyPr>
          <a:lstStyle/>
          <a:p>
            <a:pPr algn="l">
              <a:spcAft>
                <a:spcPts val="400"/>
              </a:spcAft>
            </a:pPr>
            <a:r>
              <a:rPr sz="1150" b="1">
                <a:solidFill>
                  <a:srgbClr val="16845B"/>
                </a:solidFill>
                <a:latin typeface="Arial"/>
              </a:rPr>
              <a:t>YOU'LL PRODUCE   </a:t>
            </a:r>
            <a:r>
              <a:rPr sz="1200" b="0">
                <a:solidFill>
                  <a:srgbClr val="161B26"/>
                </a:solidFill>
                <a:latin typeface="Arial"/>
              </a:rPr>
              <a:t>A prioritised environmental risk assessment, three fully-written Corrective Action Requests with root cause analysis, and the skeleton of the audit report to EcoTech's management.</a:t>
            </a:r>
          </a:p>
        </p:txBody>
      </p:sp>
      <p:sp>
        <p:nvSpPr>
          <p:cNvPr id="41" name="TextBox 40"/>
          <p:cNvSpPr txBox="1"/>
          <p:nvPr/>
        </p:nvSpPr>
        <p:spPr>
          <a:xfrm>
            <a:off x="658368" y="5833872"/>
            <a:ext cx="10835640" cy="457200"/>
          </a:xfrm>
          <a:prstGeom prst="rect">
            <a:avLst/>
          </a:prstGeom>
          <a:noFill/>
        </p:spPr>
        <p:txBody>
          <a:bodyPr wrap="square" anchor="t" lIns="0" rIns="0">
            <a:spAutoFit/>
          </a:bodyPr>
          <a:lstStyle/>
          <a:p>
            <a:pPr algn="l">
              <a:spcAft>
                <a:spcPts val="400"/>
              </a:spcAft>
            </a:pPr>
            <a:r>
              <a:rPr sz="1100" b="1">
                <a:solidFill>
                  <a:srgbClr val="5B6372"/>
                </a:solidFill>
                <a:latin typeface="Arial"/>
              </a:rPr>
              <a:t>Materials:  </a:t>
            </a:r>
            <a:r>
              <a:rPr sz="1100" b="0">
                <a:solidFill>
                  <a:srgbClr val="5B6372"/>
                </a:solidFill>
                <a:latin typeface="Arial"/>
              </a:rPr>
              <a:t>Activity 3 brief · 5×5 risk matrix · CAR form · Audit report template</a:t>
            </a:r>
            <a:r>
              <a:rPr sz="1100" b="0">
                <a:solidFill>
                  <a:srgbClr val="5B6372"/>
                </a:solidFill>
                <a:latin typeface="Arial"/>
              </a:rPr>
              <a:t>     ·     Full step-by-step guide: Learner Guide, Activity 3</a:t>
            </a:r>
          </a:p>
        </p:txBody>
      </p:sp>
      <p:sp>
        <p:nvSpPr>
          <p:cNvPr id="42" name="TextBox 41"/>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43" name="TextBox 42"/>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44" name="TextBox 43"/>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TOPIC 03 · SELF-CHECK</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Activity 3 — Check Your Work</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10835640" cy="15727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10332720" cy="310896"/>
          </a:xfrm>
          <a:prstGeom prst="rect">
            <a:avLst/>
          </a:prstGeom>
          <a:noFill/>
        </p:spPr>
        <p:txBody>
          <a:bodyPr wrap="square" anchor="t" lIns="0" rIns="0">
            <a:spAutoFit/>
          </a:bodyPr>
          <a:lstStyle/>
          <a:p>
            <a:pPr algn="l">
              <a:spcAft>
                <a:spcPts val="400"/>
              </a:spcAft>
            </a:pPr>
            <a:r>
              <a:rPr sz="1200" b="1">
                <a:solidFill>
                  <a:srgbClr val="16845B"/>
                </a:solidFill>
                <a:latin typeface="Arial"/>
              </a:rPr>
              <a:t>YOU ARE DONE WHEN</a:t>
            </a:r>
          </a:p>
        </p:txBody>
      </p:sp>
      <p:sp>
        <p:nvSpPr>
          <p:cNvPr id="9" name="TextBox 8"/>
          <p:cNvSpPr txBox="1"/>
          <p:nvPr/>
        </p:nvSpPr>
        <p:spPr>
          <a:xfrm>
            <a:off x="914400" y="2194560"/>
            <a:ext cx="10332720" cy="1005840"/>
          </a:xfrm>
          <a:prstGeom prst="rect">
            <a:avLst/>
          </a:prstGeom>
          <a:noFill/>
        </p:spPr>
        <p:txBody>
          <a:bodyPr wrap="square" anchor="t" lIns="0" rIns="0">
            <a:spAutoFit/>
          </a:bodyPr>
          <a:lstStyle/>
          <a:p>
            <a:pPr algn="l">
              <a:spcAft>
                <a:spcPts val="400"/>
              </a:spcAft>
            </a:pPr>
            <a:r>
              <a:rPr sz="1300" b="0">
                <a:solidFill>
                  <a:srgbClr val="161B26"/>
                </a:solidFill>
                <a:latin typeface="Arial"/>
              </a:rPr>
              <a:t>Your register separates aspect from impact correctly on every line, covers normal / abnormal / emergency conditions, applies the override rule so the copper exceedance is significant, your 5 Whys reaches a process cause (not a person), and each of your three CARs contains requirement + evidence + nonconformity with a stated grade.</a:t>
            </a:r>
          </a:p>
        </p:txBody>
      </p:sp>
      <p:sp>
        <p:nvSpPr>
          <p:cNvPr id="10" name="Rectangle 9"/>
          <p:cNvSpPr/>
          <p:nvPr/>
        </p:nvSpPr>
        <p:spPr>
          <a:xfrm>
            <a:off x="658368" y="3456432"/>
            <a:ext cx="10835640" cy="2724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84448"/>
            <a:ext cx="10332720" cy="310896"/>
          </a:xfrm>
          <a:prstGeom prst="rect">
            <a:avLst/>
          </a:prstGeom>
          <a:noFill/>
        </p:spPr>
        <p:txBody>
          <a:bodyPr wrap="square" anchor="t" lIns="0" rIns="0">
            <a:spAutoFit/>
          </a:bodyPr>
          <a:lstStyle/>
          <a:p>
            <a:pPr algn="l">
              <a:spcAft>
                <a:spcPts val="400"/>
              </a:spcAft>
            </a:pPr>
            <a:r>
              <a:rPr sz="1200" b="1">
                <a:solidFill>
                  <a:srgbClr val="F59E0B"/>
                </a:solidFill>
                <a:latin typeface="Arial"/>
              </a:rPr>
              <a:t>IF YOU ARE STUCK — WHAT USUALLY GOES WRONG</a:t>
            </a:r>
          </a:p>
        </p:txBody>
      </p:sp>
      <p:sp>
        <p:nvSpPr>
          <p:cNvPr id="12" name="TextBox 11"/>
          <p:cNvSpPr txBox="1"/>
          <p:nvPr/>
        </p:nvSpPr>
        <p:spPr>
          <a:xfrm>
            <a:off x="914400" y="3950208"/>
            <a:ext cx="10332720" cy="2139696"/>
          </a:xfrm>
          <a:prstGeom prst="rect">
            <a:avLst/>
          </a:prstGeom>
          <a:noFill/>
        </p:spPr>
        <p:txBody>
          <a:bodyPr wrap="square" lIns="0" rIns="0">
            <a:spAutoFit/>
          </a:bodyPr>
          <a:lstStyle/>
          <a:p>
            <a:pPr>
              <a:spcAft>
                <a:spcPts val="800"/>
              </a:spcAft>
            </a:pPr>
            <a:r>
              <a:rPr sz="1200" b="0">
                <a:solidFill>
                  <a:srgbClr val="161B26"/>
                </a:solidFill>
                <a:latin typeface="Arial"/>
              </a:rPr>
              <a:t>•  You wrote 'copper' or 'pollution' in the aspect column. The aspect is the INTERACTION ('discharge of trade effluent containing copper').</a:t>
            </a:r>
          </a:p>
          <a:p>
            <a:pPr>
              <a:spcAft>
                <a:spcPts val="800"/>
              </a:spcAft>
            </a:pPr>
            <a:r>
              <a:rPr sz="1200" b="0">
                <a:solidFill>
                  <a:srgbClr val="161B26"/>
                </a:solidFill>
                <a:latin typeface="Arial"/>
              </a:rPr>
              <a:t>•  You scored the copper exceedance as medium and left it off the significant list. A breached legal limit is significant regardless of the arithmetic.</a:t>
            </a:r>
          </a:p>
          <a:p>
            <a:pPr>
              <a:spcAft>
                <a:spcPts val="800"/>
              </a:spcAft>
            </a:pPr>
            <a:r>
              <a:rPr sz="1200" b="0">
                <a:solidFill>
                  <a:srgbClr val="161B26"/>
                </a:solidFill>
                <a:latin typeface="Arial"/>
              </a:rPr>
              <a:t>•  Your 5 Whys stopped at 'the operator did not check'. Push to the missing process step — that is what corrective action can fix.</a:t>
            </a:r>
          </a:p>
          <a:p>
            <a:pPr>
              <a:spcAft>
                <a:spcPts val="800"/>
              </a:spcAft>
            </a:pPr>
            <a:r>
              <a:rPr sz="1200" b="0">
                <a:solidFill>
                  <a:srgbClr val="161B26"/>
                </a:solidFill>
                <a:latin typeface="Arial"/>
              </a:rPr>
              <a:t>•  Your CAR lists only corrections (re-label, repair). Clause 10.2 also requires action to eliminate the CAUSE.</a:t>
            </a:r>
          </a:p>
          <a:p>
            <a:pPr>
              <a:spcAft>
                <a:spcPts val="800"/>
              </a:spcAft>
            </a:pPr>
            <a:r>
              <a:rPr sz="1200" b="0">
                <a:solidFill>
                  <a:srgbClr val="161B26"/>
                </a:solidFill>
                <a:latin typeface="Arial"/>
              </a:rPr>
              <a:t>•  You graded everything Major. Grade against your defined criteria and justify each one; over-grading destroys credibility as fast as under-grading.</a:t>
            </a:r>
          </a:p>
          <a:p>
            <a:pPr>
              <a:spcAft>
                <a:spcPts val="800"/>
              </a:spcAft>
            </a:pPr>
            <a:r>
              <a:rPr sz="1200" b="0">
                <a:solidFill>
                  <a:srgbClr val="161B26"/>
                </a:solidFill>
                <a:latin typeface="Arial"/>
              </a:rPr>
              <a:t>•  You omitted the sampling statement from the report. It is the most commonly missed element and it protects you.</a:t>
            </a:r>
          </a:p>
        </p:txBody>
      </p:sp>
      <p:sp>
        <p:nvSpPr>
          <p:cNvPr id="13" name="TextBox 12"/>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4" name="TextBox 13"/>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5" name="TextBox 14"/>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37360"/>
            <a:ext cx="128016" cy="3291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9875520" cy="411480"/>
          </a:xfrm>
          <a:prstGeom prst="rect">
            <a:avLst/>
          </a:prstGeom>
          <a:noFill/>
        </p:spPr>
        <p:txBody>
          <a:bodyPr wrap="square" anchor="t" lIns="0" rIns="0">
            <a:spAutoFit/>
          </a:bodyPr>
          <a:lstStyle/>
          <a:p>
            <a:pPr algn="l">
              <a:spcAft>
                <a:spcPts val="400"/>
              </a:spcAft>
            </a:pPr>
            <a:r>
              <a:rPr sz="1500" b="1">
                <a:solidFill>
                  <a:srgbClr val="1F6FEB"/>
                </a:solidFill>
                <a:latin typeface="Arial"/>
              </a:rPr>
              <a:t>WRAP-UP</a:t>
            </a:r>
          </a:p>
        </p:txBody>
      </p:sp>
      <p:sp>
        <p:nvSpPr>
          <p:cNvPr id="7" name="TextBox 6"/>
          <p:cNvSpPr txBox="1"/>
          <p:nvPr/>
        </p:nvSpPr>
        <p:spPr>
          <a:xfrm>
            <a:off x="1280160" y="2560320"/>
            <a:ext cx="9966960" cy="1051560"/>
          </a:xfrm>
          <a:prstGeom prst="rect">
            <a:avLst/>
          </a:prstGeom>
          <a:noFill/>
        </p:spPr>
        <p:txBody>
          <a:bodyPr wrap="square" anchor="t" lIns="0" rIns="0">
            <a:spAutoFit/>
          </a:bodyPr>
          <a:lstStyle/>
          <a:p>
            <a:pPr algn="l">
              <a:spcAft>
                <a:spcPts val="400"/>
              </a:spcAft>
            </a:pPr>
            <a:r>
              <a:rPr sz="3400" b="1">
                <a:solidFill>
                  <a:srgbClr val="161B26"/>
                </a:solidFill>
                <a:latin typeface="Arial"/>
              </a:rPr>
              <a:t>Course Summary &amp; Next Steps</a:t>
            </a:r>
          </a:p>
        </p:txBody>
      </p:sp>
      <p:sp>
        <p:nvSpPr>
          <p:cNvPr id="8" name="TextBox 7"/>
          <p:cNvSpPr txBox="1"/>
          <p:nvPr/>
        </p:nvSpPr>
        <p:spPr>
          <a:xfrm>
            <a:off x="9052560" y="5138928"/>
            <a:ext cx="2377440" cy="1188720"/>
          </a:xfrm>
          <a:prstGeom prst="rect">
            <a:avLst/>
          </a:prstGeom>
          <a:noFill/>
        </p:spPr>
        <p:txBody>
          <a:bodyPr wrap="square" anchor="t" lIns="0" rIns="0">
            <a:spAutoFit/>
          </a:bodyPr>
          <a:lstStyle/>
          <a:p>
            <a:pPr algn="r">
              <a:spcAft>
                <a:spcPts val="400"/>
              </a:spcAft>
            </a:pPr>
            <a:r>
              <a:rPr sz="6000" b="1">
                <a:solidFill>
                  <a:srgbClr val="D7E0EA"/>
                </a:solidFill>
                <a:latin typeface="Arial"/>
              </a:rPr>
              <a:t/>
            </a:r>
          </a:p>
        </p:txBody>
      </p:sp>
      <p:sp>
        <p:nvSpPr>
          <p:cNvPr id="9" name="TextBox 8"/>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10" name="TextBox 9"/>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11" name="TextBox 10"/>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98</a:t>
            </a:r>
          </a:p>
        </p:txBody>
      </p:sp>
    </p:spTree>
  </p:cSld>
  <p:clrMapOvr>
    <a:masterClrMapping/>
  </p:clrMapOvr>
  <p:transition spd="med" advClick="1">
    <p:push dir="l"/>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LEARNING OUTCOMES DELIVERED</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What You Achieved</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The framework (LO1)</a:t>
            </a:r>
          </a:p>
          <a:p>
            <a:pPr algn="l">
              <a:spcAft>
                <a:spcPts val="300"/>
              </a:spcAft>
            </a:pPr>
            <a:r>
              <a:rPr sz="1100" b="0">
                <a:solidFill>
                  <a:srgbClr val="5B6372"/>
                </a:solidFill>
                <a:latin typeface="Arial"/>
              </a:rPr>
              <a:t>The IPPF, the Code of Ethics, ISO 14001:2015 clause by clause, and how context, aspects and obligations drive the EMS.</a:t>
            </a:r>
          </a:p>
        </p:txBody>
      </p:sp>
      <p:sp>
        <p:nvSpPr>
          <p:cNvPr id="12" name="Rectangle 11"/>
          <p:cNvSpPr/>
          <p:nvPr/>
        </p:nvSpPr>
        <p:spPr>
          <a:xfrm>
            <a:off x="658368" y="2878074"/>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878074"/>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119247"/>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2987802"/>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The audit process (LO2)</a:t>
            </a:r>
          </a:p>
          <a:p>
            <a:pPr algn="l">
              <a:spcAft>
                <a:spcPts val="300"/>
              </a:spcAft>
            </a:pPr>
            <a:r>
              <a:rPr sz="1100" b="0">
                <a:solidFill>
                  <a:srgbClr val="5B6372"/>
                </a:solidFill>
                <a:latin typeface="Arial"/>
              </a:rPr>
              <a:t>ISO 19011's seven principles, the programme/audit distinction, the six-stage lifecycle, checklists, evidence and interviewing.</a:t>
            </a:r>
          </a:p>
        </p:txBody>
      </p:sp>
      <p:sp>
        <p:nvSpPr>
          <p:cNvPr id="17" name="Rectangle 16"/>
          <p:cNvSpPr/>
          <p:nvPr/>
        </p:nvSpPr>
        <p:spPr>
          <a:xfrm>
            <a:off x="658368" y="4037076"/>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278249"/>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Risk and reporting (LO3)</a:t>
            </a:r>
          </a:p>
          <a:p>
            <a:pPr algn="l">
              <a:spcAft>
                <a:spcPts val="300"/>
              </a:spcAft>
            </a:pPr>
            <a:r>
              <a:rPr sz="1100" b="0">
                <a:solidFill>
                  <a:srgbClr val="5B6372"/>
                </a:solidFill>
                <a:latin typeface="Arial"/>
              </a:rPr>
              <a:t>Significance evaluation, risk matrices and FMEA, root cause analysis, corrective action requests and the audit report.</a:t>
            </a:r>
          </a:p>
        </p:txBody>
      </p:sp>
      <p:sp>
        <p:nvSpPr>
          <p:cNvPr id="22" name="Rectangle 21"/>
          <p:cNvSpPr/>
          <p:nvPr/>
        </p:nvSpPr>
        <p:spPr>
          <a:xfrm>
            <a:off x="658368" y="5196078"/>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196078"/>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5437251"/>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36192" y="5305806"/>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Three real engagements</a:t>
            </a:r>
          </a:p>
          <a:p>
            <a:pPr algn="l">
              <a:spcAft>
                <a:spcPts val="300"/>
              </a:spcAft>
            </a:pPr>
            <a:r>
              <a:rPr sz="1100" b="0">
                <a:solidFill>
                  <a:srgbClr val="5B6372"/>
                </a:solidFill>
                <a:latin typeface="Arial"/>
              </a:rPr>
              <a:t>GreenPack scoping, AquaPure planning, EcoTech risk and CARs — the same shape as the assessment.</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WHAT TO DO ON MONDAY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Your First Real Internal Audit — a Checklist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Confirm your independence</a:t>
            </a:r>
          </a:p>
          <a:p>
            <a:pPr algn="l">
              <a:spcAft>
                <a:spcPts val="300"/>
              </a:spcAft>
            </a:pPr>
            <a:r>
              <a:rPr sz="1100" b="0">
                <a:solidFill>
                  <a:srgbClr val="5B6372"/>
                </a:solidFill>
                <a:latin typeface="Arial"/>
              </a:rPr>
              <a:t>You cannot audit your own area. Declare any prior involvement.</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Read before you walk</a:t>
            </a:r>
          </a:p>
          <a:p>
            <a:pPr algn="l">
              <a:spcAft>
                <a:spcPts val="300"/>
              </a:spcAft>
            </a:pPr>
            <a:r>
              <a:rPr sz="1100" b="0">
                <a:solidFill>
                  <a:srgbClr val="5B6372"/>
                </a:solidFill>
                <a:latin typeface="Arial"/>
              </a:rPr>
              <a:t>The aspects register, the legal register, previous reports and open corrective actions.</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Build the checklist from THEIR risks</a:t>
            </a:r>
          </a:p>
          <a:p>
            <a:pPr algn="l">
              <a:spcAft>
                <a:spcPts val="300"/>
              </a:spcAft>
            </a:pPr>
            <a:r>
              <a:rPr sz="1100" b="0">
                <a:solidFill>
                  <a:srgbClr val="5B6372"/>
                </a:solidFill>
                <a:latin typeface="Arial"/>
              </a:rPr>
              <a:t>Not from the standard's contents page.</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Verify everything you are told</a:t>
            </a:r>
          </a:p>
          <a:p>
            <a:pPr algn="l">
              <a:spcAft>
                <a:spcPts val="300"/>
              </a:spcAft>
            </a:pPr>
            <a:r>
              <a:rPr sz="1100" b="0">
                <a:solidFill>
                  <a:srgbClr val="5B6372"/>
                </a:solidFill>
                <a:latin typeface="Arial"/>
              </a:rPr>
              <a:t>Interview, then observe, then check the record.</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Write findings that are re-findable</a:t>
            </a:r>
          </a:p>
          <a:p>
            <a:pPr algn="l">
              <a:spcAft>
                <a:spcPts val="300"/>
              </a:spcAft>
            </a:pPr>
            <a:r>
              <a:rPr sz="1100" b="0">
                <a:solidFill>
                  <a:srgbClr val="5B6372"/>
                </a:solidFill>
                <a:latin typeface="Arial"/>
              </a:rPr>
              <a:t>Requirement + evidence + gap, with P, L, O, D.</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400" b="1">
                <a:solidFill>
                  <a:srgbClr val="161B26"/>
                </a:solidFill>
                <a:latin typeface="Arial"/>
              </a:rPr>
              <a:t>Follow up — always</a:t>
            </a:r>
          </a:p>
          <a:p>
            <a:pPr algn="l">
              <a:spcAft>
                <a:spcPts val="300"/>
              </a:spcAft>
            </a:pPr>
            <a:r>
              <a:rPr sz="1100" b="0">
                <a:solidFill>
                  <a:srgbClr val="5B6372"/>
                </a:solidFill>
                <a:latin typeface="Arial"/>
              </a:rPr>
              <a:t>10.2(d) requires you to review whether the action was effective.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CONTINUE THE JOURNEY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Recommended Follow-On Courses</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95783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0245"/>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960245"/>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ISO 9001:2015 Internal Auditor Training</a:t>
            </a:r>
          </a:p>
          <a:p>
            <a:pPr algn="l">
              <a:spcAft>
                <a:spcPts val="300"/>
              </a:spcAft>
            </a:pPr>
            <a:r>
              <a:rPr sz="1100" b="0">
                <a:solidFill>
                  <a:srgbClr val="5B6372"/>
                </a:solidFill>
                <a:latin typeface="Arial"/>
              </a:rPr>
              <a:t>WSQ funded · Tertiary Infotech Academy</a:t>
            </a:r>
          </a:p>
        </p:txBody>
      </p:sp>
      <p:sp>
        <p:nvSpPr>
          <p:cNvPr id="12" name="Rectangle 11"/>
          <p:cNvSpPr/>
          <p:nvPr/>
        </p:nvSpPr>
        <p:spPr>
          <a:xfrm>
            <a:off x="658368" y="2878074"/>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878074"/>
            <a:ext cx="82296" cy="95783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6112" y="3119247"/>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119247"/>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1536192" y="2987802"/>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ISO 45001:2018 Internal Auditor Training</a:t>
            </a:r>
          </a:p>
          <a:p>
            <a:pPr algn="l">
              <a:spcAft>
                <a:spcPts val="300"/>
              </a:spcAft>
            </a:pPr>
            <a:r>
              <a:rPr sz="1100" b="0">
                <a:solidFill>
                  <a:srgbClr val="5B6372"/>
                </a:solidFill>
                <a:latin typeface="Arial"/>
              </a:rPr>
              <a:t>WSQ funded · Tertiary Infotech Academy</a:t>
            </a:r>
          </a:p>
        </p:txBody>
      </p:sp>
      <p:sp>
        <p:nvSpPr>
          <p:cNvPr id="17" name="Rectangle 16"/>
          <p:cNvSpPr/>
          <p:nvPr/>
        </p:nvSpPr>
        <p:spPr>
          <a:xfrm>
            <a:off x="658368" y="4037076"/>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037076"/>
            <a:ext cx="82296" cy="95783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4278249"/>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278249"/>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4146804"/>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Sustainability Reporting and ESG Essentials</a:t>
            </a:r>
          </a:p>
          <a:p>
            <a:pPr algn="l">
              <a:spcAft>
                <a:spcPts val="300"/>
              </a:spcAft>
            </a:pPr>
            <a:r>
              <a:rPr sz="1100" b="0">
                <a:solidFill>
                  <a:srgbClr val="5B6372"/>
                </a:solidFill>
                <a:latin typeface="Arial"/>
              </a:rPr>
              <a:t>WSQ funded · Tertiary Infotech Academy</a:t>
            </a:r>
          </a:p>
        </p:txBody>
      </p:sp>
      <p:sp>
        <p:nvSpPr>
          <p:cNvPr id="22" name="Rectangle 21"/>
          <p:cNvSpPr/>
          <p:nvPr/>
        </p:nvSpPr>
        <p:spPr>
          <a:xfrm>
            <a:off x="658368" y="5196078"/>
            <a:ext cx="10835640" cy="95783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196078"/>
            <a:ext cx="82296" cy="95783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96112" y="5437251"/>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437251"/>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1536192" y="5305806"/>
            <a:ext cx="9738360" cy="793242"/>
          </a:xfrm>
          <a:prstGeom prst="rect">
            <a:avLst/>
          </a:prstGeom>
          <a:noFill/>
        </p:spPr>
        <p:txBody>
          <a:bodyPr wrap="square" anchor="ctr" lIns="0" rIns="0">
            <a:spAutoFit/>
          </a:bodyPr>
          <a:lstStyle/>
          <a:p>
            <a:pPr algn="l">
              <a:spcAft>
                <a:spcPts val="300"/>
              </a:spcAft>
            </a:pPr>
            <a:r>
              <a:rPr sz="1400" b="1">
                <a:solidFill>
                  <a:srgbClr val="161B26"/>
                </a:solidFill>
                <a:latin typeface="Arial"/>
              </a:rPr>
              <a:t>Carbon Footprint Accounting and Management</a:t>
            </a:r>
          </a:p>
          <a:p>
            <a:pPr algn="l">
              <a:spcAft>
                <a:spcPts val="300"/>
              </a:spcAft>
            </a:pPr>
            <a:r>
              <a:rPr sz="1100" b="0">
                <a:solidFill>
                  <a:srgbClr val="5B6372"/>
                </a:solidFill>
                <a:latin typeface="Arial"/>
              </a:rPr>
              <a:t>WSQ funded · Tertiary Infotech Academy</a:t>
            </a:r>
          </a:p>
        </p:txBody>
      </p:sp>
      <p:sp>
        <p:nvSpPr>
          <p:cNvPr id="27" name="TextBox 2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8" name="TextBox 2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29" name="TextBox 2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0B981"/>
                </a:solidFill>
                <a:latin typeface="Arial"/>
              </a:rPr>
              <a:t>AFTER THE COURSE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Support — We're Here to Help</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82296" cy="2331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Email</a:t>
            </a:r>
          </a:p>
        </p:txBody>
      </p:sp>
      <p:sp>
        <p:nvSpPr>
          <p:cNvPr id="12" name="TextBox 11"/>
          <p:cNvSpPr txBox="1"/>
          <p:nvPr/>
        </p:nvSpPr>
        <p:spPr>
          <a:xfrm>
            <a:off x="914400"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enquiry@tertiaryinfotech.com
For course, certificate and funding enquiries during and after the class.</a:t>
            </a:r>
          </a:p>
        </p:txBody>
      </p:sp>
      <p:sp>
        <p:nvSpPr>
          <p:cNvPr id="13" name="Rectangle 12"/>
          <p:cNvSpPr/>
          <p:nvPr/>
        </p:nvSpPr>
        <p:spPr>
          <a:xfrm>
            <a:off x="4306824"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783080"/>
            <a:ext cx="82296" cy="2331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2</a:t>
            </a:r>
          </a:p>
        </p:txBody>
      </p:sp>
      <p:sp>
        <p:nvSpPr>
          <p:cNvPr id="17" name="TextBox 16"/>
          <p:cNvSpPr txBox="1"/>
          <p:nvPr/>
        </p:nvSpPr>
        <p:spPr>
          <a:xfrm>
            <a:off x="5056632"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Telephone</a:t>
            </a:r>
          </a:p>
        </p:txBody>
      </p:sp>
      <p:sp>
        <p:nvSpPr>
          <p:cNvPr id="18" name="TextBox 17"/>
          <p:cNvSpPr txBox="1"/>
          <p:nvPr/>
        </p:nvSpPr>
        <p:spPr>
          <a:xfrm>
            <a:off x="4562856"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+65 6100 0613
Office hours, Monday to Friday.</a:t>
            </a:r>
          </a:p>
        </p:txBody>
      </p:sp>
      <p:sp>
        <p:nvSpPr>
          <p:cNvPr id="19" name="Rectangle 18"/>
          <p:cNvSpPr/>
          <p:nvPr/>
        </p:nvSpPr>
        <p:spPr>
          <a:xfrm>
            <a:off x="7955279" y="1783080"/>
            <a:ext cx="3392424" cy="2331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783080"/>
            <a:ext cx="82296" cy="2331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74735"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5" y="1965960"/>
            <a:ext cx="420624" cy="420624"/>
          </a:xfrm>
          <a:prstGeom prst="rect">
            <a:avLst/>
          </a:prstGeom>
          <a:noFill/>
        </p:spPr>
        <p:txBody>
          <a:bodyPr wrap="square" anchor="ctr" lIns="0" rIns="0">
            <a:spAutoFit/>
          </a:bodyPr>
          <a:lstStyle/>
          <a:p>
            <a:pPr algn="ctr">
              <a:spcAft>
                <a:spcPts val="400"/>
              </a:spcAft>
            </a:pPr>
            <a:r>
              <a:rPr sz="1500" b="1">
                <a:solidFill>
                  <a:srgbClr val="FFFFFF"/>
                </a:solidFill>
                <a:latin typeface="Arial"/>
              </a:rPr>
              <a:t>3</a:t>
            </a:r>
          </a:p>
        </p:txBody>
      </p:sp>
      <p:sp>
        <p:nvSpPr>
          <p:cNvPr id="23" name="TextBox 22"/>
          <p:cNvSpPr txBox="1"/>
          <p:nvPr/>
        </p:nvSpPr>
        <p:spPr>
          <a:xfrm>
            <a:off x="8705087" y="1911096"/>
            <a:ext cx="2478024" cy="512064"/>
          </a:xfrm>
          <a:prstGeom prst="rect">
            <a:avLst/>
          </a:prstGeom>
          <a:noFill/>
        </p:spPr>
        <p:txBody>
          <a:bodyPr wrap="square" anchor="ctr" lIns="0" rIns="0">
            <a:spAutoFit/>
          </a:bodyPr>
          <a:lstStyle/>
          <a:p>
            <a:pPr algn="l">
              <a:spcAft>
                <a:spcPts val="400"/>
              </a:spcAft>
            </a:pPr>
            <a:r>
              <a:rPr sz="1400" b="1">
                <a:solidFill>
                  <a:srgbClr val="161B26"/>
                </a:solidFill>
                <a:latin typeface="Arial"/>
              </a:rPr>
              <a:t>Website</a:t>
            </a:r>
          </a:p>
        </p:txBody>
      </p:sp>
      <p:sp>
        <p:nvSpPr>
          <p:cNvPr id="24" name="TextBox 23"/>
          <p:cNvSpPr txBox="1"/>
          <p:nvPr/>
        </p:nvSpPr>
        <p:spPr>
          <a:xfrm>
            <a:off x="8211311" y="2496312"/>
            <a:ext cx="2898648" cy="1490472"/>
          </a:xfrm>
          <a:prstGeom prst="rect">
            <a:avLst/>
          </a:prstGeom>
          <a:noFill/>
        </p:spPr>
        <p:txBody>
          <a:bodyPr wrap="square" anchor="t" lIns="0" rIns="0">
            <a:spAutoFit/>
          </a:bodyPr>
          <a:lstStyle/>
          <a:p>
            <a:pPr algn="l">
              <a:spcAft>
                <a:spcPts val="400"/>
              </a:spcAft>
            </a:pPr>
            <a:r>
              <a:rPr sz="1100" b="0">
                <a:solidFill>
                  <a:srgbClr val="161B26"/>
                </a:solidFill>
                <a:latin typeface="Arial"/>
              </a:rPr>
              <a:t>www.tertiarycourses.com.sg
Course schedules, funding information and the full WSQ catalogue.</a:t>
            </a:r>
          </a:p>
        </p:txBody>
      </p:sp>
      <p:sp>
        <p:nvSpPr>
          <p:cNvPr id="25" name="Rectangle 24"/>
          <p:cNvSpPr/>
          <p:nvPr/>
        </p:nvSpPr>
        <p:spPr>
          <a:xfrm>
            <a:off x="658368" y="4315968"/>
            <a:ext cx="10835640"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34840"/>
            <a:ext cx="10332720" cy="292608"/>
          </a:xfrm>
          <a:prstGeom prst="rect">
            <a:avLst/>
          </a:prstGeom>
          <a:noFill/>
        </p:spPr>
        <p:txBody>
          <a:bodyPr wrap="square" anchor="t" lIns="0" rIns="0">
            <a:spAutoFit/>
          </a:bodyPr>
          <a:lstStyle/>
          <a:p>
            <a:pPr algn="l">
              <a:spcAft>
                <a:spcPts val="400"/>
              </a:spcAft>
            </a:pPr>
            <a:r>
              <a:rPr sz="1200" b="1">
                <a:solidFill>
                  <a:srgbClr val="10B981"/>
                </a:solidFill>
                <a:latin typeface="Arial"/>
              </a:rPr>
              <a:t>THE POINT</a:t>
            </a:r>
          </a:p>
        </p:txBody>
      </p:sp>
      <p:sp>
        <p:nvSpPr>
          <p:cNvPr id="27" name="TextBox 26"/>
          <p:cNvSpPr txBox="1"/>
          <p:nvPr/>
        </p:nvSpPr>
        <p:spPr>
          <a:xfrm>
            <a:off x="914400" y="4754880"/>
            <a:ext cx="10332720" cy="786384"/>
          </a:xfrm>
          <a:prstGeom prst="rect">
            <a:avLst/>
          </a:prstGeom>
          <a:noFill/>
        </p:spPr>
        <p:txBody>
          <a:bodyPr wrap="square" anchor="t" lIns="0" rIns="0">
            <a:spAutoFit/>
          </a:bodyPr>
          <a:lstStyle/>
          <a:p>
            <a:pPr algn="l">
              <a:spcAft>
                <a:spcPts val="400"/>
              </a:spcAft>
            </a:pPr>
            <a:r>
              <a:rPr sz="1200" b="0">
                <a:solidFill>
                  <a:srgbClr val="161B26"/>
                </a:solidFill>
                <a:latin typeface="Arial"/>
              </a:rPr>
              <a:t>Your certificate is issued after you are assessed Competent, meet the 75% attendance requirement and complete the TRAQOM survey on the LMS.</a:t>
            </a:r>
          </a:p>
        </p:txBody>
      </p:sp>
      <p:sp>
        <p:nvSpPr>
          <p:cNvPr id="28" name="TextBox 27"/>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29" name="TextBox 28"/>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0" name="TextBox 29"/>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FINAL ASSESSMENT</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344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153412"/>
            <a:ext cx="475488" cy="47548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1</a:t>
            </a:r>
          </a:p>
        </p:txBody>
      </p:sp>
      <p:sp>
        <p:nvSpPr>
          <p:cNvPr id="11" name="TextBox 10"/>
          <p:cNvSpPr txBox="1"/>
          <p:nvPr/>
        </p:nvSpPr>
        <p:spPr>
          <a:xfrm>
            <a:off x="1536192"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Written Assessment (SAQ)</a:t>
            </a:r>
          </a:p>
          <a:p>
            <a:pPr algn="l">
              <a:spcAft>
                <a:spcPts val="300"/>
              </a:spcAft>
            </a:pPr>
            <a:r>
              <a:rPr sz="1200" b="0">
                <a:solidFill>
                  <a:srgbClr val="5B6372"/>
                </a:solidFill>
                <a:latin typeface="Arial"/>
              </a:rPr>
              <a:t>4 short-answer questions · 60 minutes · K1–K4.</a:t>
            </a:r>
          </a:p>
        </p:txBody>
      </p:sp>
      <p:sp>
        <p:nvSpPr>
          <p:cNvPr id="12" name="Rectangle 11"/>
          <p:cNvSpPr/>
          <p:nvPr/>
        </p:nvSpPr>
        <p:spPr>
          <a:xfrm>
            <a:off x="6204204" y="1719072"/>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4204" y="1719072"/>
            <a:ext cx="82296" cy="1344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1948" y="2153412"/>
            <a:ext cx="475488" cy="47548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1948" y="2153412"/>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2</a:t>
            </a:r>
          </a:p>
        </p:txBody>
      </p:sp>
      <p:sp>
        <p:nvSpPr>
          <p:cNvPr id="16" name="TextBox 15"/>
          <p:cNvSpPr txBox="1"/>
          <p:nvPr/>
        </p:nvSpPr>
        <p:spPr>
          <a:xfrm>
            <a:off x="7082028" y="1828800"/>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3 scenario-based questions · 60 minutes · A1–A3.</a:t>
            </a:r>
          </a:p>
        </p:txBody>
      </p:sp>
      <p:sp>
        <p:nvSpPr>
          <p:cNvPr id="17" name="Rectangle 16"/>
          <p:cNvSpPr/>
          <p:nvPr/>
        </p:nvSpPr>
        <p:spPr>
          <a:xfrm>
            <a:off x="658368"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64408"/>
            <a:ext cx="82296" cy="13441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6112" y="3698748"/>
            <a:ext cx="475488" cy="47548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3</a:t>
            </a:r>
          </a:p>
        </p:txBody>
      </p:sp>
      <p:sp>
        <p:nvSpPr>
          <p:cNvPr id="21" name="TextBox 20"/>
          <p:cNvSpPr txBox="1"/>
          <p:nvPr/>
        </p:nvSpPr>
        <p:spPr>
          <a:xfrm>
            <a:off x="1536192"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Slides, Learner Guide, activity briefs and your own notes.</a:t>
            </a:r>
          </a:p>
        </p:txBody>
      </p:sp>
      <p:sp>
        <p:nvSpPr>
          <p:cNvPr id="22" name="Rectangle 21"/>
          <p:cNvSpPr/>
          <p:nvPr/>
        </p:nvSpPr>
        <p:spPr>
          <a:xfrm>
            <a:off x="6204204" y="3264408"/>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4204" y="3264408"/>
            <a:ext cx="82296" cy="1344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1948" y="3698748"/>
            <a:ext cx="475488" cy="47548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698748"/>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4</a:t>
            </a:r>
          </a:p>
        </p:txBody>
      </p:sp>
      <p:sp>
        <p:nvSpPr>
          <p:cNvPr id="26" name="TextBox 25"/>
          <p:cNvSpPr txBox="1"/>
          <p:nvPr/>
        </p:nvSpPr>
        <p:spPr>
          <a:xfrm>
            <a:off x="7082028" y="3374136"/>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Attendance first</a:t>
            </a:r>
          </a:p>
          <a:p>
            <a:pPr algn="l">
              <a:spcAft>
                <a:spcPts val="300"/>
              </a:spcAft>
            </a:pPr>
            <a:r>
              <a:rPr sz="1200" b="0">
                <a:solidFill>
                  <a:srgbClr val="5B6372"/>
                </a:solidFill>
                <a:latin typeface="Arial"/>
              </a:rPr>
              <a:t>Take the Assessment digital attendance before you start.</a:t>
            </a:r>
          </a:p>
        </p:txBody>
      </p:sp>
      <p:sp>
        <p:nvSpPr>
          <p:cNvPr id="27" name="Rectangle 26"/>
          <p:cNvSpPr/>
          <p:nvPr/>
        </p:nvSpPr>
        <p:spPr>
          <a:xfrm>
            <a:off x="658368"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4809744"/>
            <a:ext cx="82296" cy="134416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6112" y="5244084"/>
            <a:ext cx="475488" cy="475488"/>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5</a:t>
            </a:r>
          </a:p>
        </p:txBody>
      </p:sp>
      <p:sp>
        <p:nvSpPr>
          <p:cNvPr id="31" name="TextBox 30"/>
          <p:cNvSpPr txBox="1"/>
          <p:nvPr/>
        </p:nvSpPr>
        <p:spPr>
          <a:xfrm>
            <a:off x="1536192"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Submit on the LMS</a:t>
            </a:r>
          </a:p>
          <a:p>
            <a:pPr algn="l">
              <a:spcAft>
                <a:spcPts val="300"/>
              </a:spcAft>
            </a:pPr>
            <a:r>
              <a:rPr sz="1200" b="0">
                <a:solidFill>
                  <a:srgbClr val="5B6372"/>
                </a:solidFill>
                <a:latin typeface="Arial"/>
              </a:rPr>
              <a:t>https://lms-tms.tertiaryinfotech.com</a:t>
            </a:r>
          </a:p>
        </p:txBody>
      </p:sp>
      <p:sp>
        <p:nvSpPr>
          <p:cNvPr id="32" name="Rectangle 31"/>
          <p:cNvSpPr/>
          <p:nvPr/>
        </p:nvSpPr>
        <p:spPr>
          <a:xfrm>
            <a:off x="6204204" y="4809744"/>
            <a:ext cx="5289804" cy="1344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4204" y="4809744"/>
            <a:ext cx="82296" cy="1344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41948" y="5244084"/>
            <a:ext cx="475488" cy="47548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1948" y="5244084"/>
            <a:ext cx="475488" cy="475488"/>
          </a:xfrm>
          <a:prstGeom prst="rect">
            <a:avLst/>
          </a:prstGeom>
          <a:noFill/>
        </p:spPr>
        <p:txBody>
          <a:bodyPr wrap="square" anchor="ctr" lIns="0" rIns="0">
            <a:spAutoFit/>
          </a:bodyPr>
          <a:lstStyle/>
          <a:p>
            <a:pPr algn="ctr">
              <a:spcAft>
                <a:spcPts val="400"/>
              </a:spcAft>
            </a:pPr>
            <a:r>
              <a:rPr sz="1600" b="1">
                <a:solidFill>
                  <a:srgbClr val="FFFFFF"/>
                </a:solidFill>
                <a:latin typeface="Arial"/>
              </a:rPr>
              <a:t>6</a:t>
            </a:r>
          </a:p>
        </p:txBody>
      </p:sp>
      <p:sp>
        <p:nvSpPr>
          <p:cNvPr id="36" name="TextBox 35"/>
          <p:cNvSpPr txBox="1"/>
          <p:nvPr/>
        </p:nvSpPr>
        <p:spPr>
          <a:xfrm>
            <a:off x="7082028" y="4919472"/>
            <a:ext cx="4192524" cy="1179576"/>
          </a:xfrm>
          <a:prstGeom prst="rect">
            <a:avLst/>
          </a:prstGeom>
          <a:noFill/>
        </p:spPr>
        <p:txBody>
          <a:bodyPr wrap="square" anchor="ctr" lIns="0" rIns="0">
            <a:spAutoFit/>
          </a:bodyPr>
          <a:lstStyle/>
          <a:p>
            <a:pPr algn="l">
              <a:spcAft>
                <a:spcPts val="300"/>
              </a:spcAft>
            </a:pPr>
            <a:r>
              <a:rPr sz="1500" b="1">
                <a:solidFill>
                  <a:srgbClr val="161B26"/>
                </a:solidFill>
                <a:latin typeface="Arial"/>
              </a:rPr>
              <a:t>Sign the record</a:t>
            </a:r>
          </a:p>
          <a:p>
            <a:pPr algn="l">
              <a:spcAft>
                <a:spcPts val="300"/>
              </a:spcAft>
            </a:pPr>
            <a:r>
              <a:rPr sz="1200" b="0">
                <a:solidFill>
                  <a:srgbClr val="5B6372"/>
                </a:solidFill>
                <a:latin typeface="Arial"/>
              </a:rPr>
              <a:t>Sign the Assessment Summary Record before you leave.</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1F6FEB"/>
                </a:solidFill>
                <a:latin typeface="Arial"/>
              </a:rPr>
              <a:t>ON ASSESSMENT DAY</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TRAQOM — scan the QR code on the LMS</a:t>
            </a:r>
          </a:p>
        </p:txBody>
      </p:sp>
      <p:sp>
        <p:nvSpPr>
          <p:cNvPr id="12" name="Chevron 11"/>
          <p:cNvSpPr/>
          <p:nvPr/>
        </p:nvSpPr>
        <p:spPr>
          <a:xfrm>
            <a:off x="2595067"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Assessment digital attendance — scan the SSG QR</a:t>
            </a:r>
          </a:p>
        </p:txBody>
      </p:sp>
      <p:sp>
        <p:nvSpPr>
          <p:cNvPr id="18" name="Chevron 17"/>
          <p:cNvSpPr/>
          <p:nvPr/>
        </p:nvSpPr>
        <p:spPr>
          <a:xfrm>
            <a:off x="4824374"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Sit the WA (SAQ) 1 hr, then the Case Study 1 hr — open book</a:t>
            </a:r>
          </a:p>
        </p:txBody>
      </p:sp>
      <p:sp>
        <p:nvSpPr>
          <p:cNvPr id="24" name="Chevron 23"/>
          <p:cNvSpPr/>
          <p:nvPr/>
        </p:nvSpPr>
        <p:spPr>
          <a:xfrm>
            <a:off x="7053681"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answers on the LMS</a:t>
            </a:r>
          </a:p>
        </p:txBody>
      </p:sp>
      <p:sp>
        <p:nvSpPr>
          <p:cNvPr id="30" name="Chevron 29"/>
          <p:cNvSpPr/>
          <p:nvPr/>
        </p:nvSpPr>
        <p:spPr>
          <a:xfrm>
            <a:off x="9282988" y="3497580"/>
            <a:ext cx="274320" cy="36576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Sign the Assessment Summary Record</a:t>
            </a:r>
          </a:p>
        </p:txBody>
      </p:sp>
      <p:sp>
        <p:nvSpPr>
          <p:cNvPr id="36" name="TextBox 35"/>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7" name="TextBox 36"/>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8" name="TextBox 37"/>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3533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10896"/>
            <a:ext cx="10835640" cy="310896"/>
          </a:xfrm>
          <a:prstGeom prst="rect">
            <a:avLst/>
          </a:prstGeom>
          <a:noFill/>
        </p:spPr>
        <p:txBody>
          <a:bodyPr wrap="square" anchor="t" lIns="0" rIns="0">
            <a:spAutoFit/>
          </a:bodyPr>
          <a:lstStyle/>
          <a:p>
            <a:pPr algn="l">
              <a:spcAft>
                <a:spcPts val="400"/>
              </a:spcAft>
            </a:pPr>
            <a:r>
              <a:rPr sz="1200" b="1">
                <a:solidFill>
                  <a:srgbClr val="7C3AED"/>
                </a:solidFill>
                <a:latin typeface="Arial"/>
              </a:rPr>
              <a:t>TRAQOM · SSG DIGITAL ATTENDANCE</a:t>
            </a:r>
          </a:p>
        </p:txBody>
      </p:sp>
      <p:sp>
        <p:nvSpPr>
          <p:cNvPr id="5" name="TextBox 4"/>
          <p:cNvSpPr txBox="1"/>
          <p:nvPr/>
        </p:nvSpPr>
        <p:spPr>
          <a:xfrm>
            <a:off x="658368" y="621792"/>
            <a:ext cx="10835640" cy="658368"/>
          </a:xfrm>
          <a:prstGeom prst="rect">
            <a:avLst/>
          </a:prstGeom>
          <a:noFill/>
        </p:spPr>
        <p:txBody>
          <a:bodyPr wrap="square" anchor="t" lIns="0" rIns="0">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658368" y="1371600"/>
            <a:ext cx="10835640" cy="10972"/>
          </a:xfrm>
          <a:prstGeom prst="rect">
            <a:avLst/>
          </a:prstGeom>
          <a:solidFill>
            <a:srgbClr val="D7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266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2669"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1</a:t>
            </a:r>
          </a:p>
        </p:txBody>
      </p:sp>
      <p:sp>
        <p:nvSpPr>
          <p:cNvPr id="11" name="TextBox 10"/>
          <p:cNvSpPr txBox="1"/>
          <p:nvPr/>
        </p:nvSpPr>
        <p:spPr>
          <a:xfrm>
            <a:off x="786384"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Trainer displays the SSG digital attendance QR code</a:t>
            </a:r>
          </a:p>
        </p:txBody>
      </p:sp>
      <p:sp>
        <p:nvSpPr>
          <p:cNvPr id="12" name="Chevron 11"/>
          <p:cNvSpPr/>
          <p:nvPr/>
        </p:nvSpPr>
        <p:spPr>
          <a:xfrm>
            <a:off x="2595067"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7675"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7675"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1976"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1976"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15691"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Scan the QR with your phone camera</a:t>
            </a:r>
          </a:p>
        </p:txBody>
      </p:sp>
      <p:sp>
        <p:nvSpPr>
          <p:cNvPr id="18" name="Chevron 17"/>
          <p:cNvSpPr/>
          <p:nvPr/>
        </p:nvSpPr>
        <p:spPr>
          <a:xfrm>
            <a:off x="4824374"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6982"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16982"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0128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1283"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44998"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Submit your attendance — AM, PM and Assessment</a:t>
            </a:r>
          </a:p>
        </p:txBody>
      </p:sp>
      <p:sp>
        <p:nvSpPr>
          <p:cNvPr id="24" name="Chevron 23"/>
          <p:cNvSpPr/>
          <p:nvPr/>
        </p:nvSpPr>
        <p:spPr>
          <a:xfrm>
            <a:off x="7053681"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6289"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6289"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0590"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0590"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74305"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Repeat on BOTH days of the course</a:t>
            </a:r>
          </a:p>
        </p:txBody>
      </p:sp>
      <p:sp>
        <p:nvSpPr>
          <p:cNvPr id="30" name="Chevron 29"/>
          <p:cNvSpPr/>
          <p:nvPr/>
        </p:nvSpPr>
        <p:spPr>
          <a:xfrm>
            <a:off x="9282988" y="3497580"/>
            <a:ext cx="274320" cy="3657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75596" y="2240280"/>
            <a:ext cx="1918411"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75596" y="2240280"/>
            <a:ext cx="1918411"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59897"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59897" y="2624328"/>
            <a:ext cx="749808" cy="749808"/>
          </a:xfrm>
          <a:prstGeom prst="rect">
            <a:avLst/>
          </a:prstGeom>
          <a:noFill/>
        </p:spPr>
        <p:txBody>
          <a:bodyPr wrap="square" anchor="ctr" lIns="0" rIns="0">
            <a:spAutoFit/>
          </a:bodyPr>
          <a:lstStyle/>
          <a:p>
            <a:pPr algn="ctr">
              <a:spcAft>
                <a:spcPts val="400"/>
              </a:spcAft>
            </a:pPr>
            <a:r>
              <a:rPr sz="2800" b="1">
                <a:solidFill>
                  <a:srgbClr val="FFFFFF"/>
                </a:solidFill>
                <a:latin typeface="Arial"/>
              </a:rPr>
              <a:t>5</a:t>
            </a:r>
          </a:p>
        </p:txBody>
      </p:sp>
      <p:sp>
        <p:nvSpPr>
          <p:cNvPr id="35" name="TextBox 34"/>
          <p:cNvSpPr txBox="1"/>
          <p:nvPr/>
        </p:nvSpPr>
        <p:spPr>
          <a:xfrm>
            <a:off x="9703612" y="3630168"/>
            <a:ext cx="1662379" cy="1362456"/>
          </a:xfrm>
          <a:prstGeom prst="rect">
            <a:avLst/>
          </a:prstGeom>
          <a:noFill/>
        </p:spPr>
        <p:txBody>
          <a:bodyPr wrap="square" anchor="t" lIns="0" rIns="0">
            <a:spAutoFit/>
          </a:bodyPr>
          <a:lstStyle/>
          <a:p>
            <a:pPr algn="ctr">
              <a:spcAft>
                <a:spcPts val="400"/>
              </a:spcAft>
            </a:pPr>
            <a:r>
              <a:rPr sz="1200" b="0">
                <a:solidFill>
                  <a:srgbClr val="161B26"/>
                </a:solidFill>
                <a:latin typeface="Arial"/>
              </a:rPr>
              <a:t>75% minimum attendance for assessment and funding</a:t>
            </a:r>
          </a:p>
        </p:txBody>
      </p:sp>
      <p:sp>
        <p:nvSpPr>
          <p:cNvPr id="36" name="TextBox 35"/>
          <p:cNvSpPr txBox="1"/>
          <p:nvPr/>
        </p:nvSpPr>
        <p:spPr>
          <a:xfrm>
            <a:off x="658368" y="5440680"/>
            <a:ext cx="10835640" cy="640080"/>
          </a:xfrm>
          <a:prstGeom prst="rect">
            <a:avLst/>
          </a:prstGeom>
          <a:noFill/>
        </p:spPr>
        <p:txBody>
          <a:bodyPr wrap="square" anchor="t" lIns="0" rIns="0">
            <a:spAutoFit/>
          </a:bodyPr>
          <a:lstStyle/>
          <a:p>
            <a:pPr algn="ctr">
              <a:spcAft>
                <a:spcPts val="400"/>
              </a:spcAft>
            </a:pPr>
            <a:r>
              <a:rPr sz="1250" b="0">
                <a:solidFill>
                  <a:srgbClr val="5B6372"/>
                </a:solidFill>
                <a:latin typeface="Arial"/>
              </a:rPr>
              <a:t>Digital attendance is mandatory for WSQ-funded courses and is the record SSG uses to determine your funding eligibility.</a:t>
            </a:r>
          </a:p>
        </p:txBody>
      </p:sp>
      <p:sp>
        <p:nvSpPr>
          <p:cNvPr id="37" name="TextBox 3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38" name="TextBox 3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39" name="TextBox 3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011680"/>
            <a:ext cx="10058400" cy="411480"/>
          </a:xfrm>
          <a:prstGeom prst="rect">
            <a:avLst/>
          </a:prstGeom>
          <a:noFill/>
        </p:spPr>
        <p:txBody>
          <a:bodyPr wrap="square" anchor="t" lIns="0" rIns="0">
            <a:spAutoFit/>
          </a:bodyPr>
          <a:lstStyle/>
          <a:p>
            <a:pPr algn="l">
              <a:spcAft>
                <a:spcPts val="400"/>
              </a:spcAft>
            </a:pPr>
            <a:r>
              <a:rPr sz="1500" b="1">
                <a:solidFill>
                  <a:srgbClr val="10B981"/>
                </a:solidFill>
                <a:latin typeface="Arial"/>
              </a:rPr>
              <a:t>SEE YOU AT THE OPENING MEETING</a:t>
            </a:r>
          </a:p>
        </p:txBody>
      </p:sp>
      <p:sp>
        <p:nvSpPr>
          <p:cNvPr id="5" name="TextBox 4"/>
          <p:cNvSpPr txBox="1"/>
          <p:nvPr/>
        </p:nvSpPr>
        <p:spPr>
          <a:xfrm>
            <a:off x="960120" y="2514600"/>
            <a:ext cx="10332720" cy="2103120"/>
          </a:xfrm>
          <a:prstGeom prst="rect">
            <a:avLst/>
          </a:prstGeom>
          <a:noFill/>
        </p:spPr>
        <p:txBody>
          <a:bodyPr wrap="square" anchor="t" lIns="0" rIns="0">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978408" y="4434840"/>
            <a:ext cx="10058400" cy="1097280"/>
          </a:xfrm>
          <a:prstGeom prst="rect">
            <a:avLst/>
          </a:prstGeom>
          <a:noFill/>
        </p:spPr>
        <p:txBody>
          <a:bodyPr wrap="square" anchor="t" lIns="0" rIns="0">
            <a:spAutoFit/>
          </a:bodyPr>
          <a:lstStyle/>
          <a:p>
            <a:pPr algn="l">
              <a:spcAft>
                <a:spcPts val="400"/>
              </a:spcAft>
            </a:pPr>
            <a:r>
              <a:rPr sz="1800" b="0">
                <a:solidFill>
                  <a:srgbClr val="5B6372"/>
                </a:solidFill>
                <a:latin typeface="Arial"/>
              </a:rPr>
              <a:t>You can now plan, conduct, report and follow up an internal audit of an ISO 14001:2015 environmental management system — and write findings that stand up.</a:t>
            </a:r>
          </a:p>
        </p:txBody>
      </p:sp>
      <p:sp>
        <p:nvSpPr>
          <p:cNvPr id="7" name="TextBox 6"/>
          <p:cNvSpPr txBox="1"/>
          <p:nvPr/>
        </p:nvSpPr>
        <p:spPr>
          <a:xfrm>
            <a:off x="365760" y="6437376"/>
            <a:ext cx="6583680" cy="310896"/>
          </a:xfrm>
          <a:prstGeom prst="rect">
            <a:avLst/>
          </a:prstGeom>
          <a:noFill/>
        </p:spPr>
        <p:txBody>
          <a:bodyPr wrap="square" anchor="t" lIns="0" rIns="0">
            <a:spAutoFit/>
          </a:bodyPr>
          <a:lstStyle/>
          <a:p>
            <a:pPr algn="l">
              <a:spcAft>
                <a:spcPts val="400"/>
              </a:spcAft>
            </a:pPr>
            <a:r>
              <a:rPr sz="850" b="0">
                <a:solidFill>
                  <a:srgbClr val="5B6372"/>
                </a:solidFill>
                <a:latin typeface="Arial"/>
              </a:rPr>
              <a:t>ISO 14001-2015 Internal Auditor Training  ·  TGS-2025054479</a:t>
            </a:r>
          </a:p>
        </p:txBody>
      </p:sp>
      <p:sp>
        <p:nvSpPr>
          <p:cNvPr id="8" name="TextBox 7"/>
          <p:cNvSpPr txBox="1"/>
          <p:nvPr/>
        </p:nvSpPr>
        <p:spPr>
          <a:xfrm>
            <a:off x="4480560" y="6437376"/>
            <a:ext cx="3291840" cy="310896"/>
          </a:xfrm>
          <a:prstGeom prst="rect">
            <a:avLst/>
          </a:prstGeom>
          <a:noFill/>
        </p:spPr>
        <p:txBody>
          <a:bodyPr wrap="square" anchor="t" lIns="0" rIns="0">
            <a:spAutoFit/>
          </a:bodyPr>
          <a:lstStyle/>
          <a:p>
            <a:pPr algn="ctr">
              <a:spcAft>
                <a:spcPts val="400"/>
              </a:spcAft>
            </a:pPr>
            <a:r>
              <a:rPr sz="850" b="0">
                <a:solidFill>
                  <a:srgbClr val="5B6372"/>
                </a:solidFill>
                <a:latin typeface="Arial"/>
              </a:rPr>
              <a:t>© 2026 Tertiary Infotech Academy Pte Ltd</a:t>
            </a:r>
          </a:p>
        </p:txBody>
      </p:sp>
      <p:sp>
        <p:nvSpPr>
          <p:cNvPr id="9" name="TextBox 8"/>
          <p:cNvSpPr txBox="1"/>
          <p:nvPr/>
        </p:nvSpPr>
        <p:spPr>
          <a:xfrm>
            <a:off x="11292840" y="6437376"/>
            <a:ext cx="548640" cy="310896"/>
          </a:xfrm>
          <a:prstGeom prst="rect">
            <a:avLst/>
          </a:prstGeom>
          <a:noFill/>
        </p:spPr>
        <p:txBody>
          <a:bodyPr wrap="square" anchor="t" lIns="0" rIns="0">
            <a:spAutoFit/>
          </a:bodyPr>
          <a:lstStyle/>
          <a:p>
            <a:pPr algn="r">
              <a:spcAft>
                <a:spcPts val="400"/>
              </a:spcAft>
            </a:pPr>
            <a:r>
              <a:rPr sz="850" b="0">
                <a:solidFill>
                  <a:srgbClr val="5B6372"/>
                </a:solidFill>
                <a:latin typeface="Arial"/>
              </a:rPr>
              <a:t>106</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